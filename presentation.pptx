
<file path=[Content_Types].xml><?xml version="1.0" encoding="utf-8"?>
<Types xmlns="http://schemas.openxmlformats.org/package/2006/content-types">
  <Default xmlns=""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embeddedFontLst>
    <p:embeddedFont>
      <p:font typeface="SF Mono"/>
      <p:regular r:id="rId201314"/>
    </p:embeddedFont>
    <p:embeddedFont>
      <p:font typeface="SF Pro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xmlns="" Id="rId201314" Target="fonts/201314.fntdata" Type="http://schemas.openxmlformats.org/officeDocument/2006/relationships/font"/><Relationship xmlns="" Id="rId201315" Target="fonts/201315.fntdata" Type="http://schemas.openxmlformats.org/officeDocument/2006/relationships/font"/><Relationship xmlns="" Id="rId201316" Target="fonts/201316.fntdata" Type="http://schemas.openxmlformats.org/officeDocument/2006/relationships/font"/><Relationship xmlns="" Id="rId201317" Target="fonts/201317.fntdata" Type="http://schemas.openxmlformats.org/officeDocument/2006/relationships/font"/><Relationship xmlns="" Id="rId201318" Target="fonts/201318.fntdata" Type="http://schemas.openxmlformats.org/officeDocument/2006/relationships/font"/><Relationship xmlns="" Id="rId201319" Target="fonts/201319.fntdata" Type="http://schemas.openxmlformats.org/officeDocument/2006/relationships/font"/><Relationship xmlns="" Id="rId201320" Target="fonts/201320.fntdata" Type="http://schemas.openxmlformats.org/officeDocument/2006/relationships/font"/><Relationship xmlns="" Id="rId201321" Target="fonts/201321.fntdata" Type="http://schemas.openxmlformats.org/officeDocument/2006/relationships/font"/><Relationship xmlns="" Id="rId201322" Target="fonts/201322.fntdata" Type="http://schemas.openxmlformats.org/officeDocument/2006/relationships/font"/><Relationship xmlns=""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82092"/>
            <a:ext cx="471487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Aft>
                <a:spcPts val="788"/>
              </a:spcAft>
              <a:buNone/>
            </a:pPr>
            <a:r>
              <a:rPr lang="en-US" sz="680" b="1" spc="101" kern="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TECHNION · COURSE 00460882 · HW/SW CO-DESIGN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457200" y="1612032"/>
            <a:ext cx="4714875" cy="807244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3189"/>
              </a:lnSpc>
              <a:buNone/>
            </a:pPr>
            <a:r>
              <a:rPr lang="en-US" sz="3040" b="1" spc="-84" kern="0" dirty="0">
                <a:solidFill>
                  <a:srgbClr val="E6EDF3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Benchmark Optimization</a:t>
            </a:r>
            <a:pPr algn="l" indent="0" marL="0">
              <a:buNone/>
            </a:pPr>
            <a:endParaRPr lang="en-US" sz="3040" dirty="0"/>
          </a:p>
          <a:p>
            <a:pPr algn="l" indent="0" marL="0">
              <a:lnSpc>
                <a:spcPts val="3189"/>
              </a:lnSpc>
              <a:buNone/>
            </a:pPr>
            <a:r>
              <a:rPr lang="en-US" sz="3040" b="1" spc="-84" kern="0" dirty="0">
                <a:solidFill>
                  <a:srgbClr val="58A6FF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&amp; Hardware Acceleration</a:t>
            </a:r>
            <a:endParaRPr lang="en-US" sz="3040" dirty="0"/>
          </a:p>
        </p:txBody>
      </p:sp>
      <p:sp>
        <p:nvSpPr>
          <p:cNvPr id="4" name="Shape 2"/>
          <p:cNvSpPr/>
          <p:nvPr/>
        </p:nvSpPr>
        <p:spPr>
          <a:xfrm>
            <a:off x="457200" y="2492053"/>
            <a:ext cx="342900" cy="21431"/>
          </a:xfrm>
          <a:prstGeom prst="roundRect">
            <a:avLst>
              <a:gd name="adj" fmla="val 50001"/>
            </a:avLst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657029"/>
            <a:ext cx="4714875" cy="435769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96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Profiling · SW Optimization · RTL Design</a:t>
            </a:r>
            <a:pPr algn="l" indent="0" marL="0">
              <a:buNone/>
            </a:pPr>
            <a:endParaRPr lang="en-US" sz="960" dirty="0"/>
          </a:p>
          <a:p>
            <a:pPr algn="l" indent="0" marL="0">
              <a:lnSpc>
                <a:spcPts val="1721"/>
              </a:lnSpc>
              <a:buNone/>
            </a:pPr>
            <a:r>
              <a:rPr lang="en-US" sz="960" dirty="0">
                <a:solidFill>
                  <a:srgbClr val="484F58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nbody</a:t>
            </a:r>
            <a:pPr algn="l" indent="0" marL="0">
              <a:buNone/>
            </a:pPr>
            <a:r>
              <a:rPr lang="en-US" sz="96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 (SW only)  ·  </a:t>
            </a:r>
            <a:pPr algn="l" indent="0" marL="0">
              <a:buNone/>
            </a:pPr>
            <a:r>
              <a:rPr lang="en-US" sz="960" dirty="0">
                <a:solidFill>
                  <a:srgbClr val="484F58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pyflate</a:t>
            </a:r>
            <a:pPr algn="l" indent="0" marL="0">
              <a:buNone/>
            </a:pPr>
            <a:r>
              <a:rPr lang="en-US" sz="96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 (SW + HW accelerator)</a:t>
            </a:r>
            <a:endParaRPr lang="en-US" sz="960" dirty="0"/>
          </a:p>
        </p:txBody>
      </p:sp>
      <p:grpSp>
        <p:nvGrpSpPr>
          <p:cNvPr id="9" name="Group g1"/>
          <p:cNvGrpSpPr/>
          <p:nvPr/>
        </p:nvGrpSpPr>
        <p:grpSpPr>
          <a:xfrm>
            <a:off x="457200" y="3234556"/>
            <a:ext cx="4714875" cy="528638"/>
            <a:chOff x="457200" y="3234556"/>
            <a:chExt cx="4714875" cy="528638"/>
          </a:xfrm>
        </p:grpSpPr>
        <p:sp>
          <p:nvSpPr>
            <p:cNvPr id="6" name="Shape"/>
            <p:cNvSpPr/>
            <p:nvPr/>
          </p:nvSpPr>
          <p:spPr>
            <a:xfrm>
              <a:off x="457200" y="3234556"/>
              <a:ext cx="4714875" cy="528638"/>
            </a:xfrm>
            <a:prstGeom prst="roundRect">
              <a:avLst>
                <a:gd name="adj" fmla="val 10811"/>
              </a:avLst>
            </a:prstGeom>
            <a:solidFill>
              <a:srgbClr val="0D1A2E">
                <a:alpha val="70000"/>
              </a:srgbClr>
            </a:solidFill>
            <a:ln w="7144">
              <a:solidFill>
                <a:srgbClr val="58A6FF">
                  <a:alpha val="25000"/>
                </a:srgbClr>
              </a:solidFill>
              <a:prstDash val="solid"/>
            </a:ln>
          </p:spPr>
        </p:sp>
        <p:sp>
          <p:nvSpPr>
            <p:cNvPr id="7" name="Shape"/>
            <p:cNvSpPr/>
            <p:nvPr/>
          </p:nvSpPr>
          <p:spPr>
            <a:xfrm>
              <a:off x="607219" y="3329211"/>
              <a:ext cx="4414838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spcAft>
                  <a:spcPts val="225"/>
                </a:spcAft>
                <a:buNone/>
              </a:pPr>
              <a:r>
                <a:rPr lang="en-US" sz="680" spc="56" kern="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BY</a:t>
              </a:r>
              <a:endParaRPr lang="en-US" sz="680" dirty="0"/>
            </a:p>
          </p:txBody>
        </p:sp>
        <p:sp>
          <p:nvSpPr>
            <p:cNvPr id="8" name="Shape"/>
            <p:cNvSpPr/>
            <p:nvPr/>
          </p:nvSpPr>
          <p:spPr>
            <a:xfrm>
              <a:off x="607219" y="3484587"/>
              <a:ext cx="4414838" cy="18573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434"/>
                </a:lnSpc>
                <a:buNone/>
              </a:pPr>
              <a:r>
                <a:rPr lang="en-US" sz="960" b="1" dirty="0">
                  <a:solidFill>
                    <a:srgbClr val="E6EDF3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Feras Hosen  ·  Badir Zoabi</a:t>
              </a:r>
              <a:endParaRPr lang="en-US" sz="96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6140" y="357188"/>
            <a:ext cx="1021556" cy="450056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3544"/>
              </a:lnSpc>
              <a:buNone/>
            </a:pPr>
            <a:r>
              <a:rPr lang="en-US" sz="2360" b="1" spc="-56" kern="0" dirty="0">
                <a:solidFill>
                  <a:srgbClr val="E6EDF3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Agenda</a:t>
            </a:r>
            <a:endParaRPr lang="en-US" sz="2360" dirty="0"/>
          </a:p>
        </p:txBody>
      </p:sp>
      <p:sp>
        <p:nvSpPr>
          <p:cNvPr id="3" name="Shape 1"/>
          <p:cNvSpPr/>
          <p:nvPr/>
        </p:nvSpPr>
        <p:spPr>
          <a:xfrm>
            <a:off x="1590935" y="457200"/>
            <a:ext cx="21431" cy="228600"/>
          </a:xfrm>
          <a:prstGeom prst="roundRect">
            <a:avLst>
              <a:gd name="adj" fmla="val 50001"/>
            </a:avLst>
          </a:pr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1727560" y="592931"/>
            <a:ext cx="1128713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80" b="1" spc="101" kern="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28 SLIDES · ~24 MIN</a:t>
            </a:r>
            <a:endParaRPr lang="en-US" sz="680" dirty="0"/>
          </a:p>
        </p:txBody>
      </p:sp>
      <p:grpSp>
        <p:nvGrpSpPr>
          <p:cNvPr id="37" name="Group g2"/>
          <p:cNvGrpSpPr/>
          <p:nvPr/>
        </p:nvGrpSpPr>
        <p:grpSpPr>
          <a:xfrm>
            <a:off x="457200" y="1007269"/>
            <a:ext cx="4050506" cy="978694"/>
            <a:chOff x="457200" y="1007269"/>
            <a:chExt cx="4050506" cy="978694"/>
          </a:xfrm>
        </p:grpSpPr>
        <p:sp>
          <p:nvSpPr>
            <p:cNvPr id="5" name="Shape"/>
            <p:cNvSpPr/>
            <p:nvPr/>
          </p:nvSpPr>
          <p:spPr>
            <a:xfrm>
              <a:off x="457200" y="1007269"/>
              <a:ext cx="4050506" cy="978694"/>
            </a:xfrm>
            <a:prstGeom prst="roundRect">
              <a:avLst>
                <a:gd name="adj" fmla="val 8759"/>
              </a:avLst>
            </a:prstGeom>
            <a:solidFill>
              <a:srgbClr val="0D1A2E">
                <a:alpha val="88000"/>
              </a:srgbClr>
            </a:solidFill>
            <a:ln w="7144">
              <a:solidFill>
                <a:srgbClr val="58A6FF">
                  <a:alpha val="30000"/>
                </a:srgbClr>
              </a:solidFill>
              <a:prstDash val="solid"/>
            </a:ln>
          </p:spPr>
        </p:sp>
        <p:sp>
          <p:nvSpPr>
            <p:cNvPr id="6" name="Shape"/>
            <p:cNvSpPr/>
            <p:nvPr/>
          </p:nvSpPr>
          <p:spPr>
            <a:xfrm>
              <a:off x="607219" y="1128713"/>
              <a:ext cx="3750469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spcAft>
                  <a:spcPts val="563"/>
                </a:spcAft>
                <a:buNone/>
              </a:pPr>
              <a:r>
                <a:rPr lang="en-US" sz="680" b="1" spc="101" kern="0" dirty="0">
                  <a:solidFill>
                    <a:srgbClr val="58A6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PART 1 — SETUP</a:t>
              </a:r>
              <a:endParaRPr lang="en-US" sz="680" dirty="0"/>
            </a:p>
          </p:txBody>
        </p:sp>
        <p:sp>
          <p:nvSpPr>
            <p:cNvPr id="7" name="Shape"/>
            <p:cNvSpPr/>
            <p:nvPr/>
          </p:nvSpPr>
          <p:spPr>
            <a:xfrm>
              <a:off x="607219" y="1328738"/>
              <a:ext cx="3750469" cy="15001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181"/>
                </a:lnSpc>
                <a:buNone/>
              </a:pPr>
              <a:r>
                <a:rPr lang="en-US" sz="790" b="1" dirty="0">
                  <a:solidFill>
                    <a:srgbClr val="58A6FF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03 </a:t>
              </a:r>
              <a:pPr algn="l" indent="0" marL="0">
                <a:buNone/>
              </a:pPr>
              <a:r>
                <a:rPr lang="en-US" sz="79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HW/SW co-design &amp; the loop</a:t>
              </a:r>
              <a:endParaRPr lang="en-US" sz="790" dirty="0"/>
            </a:p>
          </p:txBody>
        </p:sp>
        <p:sp>
          <p:nvSpPr>
            <p:cNvPr id="8" name="Shape"/>
            <p:cNvSpPr/>
            <p:nvPr/>
          </p:nvSpPr>
          <p:spPr>
            <a:xfrm>
              <a:off x="607219" y="1521619"/>
              <a:ext cx="3750469" cy="15001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181"/>
                </a:lnSpc>
                <a:buNone/>
              </a:pPr>
              <a:r>
                <a:rPr lang="en-US" sz="790" b="1" dirty="0">
                  <a:solidFill>
                    <a:srgbClr val="58A6FF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04 </a:t>
              </a:r>
              <a:pPr algn="l" indent="0" marL="0">
                <a:buNone/>
              </a:pPr>
              <a:r>
                <a:rPr lang="en-US" sz="79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Two benchmarks &amp; why</a:t>
              </a:r>
              <a:endParaRPr lang="en-US" sz="790" dirty="0"/>
            </a:p>
          </p:txBody>
        </p:sp>
        <p:sp>
          <p:nvSpPr>
            <p:cNvPr id="9" name="Shape"/>
            <p:cNvSpPr/>
            <p:nvPr/>
          </p:nvSpPr>
          <p:spPr>
            <a:xfrm>
              <a:off x="607219" y="1714500"/>
              <a:ext cx="3750469" cy="15001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181"/>
                </a:lnSpc>
                <a:buNone/>
              </a:pPr>
              <a:r>
                <a:rPr lang="en-US" sz="790" b="1" dirty="0">
                  <a:solidFill>
                    <a:srgbClr val="58A6FF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05 </a:t>
              </a:r>
              <a:pPr algn="l" indent="0" marL="0">
                <a:buNone/>
              </a:pPr>
              <a:r>
                <a:rPr lang="en-US" sz="79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Methodology &amp; toolchain</a:t>
              </a:r>
              <a:endParaRPr lang="en-US" sz="790" dirty="0"/>
            </a:p>
          </p:txBody>
        </p:sp>
      </p:grpSp>
      <p:grpSp>
        <p:nvGrpSpPr>
          <p:cNvPr id="38" name="Group g3"/>
          <p:cNvGrpSpPr/>
          <p:nvPr/>
        </p:nvGrpSpPr>
        <p:grpSpPr>
          <a:xfrm>
            <a:off x="457200" y="2071688"/>
            <a:ext cx="4050506" cy="1557337"/>
            <a:chOff x="457200" y="2071688"/>
            <a:chExt cx="4050506" cy="1557337"/>
          </a:xfrm>
        </p:grpSpPr>
        <p:sp>
          <p:nvSpPr>
            <p:cNvPr id="10" name="Shape"/>
            <p:cNvSpPr/>
            <p:nvPr/>
          </p:nvSpPr>
          <p:spPr>
            <a:xfrm>
              <a:off x="457200" y="2071688"/>
              <a:ext cx="4050506" cy="1557337"/>
            </a:xfrm>
            <a:prstGeom prst="roundRect">
              <a:avLst>
                <a:gd name="adj" fmla="val 5505"/>
              </a:avLst>
            </a:prstGeom>
            <a:solidFill>
              <a:srgbClr val="0D1A2E">
                <a:alpha val="88000"/>
              </a:srgbClr>
            </a:solidFill>
            <a:ln w="7144">
              <a:solidFill>
                <a:srgbClr val="58A6FF">
                  <a:alpha val="30000"/>
                </a:srgbClr>
              </a:solidFill>
              <a:prstDash val="solid"/>
            </a:ln>
          </p:spPr>
        </p:sp>
        <p:sp>
          <p:nvSpPr>
            <p:cNvPr id="11" name="Shape"/>
            <p:cNvSpPr/>
            <p:nvPr/>
          </p:nvSpPr>
          <p:spPr>
            <a:xfrm>
              <a:off x="607219" y="2193131"/>
              <a:ext cx="3750469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spcAft>
                  <a:spcPts val="563"/>
                </a:spcAft>
                <a:buNone/>
              </a:pPr>
              <a:r>
                <a:rPr lang="en-US" sz="680" b="1" spc="101" kern="0" dirty="0">
                  <a:solidFill>
                    <a:srgbClr val="58A6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PART 2 — NBODY (SW ONLY)</a:t>
              </a:r>
              <a:endParaRPr lang="en-US" sz="680" dirty="0"/>
            </a:p>
          </p:txBody>
        </p:sp>
        <p:sp>
          <p:nvSpPr>
            <p:cNvPr id="12" name="Shape"/>
            <p:cNvSpPr/>
            <p:nvPr/>
          </p:nvSpPr>
          <p:spPr>
            <a:xfrm>
              <a:off x="607219" y="2393156"/>
              <a:ext cx="3750469" cy="15001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181"/>
                </a:lnSpc>
                <a:buNone/>
              </a:pPr>
              <a:r>
                <a:rPr lang="en-US" sz="790" b="1" dirty="0">
                  <a:solidFill>
                    <a:srgbClr val="58A6FF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06 </a:t>
              </a:r>
              <a:pPr algn="l" indent="0" marL="0">
                <a:buNone/>
              </a:pPr>
              <a:r>
                <a:rPr lang="en-US" sz="79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What it simulates</a:t>
              </a:r>
              <a:endParaRPr lang="en-US" sz="790" dirty="0"/>
            </a:p>
          </p:txBody>
        </p:sp>
        <p:sp>
          <p:nvSpPr>
            <p:cNvPr id="13" name="Shape"/>
            <p:cNvSpPr/>
            <p:nvPr/>
          </p:nvSpPr>
          <p:spPr>
            <a:xfrm>
              <a:off x="607219" y="2586038"/>
              <a:ext cx="3750469" cy="15001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181"/>
                </a:lnSpc>
                <a:buNone/>
              </a:pPr>
              <a:r>
                <a:rPr lang="en-US" sz="790" b="1" dirty="0">
                  <a:solidFill>
                    <a:srgbClr val="58A6FF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07 </a:t>
              </a:r>
              <a:pPr algn="l" indent="0" marL="0">
                <a:buNone/>
              </a:pPr>
              <a:r>
                <a:rPr lang="en-US" sz="79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Profile → bottleneck + table</a:t>
              </a:r>
              <a:endParaRPr lang="en-US" sz="790" dirty="0"/>
            </a:p>
          </p:txBody>
        </p:sp>
        <p:sp>
          <p:nvSpPr>
            <p:cNvPr id="14" name="Shape"/>
            <p:cNvSpPr/>
            <p:nvPr/>
          </p:nvSpPr>
          <p:spPr>
            <a:xfrm>
              <a:off x="607219" y="2778919"/>
              <a:ext cx="3750469" cy="15001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181"/>
                </a:lnSpc>
                <a:buNone/>
              </a:pPr>
              <a:r>
                <a:rPr lang="en-US" sz="790" b="1" dirty="0">
                  <a:solidFill>
                    <a:srgbClr val="58A6FF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08 </a:t>
              </a:r>
              <a:pPr algn="l" indent="0" marL="0">
                <a:buNone/>
              </a:pPr>
              <a:r>
                <a:rPr lang="en-US" sz="79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Inner loop math</a:t>
              </a:r>
              <a:endParaRPr lang="en-US" sz="790" dirty="0"/>
            </a:p>
          </p:txBody>
        </p:sp>
        <p:sp>
          <p:nvSpPr>
            <p:cNvPr id="15" name="Shape"/>
            <p:cNvSpPr/>
            <p:nvPr/>
          </p:nvSpPr>
          <p:spPr>
            <a:xfrm>
              <a:off x="607219" y="2971800"/>
              <a:ext cx="3750469" cy="15001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181"/>
                </a:lnSpc>
                <a:buNone/>
              </a:pPr>
              <a:r>
                <a:rPr lang="en-US" sz="790" b="1" dirty="0">
                  <a:solidFill>
                    <a:srgbClr val="58A6FF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09 </a:t>
              </a:r>
              <a:pPr algn="l" indent="0" marL="0">
                <a:buNone/>
              </a:pPr>
              <a:r>
                <a:rPr lang="en-US" sz="79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The sqrt idea that failed</a:t>
              </a:r>
              <a:endParaRPr lang="en-US" sz="790" dirty="0"/>
            </a:p>
          </p:txBody>
        </p:sp>
        <p:sp>
          <p:nvSpPr>
            <p:cNvPr id="16" name="Shape"/>
            <p:cNvSpPr/>
            <p:nvPr/>
          </p:nvSpPr>
          <p:spPr>
            <a:xfrm>
              <a:off x="607219" y="3164681"/>
              <a:ext cx="3750469" cy="15001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181"/>
                </a:lnSpc>
                <a:buNone/>
              </a:pPr>
              <a:r>
                <a:rPr lang="en-US" sz="790" b="1" dirty="0">
                  <a:solidFill>
                    <a:srgbClr val="58A6FF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10 </a:t>
              </a:r>
              <a:pPr algn="l" indent="0" marL="0">
                <a:buNone/>
              </a:pPr>
              <a:r>
                <a:rPr lang="en-US" sz="79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Real fix: scalar locals</a:t>
              </a:r>
              <a:endParaRPr lang="en-US" sz="790" dirty="0"/>
            </a:p>
          </p:txBody>
        </p:sp>
        <p:sp>
          <p:nvSpPr>
            <p:cNvPr id="17" name="Shape"/>
            <p:cNvSpPr/>
            <p:nvPr/>
          </p:nvSpPr>
          <p:spPr>
            <a:xfrm>
              <a:off x="607219" y="3357563"/>
              <a:ext cx="3750469" cy="15001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181"/>
                </a:lnSpc>
                <a:buNone/>
              </a:pPr>
              <a:r>
                <a:rPr lang="en-US" sz="790" b="1" dirty="0">
                  <a:solidFill>
                    <a:srgbClr val="3FB950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11 </a:t>
              </a:r>
              <a:pPr algn="l" indent="0" marL="0">
                <a:buNone/>
              </a:pPr>
              <a:r>
                <a:rPr lang="en-US" sz="790" dirty="0">
                  <a:solidFill>
                    <a:srgbClr val="3FB950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Result: 1.58× / ~37%</a:t>
              </a:r>
              <a:endParaRPr lang="en-US" sz="790" dirty="0"/>
            </a:p>
          </p:txBody>
        </p:sp>
      </p:grpSp>
      <p:grpSp>
        <p:nvGrpSpPr>
          <p:cNvPr id="39" name="Group g4"/>
          <p:cNvGrpSpPr/>
          <p:nvPr/>
        </p:nvGrpSpPr>
        <p:grpSpPr>
          <a:xfrm>
            <a:off x="4636294" y="1007269"/>
            <a:ext cx="4050506" cy="1364456"/>
            <a:chOff x="4636294" y="1007269"/>
            <a:chExt cx="4050506" cy="1364456"/>
          </a:xfrm>
        </p:grpSpPr>
        <p:sp>
          <p:nvSpPr>
            <p:cNvPr id="18" name="Shape"/>
            <p:cNvSpPr/>
            <p:nvPr/>
          </p:nvSpPr>
          <p:spPr>
            <a:xfrm>
              <a:off x="4636294" y="1007269"/>
              <a:ext cx="4050506" cy="1364456"/>
            </a:xfrm>
            <a:prstGeom prst="roundRect">
              <a:avLst>
                <a:gd name="adj" fmla="val 6283"/>
              </a:avLst>
            </a:prstGeom>
            <a:solidFill>
              <a:srgbClr val="1A0D2E">
                <a:alpha val="88000"/>
              </a:srgbClr>
            </a:solidFill>
            <a:ln w="7144">
              <a:solidFill>
                <a:srgbClr val="A371F7">
                  <a:alpha val="30000"/>
                </a:srgbClr>
              </a:solidFill>
              <a:prstDash val="solid"/>
            </a:ln>
          </p:spPr>
        </p:sp>
        <p:sp>
          <p:nvSpPr>
            <p:cNvPr id="19" name="Shape"/>
            <p:cNvSpPr/>
            <p:nvPr/>
          </p:nvSpPr>
          <p:spPr>
            <a:xfrm>
              <a:off x="4786313" y="1128713"/>
              <a:ext cx="3750469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spcAft>
                  <a:spcPts val="563"/>
                </a:spcAft>
                <a:buNone/>
              </a:pPr>
              <a:r>
                <a:rPr lang="en-US" sz="680" b="1" spc="101" kern="0" dirty="0">
                  <a:solidFill>
                    <a:srgbClr val="A371F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PART 3 — PYFLATE (SW + HW)</a:t>
              </a:r>
              <a:endParaRPr lang="en-US" sz="680" dirty="0"/>
            </a:p>
          </p:txBody>
        </p:sp>
        <p:sp>
          <p:nvSpPr>
            <p:cNvPr id="20" name="Shape"/>
            <p:cNvSpPr/>
            <p:nvPr/>
          </p:nvSpPr>
          <p:spPr>
            <a:xfrm>
              <a:off x="4786313" y="1328738"/>
              <a:ext cx="3750469" cy="15001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181"/>
                </a:lnSpc>
                <a:buNone/>
              </a:pPr>
              <a:r>
                <a:rPr lang="en-US" sz="790" b="1" dirty="0">
                  <a:solidFill>
                    <a:srgbClr val="A371F7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12 </a:t>
              </a:r>
              <a:pPr algn="l" indent="0" marL="0">
                <a:buNone/>
              </a:pPr>
              <a:r>
                <a:rPr lang="en-US" sz="79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What it does</a:t>
              </a:r>
              <a:endParaRPr lang="en-US" sz="790" dirty="0"/>
            </a:p>
          </p:txBody>
        </p:sp>
        <p:sp>
          <p:nvSpPr>
            <p:cNvPr id="21" name="Shape"/>
            <p:cNvSpPr/>
            <p:nvPr/>
          </p:nvSpPr>
          <p:spPr>
            <a:xfrm>
              <a:off x="4786313" y="1521619"/>
              <a:ext cx="3750469" cy="15001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181"/>
                </a:lnSpc>
                <a:buNone/>
              </a:pPr>
              <a:r>
                <a:rPr lang="en-US" sz="790" b="1" dirty="0">
                  <a:solidFill>
                    <a:srgbClr val="A371F7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13 </a:t>
              </a:r>
              <a:pPr algn="l" indent="0" marL="0">
                <a:buNone/>
              </a:pPr>
              <a:r>
                <a:rPr lang="en-US" sz="79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Profile → bottlenecks + table</a:t>
              </a:r>
              <a:endParaRPr lang="en-US" sz="790" dirty="0"/>
            </a:p>
          </p:txBody>
        </p:sp>
        <p:sp>
          <p:nvSpPr>
            <p:cNvPr id="22" name="Shape"/>
            <p:cNvSpPr/>
            <p:nvPr/>
          </p:nvSpPr>
          <p:spPr>
            <a:xfrm>
              <a:off x="4786313" y="1714500"/>
              <a:ext cx="3750469" cy="15001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181"/>
                </a:lnSpc>
                <a:buNone/>
              </a:pPr>
              <a:r>
                <a:rPr lang="en-US" sz="790" b="1" dirty="0">
                  <a:solidFill>
                    <a:srgbClr val="A371F7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14 </a:t>
              </a:r>
              <a:pPr algn="l" indent="0" marL="0">
                <a:buNone/>
              </a:pPr>
              <a:r>
                <a:rPr lang="en-US" sz="79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Decompression pipeline</a:t>
              </a:r>
              <a:endParaRPr lang="en-US" sz="790" dirty="0"/>
            </a:p>
          </p:txBody>
        </p:sp>
        <p:sp>
          <p:nvSpPr>
            <p:cNvPr id="23" name="Shape"/>
            <p:cNvSpPr/>
            <p:nvPr/>
          </p:nvSpPr>
          <p:spPr>
            <a:xfrm>
              <a:off x="4786313" y="1907381"/>
              <a:ext cx="3750469" cy="15001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181"/>
                </a:lnSpc>
                <a:buNone/>
              </a:pPr>
              <a:r>
                <a:rPr lang="en-US" sz="790" b="1" dirty="0">
                  <a:solidFill>
                    <a:srgbClr val="A371F7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15 </a:t>
              </a:r>
              <a:pPr algn="l" indent="0" marL="0">
                <a:buNone/>
              </a:pPr>
              <a:r>
                <a:rPr lang="en-US" sz="79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Optimizations OPT-1/2/3</a:t>
              </a:r>
              <a:endParaRPr lang="en-US" sz="790" dirty="0"/>
            </a:p>
          </p:txBody>
        </p:sp>
        <p:sp>
          <p:nvSpPr>
            <p:cNvPr id="24" name="Shape"/>
            <p:cNvSpPr/>
            <p:nvPr/>
          </p:nvSpPr>
          <p:spPr>
            <a:xfrm>
              <a:off x="4786313" y="2100263"/>
              <a:ext cx="3750469" cy="15001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181"/>
                </a:lnSpc>
                <a:buNone/>
              </a:pPr>
              <a:r>
                <a:rPr lang="en-US" sz="790" b="1" dirty="0">
                  <a:solidFill>
                    <a:srgbClr val="3FB950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16 </a:t>
              </a:r>
              <a:pPr algn="l" indent="0" marL="0">
                <a:buNone/>
              </a:pPr>
              <a:r>
                <a:rPr lang="en-US" sz="790" dirty="0">
                  <a:solidFill>
                    <a:srgbClr val="3FB950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Result: 1.50× / ~33%</a:t>
              </a:r>
              <a:endParaRPr lang="en-US" sz="790" dirty="0"/>
            </a:p>
          </p:txBody>
        </p:sp>
      </p:grpSp>
      <p:grpSp>
        <p:nvGrpSpPr>
          <p:cNvPr id="40" name="Group g5"/>
          <p:cNvGrpSpPr/>
          <p:nvPr/>
        </p:nvGrpSpPr>
        <p:grpSpPr>
          <a:xfrm>
            <a:off x="4636294" y="2457450"/>
            <a:ext cx="4050506" cy="2328863"/>
            <a:chOff x="4636294" y="2457450"/>
            <a:chExt cx="4050506" cy="2328863"/>
          </a:xfrm>
        </p:grpSpPr>
        <p:sp>
          <p:nvSpPr>
            <p:cNvPr id="25" name="Shape"/>
            <p:cNvSpPr/>
            <p:nvPr/>
          </p:nvSpPr>
          <p:spPr>
            <a:xfrm>
              <a:off x="4636294" y="2457450"/>
              <a:ext cx="4050506" cy="2328863"/>
            </a:xfrm>
            <a:prstGeom prst="roundRect">
              <a:avLst>
                <a:gd name="adj" fmla="val 3681"/>
              </a:avLst>
            </a:prstGeom>
            <a:solidFill>
              <a:srgbClr val="0D1A2E">
                <a:alpha val="88000"/>
              </a:srgbClr>
            </a:solidFill>
            <a:ln w="7144">
              <a:solidFill>
                <a:srgbClr val="58A6FF">
                  <a:alpha val="30000"/>
                </a:srgbClr>
              </a:solidFill>
              <a:prstDash val="solid"/>
            </a:ln>
          </p:spPr>
        </p:sp>
        <p:sp>
          <p:nvSpPr>
            <p:cNvPr id="26" name="Shape"/>
            <p:cNvSpPr/>
            <p:nvPr/>
          </p:nvSpPr>
          <p:spPr>
            <a:xfrm>
              <a:off x="4786313" y="2578894"/>
              <a:ext cx="3750469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spcAft>
                  <a:spcPts val="563"/>
                </a:spcAft>
                <a:buNone/>
              </a:pPr>
              <a:r>
                <a:rPr lang="en-US" sz="680" b="1" spc="101" kern="0" dirty="0">
                  <a:solidFill>
                    <a:srgbClr val="58A6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PART 4 — HARDWARE (PYFLATE · 2 COMPONENTS)</a:t>
              </a:r>
              <a:endParaRPr lang="en-US" sz="680" dirty="0"/>
            </a:p>
          </p:txBody>
        </p:sp>
        <p:sp>
          <p:nvSpPr>
            <p:cNvPr id="27" name="Shape"/>
            <p:cNvSpPr/>
            <p:nvPr/>
          </p:nvSpPr>
          <p:spPr>
            <a:xfrm>
              <a:off x="4786313" y="2778919"/>
              <a:ext cx="3750469" cy="15001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181"/>
                </a:lnSpc>
                <a:buNone/>
              </a:pPr>
              <a:r>
                <a:rPr lang="en-US" sz="790" b="1" dirty="0">
                  <a:solidFill>
                    <a:srgbClr val="58A6FF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17 </a:t>
              </a:r>
              <a:pPr algn="l" indent="0" marL="0">
                <a:buNone/>
              </a:pPr>
              <a:r>
                <a:rPr lang="en-US" sz="79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Co-design rule</a:t>
              </a:r>
              <a:endParaRPr lang="en-US" sz="790" dirty="0"/>
            </a:p>
          </p:txBody>
        </p:sp>
        <p:sp>
          <p:nvSpPr>
            <p:cNvPr id="28" name="Shape"/>
            <p:cNvSpPr/>
            <p:nvPr/>
          </p:nvSpPr>
          <p:spPr>
            <a:xfrm>
              <a:off x="4786313" y="2971800"/>
              <a:ext cx="3750469" cy="15001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181"/>
                </a:lnSpc>
                <a:buNone/>
              </a:pPr>
              <a:r>
                <a:rPr lang="en-US" sz="790" b="1" dirty="0">
                  <a:solidFill>
                    <a:srgbClr val="58A6FF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18 </a:t>
              </a:r>
              <a:pPr algn="l" indent="0" marL="0">
                <a:buNone/>
              </a:pPr>
              <a:r>
                <a:rPr lang="en-US" sz="79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Accelerator block diagram</a:t>
              </a:r>
              <a:endParaRPr lang="en-US" sz="790" dirty="0"/>
            </a:p>
          </p:txBody>
        </p:sp>
        <p:sp>
          <p:nvSpPr>
            <p:cNvPr id="29" name="Shape"/>
            <p:cNvSpPr/>
            <p:nvPr/>
          </p:nvSpPr>
          <p:spPr>
            <a:xfrm>
              <a:off x="4786313" y="3164681"/>
              <a:ext cx="3750469" cy="15001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181"/>
                </a:lnSpc>
                <a:buNone/>
              </a:pPr>
              <a:r>
                <a:rPr lang="en-US" sz="790" b="1" dirty="0">
                  <a:solidFill>
                    <a:srgbClr val="58A6FF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19 </a:t>
              </a:r>
              <a:pPr algn="l" indent="0" marL="0">
                <a:buNone/>
              </a:pPr>
              <a:r>
                <a:rPr lang="en-US" sz="79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HW/SW interface &amp; trade-offs</a:t>
              </a:r>
              <a:endParaRPr lang="en-US" sz="790" dirty="0"/>
            </a:p>
          </p:txBody>
        </p:sp>
        <p:sp>
          <p:nvSpPr>
            <p:cNvPr id="30" name="Shape"/>
            <p:cNvSpPr/>
            <p:nvPr/>
          </p:nvSpPr>
          <p:spPr>
            <a:xfrm>
              <a:off x="4786313" y="3357563"/>
              <a:ext cx="3750469" cy="15001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181"/>
                </a:lnSpc>
                <a:buNone/>
              </a:pPr>
              <a:r>
                <a:rPr lang="en-US" sz="790" b="1" dirty="0">
                  <a:solidFill>
                    <a:srgbClr val="58A6FF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20 </a:t>
              </a:r>
              <a:pPr algn="l" indent="0" marL="0">
                <a:buNone/>
              </a:pPr>
              <a:r>
                <a:rPr lang="en-US" sz="79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MTF unit — 2nd component</a:t>
              </a:r>
              <a:endParaRPr lang="en-US" sz="790" dirty="0"/>
            </a:p>
          </p:txBody>
        </p:sp>
        <p:sp>
          <p:nvSpPr>
            <p:cNvPr id="31" name="Shape"/>
            <p:cNvSpPr/>
            <p:nvPr/>
          </p:nvSpPr>
          <p:spPr>
            <a:xfrm>
              <a:off x="4786313" y="3550444"/>
              <a:ext cx="3750469" cy="15001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181"/>
                </a:lnSpc>
                <a:buNone/>
              </a:pPr>
              <a:r>
                <a:rPr lang="en-US" sz="790" b="1" dirty="0">
                  <a:solidFill>
                    <a:srgbClr val="58A6FF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21 </a:t>
              </a:r>
              <a:pPr algn="l" indent="0" marL="0">
                <a:buNone/>
              </a:pPr>
              <a:r>
                <a:rPr lang="en-US" sz="79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MTF internal block diagram</a:t>
              </a:r>
              <a:endParaRPr lang="en-US" sz="790" dirty="0"/>
            </a:p>
          </p:txBody>
        </p:sp>
        <p:sp>
          <p:nvSpPr>
            <p:cNvPr id="32" name="Shape"/>
            <p:cNvSpPr/>
            <p:nvPr/>
          </p:nvSpPr>
          <p:spPr>
            <a:xfrm>
              <a:off x="4786313" y="3743325"/>
              <a:ext cx="3750469" cy="15001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181"/>
                </a:lnSpc>
                <a:buNone/>
              </a:pPr>
              <a:r>
                <a:rPr lang="en-US" sz="790" b="1" dirty="0">
                  <a:solidFill>
                    <a:srgbClr val="58A6FF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22 </a:t>
              </a:r>
              <a:pPr algn="l" indent="0" marL="0">
                <a:buNone/>
              </a:pPr>
              <a:r>
                <a:rPr lang="en-US" sz="79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FSM deep-dive &amp; RTL snippet</a:t>
              </a:r>
              <a:endParaRPr lang="en-US" sz="790" dirty="0"/>
            </a:p>
          </p:txBody>
        </p:sp>
        <p:sp>
          <p:nvSpPr>
            <p:cNvPr id="33" name="Shape"/>
            <p:cNvSpPr/>
            <p:nvPr/>
          </p:nvSpPr>
          <p:spPr>
            <a:xfrm>
              <a:off x="4786313" y="3936206"/>
              <a:ext cx="3750469" cy="15001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181"/>
                </a:lnSpc>
                <a:buNone/>
              </a:pPr>
              <a:r>
                <a:rPr lang="en-US" sz="790" b="1" dirty="0">
                  <a:solidFill>
                    <a:srgbClr val="58A6FF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23 </a:t>
              </a:r>
              <a:pPr algn="l" indent="0" marL="0">
                <a:buNone/>
              </a:pPr>
              <a:r>
                <a:rPr lang="en-US" sz="79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Amdahl: (A) ~1.77× → (A+B) ~2.16×</a:t>
              </a:r>
              <a:endParaRPr lang="en-US" sz="790" dirty="0"/>
            </a:p>
          </p:txBody>
        </p:sp>
        <p:sp>
          <p:nvSpPr>
            <p:cNvPr id="34" name="Shape"/>
            <p:cNvSpPr/>
            <p:nvPr/>
          </p:nvSpPr>
          <p:spPr>
            <a:xfrm>
              <a:off x="4786313" y="4129088"/>
              <a:ext cx="3750469" cy="15001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181"/>
                </a:lnSpc>
                <a:buNone/>
              </a:pPr>
              <a:r>
                <a:rPr lang="en-US" sz="790" b="1" dirty="0">
                  <a:solidFill>
                    <a:srgbClr val="3FB950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24 </a:t>
              </a:r>
              <a:pPr algn="l" indent="0" marL="0">
                <a:buNone/>
              </a:pPr>
              <a:r>
                <a:rPr lang="en-US" sz="79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TB PASS · both components</a:t>
              </a:r>
              <a:endParaRPr lang="en-US" sz="790" dirty="0"/>
            </a:p>
          </p:txBody>
        </p:sp>
        <p:sp>
          <p:nvSpPr>
            <p:cNvPr id="35" name="Shape"/>
            <p:cNvSpPr/>
            <p:nvPr/>
          </p:nvSpPr>
          <p:spPr>
            <a:xfrm>
              <a:off x="4786313" y="4321969"/>
              <a:ext cx="3750469" cy="15001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181"/>
                </a:lnSpc>
                <a:buNone/>
              </a:pPr>
              <a:r>
                <a:rPr lang="en-US" sz="790" b="1" dirty="0">
                  <a:solidFill>
                    <a:srgbClr val="3FB950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25 </a:t>
              </a:r>
              <a:pPr algn="l" indent="0" marL="0">
                <a:buNone/>
              </a:pPr>
              <a:r>
                <a:rPr lang="en-US" sz="79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Results summary &amp; takeaways</a:t>
              </a:r>
              <a:endParaRPr lang="en-US" sz="790" dirty="0"/>
            </a:p>
          </p:txBody>
        </p:sp>
        <p:sp>
          <p:nvSpPr>
            <p:cNvPr id="36" name="Shape"/>
            <p:cNvSpPr/>
            <p:nvPr/>
          </p:nvSpPr>
          <p:spPr>
            <a:xfrm>
              <a:off x="4786313" y="4514850"/>
              <a:ext cx="3750469" cy="15001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181"/>
                </a:lnSpc>
                <a:buNone/>
              </a:pPr>
              <a:r>
                <a:rPr lang="en-US" sz="790" b="1" dirty="0">
                  <a:solidFill>
                    <a:srgbClr val="58A6FF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26 </a:t>
              </a:r>
              <a:pPr algn="l" indent="0" marL="0">
                <a:buNone/>
              </a:pPr>
              <a:r>
                <a:rPr lang="en-US" sz="79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Git repo &amp; documentation</a:t>
              </a:r>
              <a:endParaRPr lang="en-US" sz="79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9092"/>
            <a:ext cx="500062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Aft>
                <a:spcPts val="563"/>
              </a:spcAft>
              <a:buNone/>
            </a:pPr>
            <a:r>
              <a:rPr lang="en-US" sz="680" b="1" spc="101" kern="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HW/SW CO-DESIGN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457200" y="437666"/>
            <a:ext cx="5000625" cy="692944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2717"/>
              </a:lnSpc>
              <a:buNone/>
            </a:pPr>
            <a:r>
              <a:rPr lang="en-US" sz="2590" b="1" spc="-56" kern="0" dirty="0">
                <a:solidFill>
                  <a:srgbClr val="E6EDF3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What is</a:t>
            </a:r>
            <a:pPr algn="l" indent="0" marL="0">
              <a:buNone/>
            </a:pPr>
            <a:endParaRPr lang="en-US" sz="2590" dirty="0"/>
          </a:p>
          <a:p>
            <a:pPr algn="l" indent="0" marL="0">
              <a:lnSpc>
                <a:spcPts val="2717"/>
              </a:lnSpc>
              <a:buNone/>
            </a:pPr>
            <a:r>
              <a:rPr lang="en-US" sz="2590" b="1" spc="-56" kern="0" dirty="0">
                <a:solidFill>
                  <a:srgbClr val="58A6FF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Co-design?</a:t>
            </a:r>
            <a:endParaRPr lang="en-US" sz="2590" dirty="0"/>
          </a:p>
        </p:txBody>
      </p:sp>
      <p:sp>
        <p:nvSpPr>
          <p:cNvPr id="4" name="Text 2"/>
          <p:cNvSpPr/>
          <p:nvPr/>
        </p:nvSpPr>
        <p:spPr>
          <a:xfrm>
            <a:off x="457200" y="1370595"/>
            <a:ext cx="4143375" cy="414338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10" dirty="0">
                <a:solidFill>
                  <a:srgbClr val="C9D1D9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Jointly designing </a:t>
            </a:r>
            <a:pPr algn="l" indent="0" marL="0">
              <a:buNone/>
            </a:pPr>
            <a:r>
              <a:rPr lang="en-US" sz="1010" b="1" dirty="0">
                <a:solidFill>
                  <a:srgbClr val="79C0FF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software and hardware</a:t>
            </a:r>
            <a:pPr algn="l" indent="0" marL="0">
              <a:spcAft>
                <a:spcPts val="1350"/>
              </a:spcAft>
              <a:buNone/>
            </a:pPr>
            <a:r>
              <a:rPr lang="en-US" sz="1010" dirty="0">
                <a:solidFill>
                  <a:srgbClr val="C9D1D9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 to maximize system performance — neither in isolation.</a:t>
            </a:r>
            <a:endParaRPr lang="en-US" sz="1010" dirty="0"/>
          </a:p>
        </p:txBody>
      </p:sp>
      <p:grpSp>
        <p:nvGrpSpPr>
          <p:cNvPr id="27" name="Group g6"/>
          <p:cNvGrpSpPr/>
          <p:nvPr/>
        </p:nvGrpSpPr>
        <p:grpSpPr>
          <a:xfrm>
            <a:off x="457200" y="1953146"/>
            <a:ext cx="5000625" cy="528638"/>
            <a:chOff x="457200" y="1953146"/>
            <a:chExt cx="5000625" cy="528638"/>
          </a:xfrm>
        </p:grpSpPr>
        <p:pic>
          <p:nvPicPr>
            <p:cNvPr id="5" name="Shape" descr="preencoded.png">    </p:cNvPr>
            <p:cNvPicPr>
              <a:picLocks noChangeAspect="1"/>
            </p:cNvPicPr>
            <p:nvPr/>
          </p:nvPicPr>
          <p:blipFill>
            <a:blip r:embed="rId2"> </a:blip>
            <a:stretch>
              <a:fillRect/>
            </a:stretch>
          </p:blipFill>
          <p:spPr>
            <a:xfrm>
              <a:off x="457200" y="1953146"/>
              <a:ext cx="5000625" cy="528638"/>
            </a:xfrm>
            <a:prstGeom prst="rect">
              <a:avLst/>
            </a:prstGeom>
          </p:spPr>
        </p:pic>
        <p:sp>
          <p:nvSpPr>
            <p:cNvPr id="6" name="Shape"/>
            <p:cNvSpPr/>
            <p:nvPr/>
          </p:nvSpPr>
          <p:spPr>
            <a:xfrm>
              <a:off x="607219" y="2067446"/>
              <a:ext cx="200025" cy="30003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2363"/>
                </a:lnSpc>
                <a:buNone/>
              </a:pPr>
              <a:r>
                <a:rPr lang="en-US" sz="158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🔬</a:t>
              </a:r>
              <a:endParaRPr lang="en-US" sz="1580" dirty="0"/>
            </a:p>
          </p:txBody>
        </p:sp>
        <p:sp>
          <p:nvSpPr>
            <p:cNvPr id="7" name="Shape"/>
            <p:cNvSpPr/>
            <p:nvPr/>
          </p:nvSpPr>
          <p:spPr>
            <a:xfrm>
              <a:off x="907312" y="2062088"/>
              <a:ext cx="2178844" cy="171450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350"/>
                </a:lnSpc>
                <a:buNone/>
              </a:pPr>
              <a:r>
                <a:rPr lang="en-US" sz="900" b="1" dirty="0">
                  <a:solidFill>
                    <a:srgbClr val="58A6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Measure</a:t>
              </a:r>
              <a:endParaRPr lang="en-US" sz="900" dirty="0"/>
            </a:p>
          </p:txBody>
        </p:sp>
        <p:sp>
          <p:nvSpPr>
            <p:cNvPr id="8" name="Shape"/>
            <p:cNvSpPr/>
            <p:nvPr/>
          </p:nvSpPr>
          <p:spPr>
            <a:xfrm>
              <a:off x="907312" y="2231752"/>
              <a:ext cx="2178844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buNone/>
              </a:pPr>
              <a:r>
                <a:rPr lang="en-US" sz="73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Profile the real bottleneck — not the assumed one</a:t>
              </a:r>
              <a:endParaRPr lang="en-US" sz="730" dirty="0"/>
            </a:p>
          </p:txBody>
        </p:sp>
      </p:grpSp>
      <p:sp>
        <p:nvSpPr>
          <p:cNvPr id="9" name="Text 6"/>
          <p:cNvSpPr/>
          <p:nvPr/>
        </p:nvSpPr>
        <p:spPr>
          <a:xfrm>
            <a:off x="457200" y="2479997"/>
            <a:ext cx="5000625" cy="200025"/>
          </a:xfrm>
          <a:prstGeom prst="rect">
            <a:avLst/>
          </a:prstGeom>
          <a:solidFill>
            <a:srgbClr val="0D1117">
              <a:alpha val="7000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0363D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↓</a:t>
            </a:r>
            <a:endParaRPr lang="en-US" sz="900" dirty="0"/>
          </a:p>
        </p:txBody>
      </p:sp>
      <p:grpSp>
        <p:nvGrpSpPr>
          <p:cNvPr id="28" name="Group g7"/>
          <p:cNvGrpSpPr/>
          <p:nvPr/>
        </p:nvGrpSpPr>
        <p:grpSpPr>
          <a:xfrm>
            <a:off x="457200" y="2678237"/>
            <a:ext cx="5000625" cy="528638"/>
            <a:chOff x="457200" y="2678237"/>
            <a:chExt cx="5000625" cy="528638"/>
          </a:xfrm>
        </p:grpSpPr>
        <p:sp>
          <p:nvSpPr>
            <p:cNvPr id="10" name="Shape"/>
            <p:cNvSpPr/>
            <p:nvPr/>
          </p:nvSpPr>
          <p:spPr>
            <a:xfrm>
              <a:off x="457200" y="2678237"/>
              <a:ext cx="5000625" cy="528638"/>
            </a:xfrm>
            <a:prstGeom prst="rect">
              <a:avLst/>
            </a:prstGeom>
            <a:solidFill>
              <a:srgbClr val="0D1A2E">
                <a:alpha val="92000"/>
              </a:srgbClr>
            </a:solidFill>
            <a:ln w="7144">
              <a:solidFill>
                <a:srgbClr val="58A6FF">
                  <a:alpha val="40000"/>
                </a:srgbClr>
              </a:solidFill>
              <a:prstDash val="solid"/>
            </a:ln>
          </p:spPr>
        </p:sp>
        <p:sp>
          <p:nvSpPr>
            <p:cNvPr id="11" name="Shape"/>
            <p:cNvSpPr/>
            <p:nvPr/>
          </p:nvSpPr>
          <p:spPr>
            <a:xfrm>
              <a:off x="607609" y="2792537"/>
              <a:ext cx="178594" cy="30003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2363"/>
                </a:lnSpc>
                <a:buNone/>
              </a:pPr>
              <a:r>
                <a:rPr lang="en-US" sz="158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⚙️</a:t>
              </a:r>
              <a:endParaRPr lang="en-US" sz="1580" dirty="0"/>
            </a:p>
          </p:txBody>
        </p:sp>
        <p:sp>
          <p:nvSpPr>
            <p:cNvPr id="12" name="Shape"/>
            <p:cNvSpPr/>
            <p:nvPr/>
          </p:nvSpPr>
          <p:spPr>
            <a:xfrm>
              <a:off x="887555" y="2787179"/>
              <a:ext cx="2636044" cy="171450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350"/>
                </a:lnSpc>
                <a:buNone/>
              </a:pPr>
              <a:r>
                <a:rPr lang="en-US" sz="900" b="1" dirty="0">
                  <a:solidFill>
                    <a:srgbClr val="79C0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Optimize SW</a:t>
              </a:r>
              <a:endParaRPr lang="en-US" sz="900" dirty="0"/>
            </a:p>
          </p:txBody>
        </p:sp>
        <p:sp>
          <p:nvSpPr>
            <p:cNvPr id="13" name="Shape"/>
            <p:cNvSpPr/>
            <p:nvPr/>
          </p:nvSpPr>
          <p:spPr>
            <a:xfrm>
              <a:off x="887555" y="2956843"/>
              <a:ext cx="2636044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buNone/>
              </a:pPr>
              <a:r>
                <a:rPr lang="en-US" sz="73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Cut interpreter overhead, allocation churn, better algorithms</a:t>
              </a:r>
              <a:endParaRPr lang="en-US" sz="730" dirty="0"/>
            </a:p>
          </p:txBody>
        </p:sp>
      </p:grpSp>
      <p:sp>
        <p:nvSpPr>
          <p:cNvPr id="14" name="Text 11"/>
          <p:cNvSpPr/>
          <p:nvPr/>
        </p:nvSpPr>
        <p:spPr>
          <a:xfrm>
            <a:off x="457200" y="3205088"/>
            <a:ext cx="5000625" cy="200025"/>
          </a:xfrm>
          <a:prstGeom prst="rect">
            <a:avLst/>
          </a:prstGeom>
          <a:solidFill>
            <a:srgbClr val="0D1117">
              <a:alpha val="7000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0363D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↓</a:t>
            </a:r>
            <a:endParaRPr lang="en-US" sz="900" dirty="0"/>
          </a:p>
        </p:txBody>
      </p:sp>
      <p:grpSp>
        <p:nvGrpSpPr>
          <p:cNvPr id="29" name="Group g8"/>
          <p:cNvGrpSpPr/>
          <p:nvPr/>
        </p:nvGrpSpPr>
        <p:grpSpPr>
          <a:xfrm>
            <a:off x="457200" y="3403327"/>
            <a:ext cx="5000625" cy="528638"/>
            <a:chOff x="457200" y="3403327"/>
            <a:chExt cx="5000625" cy="528638"/>
          </a:xfrm>
        </p:grpSpPr>
        <p:pic>
          <p:nvPicPr>
            <p:cNvPr id="15" name="Shape" descr="preencoded.png">    </p:cNvPr>
            <p:cNvPicPr>
              <a:picLocks noChangeAspect="1"/>
            </p:cNvPicPr>
            <p:nvPr/>
          </p:nvPicPr>
          <p:blipFill>
            <a:blip r:embed="rId4"> </a:blip>
            <a:stretch>
              <a:fillRect/>
            </a:stretch>
          </p:blipFill>
          <p:spPr>
            <a:xfrm>
              <a:off x="457200" y="3403327"/>
              <a:ext cx="5000625" cy="528638"/>
            </a:xfrm>
            <a:prstGeom prst="rect">
              <a:avLst/>
            </a:prstGeom>
          </p:spPr>
        </p:pic>
        <p:sp>
          <p:nvSpPr>
            <p:cNvPr id="16" name="Shape"/>
            <p:cNvSpPr/>
            <p:nvPr/>
          </p:nvSpPr>
          <p:spPr>
            <a:xfrm>
              <a:off x="607219" y="3517627"/>
              <a:ext cx="200025" cy="30003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2363"/>
                </a:lnSpc>
                <a:buNone/>
              </a:pPr>
              <a:r>
                <a:rPr lang="en-US" sz="158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💾</a:t>
              </a:r>
              <a:endParaRPr lang="en-US" sz="1580" dirty="0"/>
            </a:p>
          </p:txBody>
        </p:sp>
        <p:sp>
          <p:nvSpPr>
            <p:cNvPr id="17" name="Shape"/>
            <p:cNvSpPr/>
            <p:nvPr/>
          </p:nvSpPr>
          <p:spPr>
            <a:xfrm>
              <a:off x="905470" y="3512269"/>
              <a:ext cx="1871663" cy="171450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350"/>
                </a:lnSpc>
                <a:buNone/>
              </a:pPr>
              <a:r>
                <a:rPr lang="en-US" sz="900" b="1" dirty="0">
                  <a:solidFill>
                    <a:srgbClr val="79C0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Accelerate HW</a:t>
              </a:r>
              <a:endParaRPr lang="en-US" sz="900" dirty="0"/>
            </a:p>
          </p:txBody>
        </p:sp>
        <p:sp>
          <p:nvSpPr>
            <p:cNvPr id="18" name="Shape"/>
            <p:cNvSpPr/>
            <p:nvPr/>
          </p:nvSpPr>
          <p:spPr>
            <a:xfrm>
              <a:off x="905470" y="3681933"/>
              <a:ext cx="1871663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buNone/>
              </a:pPr>
              <a:r>
                <a:rPr lang="en-US" sz="73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Offload the irreducible hot kernel to silicon</a:t>
              </a:r>
              <a:endParaRPr lang="en-US" sz="730" dirty="0"/>
            </a:p>
          </p:txBody>
        </p:sp>
      </p:grpSp>
      <p:grpSp>
        <p:nvGrpSpPr>
          <p:cNvPr id="30" name="Group g9"/>
          <p:cNvGrpSpPr/>
          <p:nvPr/>
        </p:nvGrpSpPr>
        <p:grpSpPr>
          <a:xfrm>
            <a:off x="457926" y="4103024"/>
            <a:ext cx="2007394" cy="800100"/>
            <a:chOff x="457926" y="4103024"/>
            <a:chExt cx="2007394" cy="800100"/>
          </a:xfrm>
        </p:grpSpPr>
        <p:sp>
          <p:nvSpPr>
            <p:cNvPr id="19" name="Shape"/>
            <p:cNvSpPr/>
            <p:nvPr/>
          </p:nvSpPr>
          <p:spPr>
            <a:xfrm>
              <a:off x="457926" y="4103024"/>
              <a:ext cx="2007394" cy="800100"/>
            </a:xfrm>
            <a:prstGeom prst="roundRect">
              <a:avLst>
                <a:gd name="adj" fmla="val 7143"/>
              </a:avLst>
            </a:prstGeom>
            <a:solidFill>
              <a:srgbClr val="0D1A2E">
                <a:alpha val="85000"/>
              </a:srgbClr>
            </a:solidFill>
            <a:ln w="7144">
              <a:solidFill>
                <a:srgbClr val="58A6FF">
                  <a:alpha val="25000"/>
                </a:srgbClr>
              </a:solidFill>
              <a:prstDash val="solid"/>
            </a:ln>
          </p:spPr>
        </p:sp>
        <p:sp>
          <p:nvSpPr>
            <p:cNvPr id="20" name="Shape"/>
            <p:cNvSpPr/>
            <p:nvPr/>
          </p:nvSpPr>
          <p:spPr>
            <a:xfrm>
              <a:off x="579369" y="4194497"/>
              <a:ext cx="1764506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spcAft>
                  <a:spcPts val="225"/>
                </a:spcAft>
                <a:buNone/>
              </a:pPr>
              <a:r>
                <a:rPr lang="en-US" sz="680" b="1" spc="101" kern="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SUCCESS CRITERION</a:t>
              </a:r>
              <a:endParaRPr lang="en-US" sz="680" dirty="0"/>
            </a:p>
          </p:txBody>
        </p:sp>
        <p:sp>
          <p:nvSpPr>
            <p:cNvPr id="21" name="Shape"/>
            <p:cNvSpPr/>
            <p:nvPr/>
          </p:nvSpPr>
          <p:spPr>
            <a:xfrm>
              <a:off x="579369" y="4351660"/>
              <a:ext cx="1764506" cy="31432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2475"/>
                </a:lnSpc>
                <a:buNone/>
              </a:pPr>
              <a:r>
                <a:rPr lang="en-US" sz="2480" b="1" dirty="0">
                  <a:solidFill>
                    <a:srgbClr val="58A6FF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≥7%</a:t>
              </a:r>
              <a:endParaRPr lang="en-US" sz="2480" dirty="0"/>
            </a:p>
          </p:txBody>
        </p:sp>
        <p:sp>
          <p:nvSpPr>
            <p:cNvPr id="22" name="Shape"/>
            <p:cNvSpPr/>
            <p:nvPr/>
          </p:nvSpPr>
          <p:spPr>
            <a:xfrm>
              <a:off x="579369" y="4680272"/>
              <a:ext cx="1764506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spcBef>
                  <a:spcPts val="113"/>
                </a:spcBef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wall-clock speedup on pyperformance</a:t>
              </a:r>
              <a:endParaRPr lang="en-US" sz="680" dirty="0"/>
            </a:p>
          </p:txBody>
        </p:sp>
      </p:grpSp>
      <p:grpSp>
        <p:nvGrpSpPr>
          <p:cNvPr id="26" name="Group g10"/>
          <p:cNvGrpSpPr/>
          <p:nvPr/>
        </p:nvGrpSpPr>
        <p:grpSpPr>
          <a:xfrm>
            <a:off x="2565332" y="4103024"/>
            <a:ext cx="2893219" cy="800100"/>
            <a:chOff x="2565332" y="4103024"/>
            <a:chExt cx="2893219" cy="800100"/>
          </a:xfrm>
        </p:grpSpPr>
        <p:sp>
          <p:nvSpPr>
            <p:cNvPr id="23" name="Shape"/>
            <p:cNvSpPr/>
            <p:nvPr/>
          </p:nvSpPr>
          <p:spPr>
            <a:xfrm>
              <a:off x="2565332" y="4103024"/>
              <a:ext cx="2893219" cy="800100"/>
            </a:xfrm>
            <a:prstGeom prst="roundRect">
              <a:avLst>
                <a:gd name="adj" fmla="val 7143"/>
              </a:avLst>
            </a:prstGeom>
            <a:solidFill>
              <a:srgbClr val="0D1117">
                <a:alpha val="85000"/>
              </a:srgbClr>
            </a:solidFill>
            <a:ln w="7144">
              <a:solidFill>
                <a:srgbClr val="30363D"/>
              </a:solidFill>
              <a:prstDash val="solid"/>
            </a:ln>
          </p:spPr>
        </p:sp>
        <p:sp>
          <p:nvSpPr>
            <p:cNvPr id="24" name="Shape"/>
            <p:cNvSpPr/>
            <p:nvPr/>
          </p:nvSpPr>
          <p:spPr>
            <a:xfrm>
              <a:off x="2686776" y="4194497"/>
              <a:ext cx="2650331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spcAft>
                  <a:spcPts val="338"/>
                </a:spcAft>
                <a:buNone/>
              </a:pPr>
              <a:r>
                <a:rPr lang="en-US" sz="680" b="1" spc="101" kern="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THIS PROJECT</a:t>
              </a:r>
              <a:endParaRPr lang="en-US" sz="680" dirty="0"/>
            </a:p>
          </p:txBody>
        </p:sp>
        <p:sp>
          <p:nvSpPr>
            <p:cNvPr id="25" name="Shape"/>
            <p:cNvSpPr/>
            <p:nvPr/>
          </p:nvSpPr>
          <p:spPr>
            <a:xfrm>
              <a:off x="2686776" y="4367343"/>
              <a:ext cx="2650331" cy="442912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1170"/>
                </a:lnSpc>
                <a:buNone/>
              </a:pPr>
              <a:r>
                <a:rPr lang="en-US" sz="7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nbody → </a:t>
              </a:r>
              <a:pPr algn="l" indent="0" marL="0">
                <a:buNone/>
              </a:pPr>
              <a:r>
                <a:rPr lang="en-US" sz="730" b="1" dirty="0">
                  <a:solidFill>
                    <a:srgbClr val="79C0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SW only</a:t>
              </a:r>
              <a:pPr algn="l" indent="0" marL="0">
                <a:buNone/>
              </a:pPr>
              <a:r>
                <a:rPr lang="en-US" sz="7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(1.58× / ~37%)</a:t>
              </a:r>
              <a:pPr algn="l" indent="0" marL="0">
                <a:buNone/>
              </a:pPr>
              <a:endParaRPr lang="en-US" sz="730" dirty="0"/>
            </a:p>
            <a:p>
              <a:pPr algn="l" indent="0" marL="0">
                <a:lnSpc>
                  <a:spcPts val="1170"/>
                </a:lnSpc>
                <a:buNone/>
              </a:pPr>
              <a:r>
                <a:rPr lang="en-US" sz="7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pyflate → </a:t>
              </a:r>
              <a:pPr algn="l" indent="0" marL="0">
                <a:buNone/>
              </a:pPr>
              <a:r>
                <a:rPr lang="en-US" sz="730" b="1" dirty="0">
                  <a:solidFill>
                    <a:srgbClr val="79C0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SW + HW accelerator</a:t>
              </a:r>
              <a:pPr algn="l" indent="0" marL="0">
                <a:buNone/>
              </a:pPr>
              <a:r>
                <a:rPr lang="en-US" sz="7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(1.50× SW, ~2.16× HW est.)</a:t>
              </a:r>
              <a:endParaRPr lang="en-US" sz="73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475" y="1160859"/>
            <a:ext cx="840105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Aft>
                <a:spcPts val="788"/>
              </a:spcAft>
              <a:buNone/>
            </a:pPr>
            <a:r>
              <a:rPr lang="en-US" sz="680" b="1" spc="101" kern="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TWO BENCHMARKS · TWO PROFILES</a:t>
            </a:r>
            <a:endParaRPr lang="en-US" sz="680" dirty="0"/>
          </a:p>
        </p:txBody>
      </p:sp>
      <p:grpSp>
        <p:nvGrpSpPr>
          <p:cNvPr id="23" name="Group g11"/>
          <p:cNvGrpSpPr/>
          <p:nvPr/>
        </p:nvGrpSpPr>
        <p:grpSpPr>
          <a:xfrm>
            <a:off x="371475" y="1389459"/>
            <a:ext cx="4129088" cy="2093119"/>
            <a:chOff x="371475" y="1389459"/>
            <a:chExt cx="4129088" cy="2093119"/>
          </a:xfrm>
        </p:grpSpPr>
        <p:sp>
          <p:nvSpPr>
            <p:cNvPr id="3" name="Shape"/>
            <p:cNvSpPr/>
            <p:nvPr/>
          </p:nvSpPr>
          <p:spPr>
            <a:xfrm>
              <a:off x="371475" y="1389459"/>
              <a:ext cx="4129088" cy="2093119"/>
            </a:xfrm>
            <a:prstGeom prst="roundRect">
              <a:avLst>
                <a:gd name="adj" fmla="val 4778"/>
              </a:avLst>
            </a:prstGeom>
            <a:solidFill>
              <a:srgbClr val="0D1A2E">
                <a:alpha val="92000"/>
              </a:srgbClr>
            </a:solidFill>
            <a:ln w="7144">
              <a:solidFill>
                <a:srgbClr val="58A6FF">
                  <a:alpha val="45000"/>
                </a:srgbClr>
              </a:solidFill>
              <a:prstDash val="solid"/>
            </a:ln>
          </p:spPr>
        </p:sp>
        <p:sp>
          <p:nvSpPr>
            <p:cNvPr id="4" name="Shape"/>
            <p:cNvSpPr/>
            <p:nvPr/>
          </p:nvSpPr>
          <p:spPr>
            <a:xfrm>
              <a:off x="550069" y="1553766"/>
              <a:ext cx="3771900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spcAft>
                  <a:spcPts val="338"/>
                </a:spcAft>
                <a:buNone/>
              </a:pPr>
              <a:r>
                <a:rPr lang="en-US" sz="680" b="1" spc="101" kern="0" dirty="0">
                  <a:solidFill>
                    <a:srgbClr val="58A6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BENCHMARK 1 — SW ONLY</a:t>
              </a:r>
              <a:endParaRPr lang="en-US" sz="680" dirty="0"/>
            </a:p>
          </p:txBody>
        </p:sp>
        <p:sp>
          <p:nvSpPr>
            <p:cNvPr id="5" name="Shape"/>
            <p:cNvSpPr/>
            <p:nvPr/>
          </p:nvSpPr>
          <p:spPr>
            <a:xfrm>
              <a:off x="550069" y="1725216"/>
              <a:ext cx="3771900" cy="328613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2588"/>
                </a:lnSpc>
                <a:spcAft>
                  <a:spcPts val="225"/>
                </a:spcAft>
                <a:buNone/>
              </a:pPr>
              <a:r>
                <a:rPr lang="en-US" sz="2590" b="1" spc="-112" kern="0" dirty="0">
                  <a:solidFill>
                    <a:srgbClr val="E6EDF3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nbody</a:t>
              </a:r>
              <a:endParaRPr lang="en-US" sz="2590" dirty="0"/>
            </a:p>
          </p:txBody>
        </p:sp>
        <p:sp>
          <p:nvSpPr>
            <p:cNvPr id="6" name="Shape"/>
            <p:cNvSpPr/>
            <p:nvPr/>
          </p:nvSpPr>
          <p:spPr>
            <a:xfrm>
              <a:off x="550069" y="2080617"/>
              <a:ext cx="3771900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spcAft>
                  <a:spcPts val="563"/>
                </a:spcAft>
                <a:buNone/>
              </a:pPr>
              <a:r>
                <a:rPr lang="en-US" sz="620" dirty="0">
                  <a:solidFill>
                    <a:srgbClr val="484F58"/>
                  </a:solidFill>
                  <a:latin typeface="SF Mono" pitchFamily="34" charset="0"/>
                  <a:ea typeface="SF Mono" pitchFamily="34" charset="-122"/>
                  <a:cs typeface="SF Mono" pitchFamily="34" charset="-120"/>
                </a:rPr>
                <a:t>pyperformance · nbody</a:t>
              </a:r>
              <a:endParaRPr lang="en-US" sz="620" dirty="0"/>
            </a:p>
          </p:txBody>
        </p:sp>
        <p:sp>
          <p:nvSpPr>
            <p:cNvPr id="7" name="Shape"/>
            <p:cNvSpPr/>
            <p:nvPr/>
          </p:nvSpPr>
          <p:spPr>
            <a:xfrm>
              <a:off x="550069" y="2271713"/>
              <a:ext cx="3771900" cy="171450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350"/>
                </a:lnSpc>
                <a:spcAft>
                  <a:spcPts val="563"/>
                </a:spcAft>
                <a:buNone/>
              </a:pPr>
              <a:r>
                <a:rPr lang="en-US" sz="900" b="1" dirty="0">
                  <a:solidFill>
                    <a:srgbClr val="58A6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Compute-bound</a:t>
              </a:r>
              <a:endParaRPr lang="en-US" sz="900" dirty="0"/>
            </a:p>
          </p:txBody>
        </p:sp>
        <p:sp>
          <p:nvSpPr>
            <p:cNvPr id="8" name="Shape"/>
            <p:cNvSpPr/>
            <p:nvPr/>
          </p:nvSpPr>
          <p:spPr>
            <a:xfrm>
              <a:off x="550069" y="2512814"/>
              <a:ext cx="3771900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buNone/>
              </a:pPr>
              <a:r>
                <a:rPr lang="en-US" sz="730" dirty="0">
                  <a:solidFill>
                    <a:srgbClr val="58A6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→</a:t>
              </a:r>
              <a:pPr algn="l" indent="0" marL="0">
                <a:buNone/>
              </a:pPr>
              <a:r>
                <a:rPr lang="en-US" sz="7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Solar system gravitational dynamics</a:t>
              </a:r>
              <a:endParaRPr lang="en-US" sz="730" dirty="0"/>
            </a:p>
          </p:txBody>
        </p:sp>
        <p:sp>
          <p:nvSpPr>
            <p:cNvPr id="9" name="Shape"/>
            <p:cNvSpPr/>
            <p:nvPr/>
          </p:nvSpPr>
          <p:spPr>
            <a:xfrm>
              <a:off x="550069" y="2680692"/>
              <a:ext cx="3771900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buNone/>
              </a:pPr>
              <a:r>
                <a:rPr lang="en-US" sz="730" dirty="0">
                  <a:solidFill>
                    <a:srgbClr val="58A6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→</a:t>
              </a:r>
              <a:pPr algn="l" indent="0" marL="0">
                <a:buNone/>
              </a:pPr>
              <a:r>
                <a:rPr lang="en-US" sz="7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O(N²) pairs · 20,000 steps · pure Python</a:t>
              </a:r>
              <a:endParaRPr lang="en-US" sz="730" dirty="0"/>
            </a:p>
          </p:txBody>
        </p:sp>
        <p:sp>
          <p:nvSpPr>
            <p:cNvPr id="10" name="Shape"/>
            <p:cNvSpPr/>
            <p:nvPr/>
          </p:nvSpPr>
          <p:spPr>
            <a:xfrm>
              <a:off x="550069" y="2848570"/>
              <a:ext cx="3771900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buNone/>
              </a:pPr>
              <a:r>
                <a:rPr lang="en-US" sz="730" dirty="0">
                  <a:solidFill>
                    <a:srgbClr val="58A6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→</a:t>
              </a:r>
              <a:pPr algn="l" indent="0" marL="0">
                <a:buNone/>
              </a:pPr>
              <a:r>
                <a:rPr lang="en-US" sz="7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State in Python lists (mutable subscripts)</a:t>
              </a:r>
              <a:endParaRPr lang="en-US" sz="730" dirty="0"/>
            </a:p>
          </p:txBody>
        </p:sp>
        <p:sp>
          <p:nvSpPr>
            <p:cNvPr id="11" name="Shape"/>
            <p:cNvSpPr/>
            <p:nvPr/>
          </p:nvSpPr>
          <p:spPr>
            <a:xfrm>
              <a:off x="550069" y="3075384"/>
              <a:ext cx="3771900" cy="242888"/>
            </a:xfrm>
            <a:prstGeom prst="roundRect">
              <a:avLst>
                <a:gd name="adj" fmla="val 17647"/>
              </a:avLst>
            </a:prstGeom>
            <a:solidFill>
              <a:srgbClr val="F85149">
                <a:alpha val="12000"/>
              </a:srgbClr>
            </a:solidFill>
            <a:ln w="7144">
              <a:solidFill>
                <a:srgbClr val="F85149">
                  <a:alpha val="40000"/>
                </a:srgbClr>
              </a:solidFill>
              <a:prstDash val="solid"/>
            </a:ln>
          </p:spPr>
          <p:txBody>
            <a:bodyPr wrap="square" lIns="42863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en-US" sz="680" dirty="0">
                  <a:solidFill>
                    <a:srgbClr val="F8514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Bottleneck: </a:t>
              </a:r>
              <a:pPr algn="l" indent="0" marL="0">
                <a:buNone/>
              </a:pPr>
              <a:r>
                <a:rPr lang="en-US" sz="680" b="1" dirty="0">
                  <a:solidFill>
                    <a:srgbClr val="F8514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interpreter overhead + list subscripting</a:t>
              </a:r>
              <a:endParaRPr lang="en-US" sz="680" dirty="0"/>
            </a:p>
          </p:txBody>
        </p:sp>
      </p:grpSp>
      <p:grpSp>
        <p:nvGrpSpPr>
          <p:cNvPr id="24" name="Group g12"/>
          <p:cNvGrpSpPr/>
          <p:nvPr/>
        </p:nvGrpSpPr>
        <p:grpSpPr>
          <a:xfrm>
            <a:off x="4643438" y="1389459"/>
            <a:ext cx="4129088" cy="2093119"/>
            <a:chOff x="4643438" y="1389459"/>
            <a:chExt cx="4129088" cy="2093119"/>
          </a:xfrm>
        </p:grpSpPr>
        <p:sp>
          <p:nvSpPr>
            <p:cNvPr id="12" name="Shape"/>
            <p:cNvSpPr/>
            <p:nvPr/>
          </p:nvSpPr>
          <p:spPr>
            <a:xfrm>
              <a:off x="4643438" y="1389459"/>
              <a:ext cx="4129088" cy="2093119"/>
            </a:xfrm>
            <a:prstGeom prst="roundRect">
              <a:avLst>
                <a:gd name="adj" fmla="val 4778"/>
              </a:avLst>
            </a:prstGeom>
            <a:solidFill>
              <a:srgbClr val="1A0D2E">
                <a:alpha val="92000"/>
              </a:srgbClr>
            </a:solidFill>
            <a:ln w="7144">
              <a:solidFill>
                <a:srgbClr val="A371F7">
                  <a:alpha val="45000"/>
                </a:srgbClr>
              </a:solidFill>
              <a:prstDash val="solid"/>
            </a:ln>
          </p:spPr>
        </p:sp>
        <p:sp>
          <p:nvSpPr>
            <p:cNvPr id="13" name="Shape"/>
            <p:cNvSpPr/>
            <p:nvPr/>
          </p:nvSpPr>
          <p:spPr>
            <a:xfrm>
              <a:off x="4822031" y="1553766"/>
              <a:ext cx="3771900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spcAft>
                  <a:spcPts val="338"/>
                </a:spcAft>
                <a:buNone/>
              </a:pPr>
              <a:r>
                <a:rPr lang="en-US" sz="680" b="1" spc="101" kern="0" dirty="0">
                  <a:solidFill>
                    <a:srgbClr val="A371F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BENCHMARK 2 — SW + HW</a:t>
              </a:r>
              <a:endParaRPr lang="en-US" sz="680" dirty="0"/>
            </a:p>
          </p:txBody>
        </p:sp>
        <p:sp>
          <p:nvSpPr>
            <p:cNvPr id="14" name="Shape"/>
            <p:cNvSpPr/>
            <p:nvPr/>
          </p:nvSpPr>
          <p:spPr>
            <a:xfrm>
              <a:off x="4822031" y="1725216"/>
              <a:ext cx="3771900" cy="328613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2588"/>
                </a:lnSpc>
                <a:spcAft>
                  <a:spcPts val="225"/>
                </a:spcAft>
                <a:buNone/>
              </a:pPr>
              <a:r>
                <a:rPr lang="en-US" sz="2590" b="1" spc="-112" kern="0" dirty="0">
                  <a:solidFill>
                    <a:srgbClr val="E6EDF3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pyflate</a:t>
              </a:r>
              <a:endParaRPr lang="en-US" sz="2590" dirty="0"/>
            </a:p>
          </p:txBody>
        </p:sp>
        <p:sp>
          <p:nvSpPr>
            <p:cNvPr id="15" name="Shape"/>
            <p:cNvSpPr/>
            <p:nvPr/>
          </p:nvSpPr>
          <p:spPr>
            <a:xfrm>
              <a:off x="4822031" y="2080617"/>
              <a:ext cx="3771900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spcAft>
                  <a:spcPts val="563"/>
                </a:spcAft>
                <a:buNone/>
              </a:pPr>
              <a:r>
                <a:rPr lang="en-US" sz="620" dirty="0">
                  <a:solidFill>
                    <a:srgbClr val="484F58"/>
                  </a:solidFill>
                  <a:latin typeface="SF Mono" pitchFamily="34" charset="0"/>
                  <a:ea typeface="SF Mono" pitchFamily="34" charset="-122"/>
                  <a:cs typeface="SF Mono" pitchFamily="34" charset="-120"/>
                </a:rPr>
                <a:t>pyperformance · pyflate</a:t>
              </a:r>
              <a:endParaRPr lang="en-US" sz="620" dirty="0"/>
            </a:p>
          </p:txBody>
        </p:sp>
        <p:sp>
          <p:nvSpPr>
            <p:cNvPr id="16" name="Shape"/>
            <p:cNvSpPr/>
            <p:nvPr/>
          </p:nvSpPr>
          <p:spPr>
            <a:xfrm>
              <a:off x="4822031" y="2271713"/>
              <a:ext cx="3771900" cy="171450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350"/>
                </a:lnSpc>
                <a:spcAft>
                  <a:spcPts val="563"/>
                </a:spcAft>
                <a:buNone/>
              </a:pPr>
              <a:r>
                <a:rPr lang="en-US" sz="900" b="1" dirty="0">
                  <a:solidFill>
                    <a:srgbClr val="A371F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Bit/Control-bound</a:t>
              </a:r>
              <a:endParaRPr lang="en-US" sz="900" dirty="0"/>
            </a:p>
          </p:txBody>
        </p:sp>
        <p:sp>
          <p:nvSpPr>
            <p:cNvPr id="17" name="Shape"/>
            <p:cNvSpPr/>
            <p:nvPr/>
          </p:nvSpPr>
          <p:spPr>
            <a:xfrm>
              <a:off x="4822031" y="2512814"/>
              <a:ext cx="3771900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buNone/>
              </a:pPr>
              <a:r>
                <a:rPr lang="en-US" sz="730" dirty="0">
                  <a:solidFill>
                    <a:srgbClr val="A371F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→</a:t>
              </a:r>
              <a:pPr algn="l" indent="0" marL="0">
                <a:buNone/>
              </a:pPr>
              <a:r>
                <a:rPr lang="en-US" sz="7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Pure-Python bzip2/gzip decompressor</a:t>
              </a:r>
              <a:endParaRPr lang="en-US" sz="730" dirty="0"/>
            </a:p>
          </p:txBody>
        </p:sp>
        <p:sp>
          <p:nvSpPr>
            <p:cNvPr id="18" name="Shape"/>
            <p:cNvSpPr/>
            <p:nvPr/>
          </p:nvSpPr>
          <p:spPr>
            <a:xfrm>
              <a:off x="4822031" y="2680692"/>
              <a:ext cx="3771900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buNone/>
              </a:pPr>
              <a:r>
                <a:rPr lang="en-US" sz="730" dirty="0">
                  <a:solidFill>
                    <a:srgbClr val="A371F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→</a:t>
              </a:r>
              <a:pPr algn="l" indent="0" marL="0">
                <a:buNone/>
              </a:pPr>
              <a:r>
                <a:rPr lang="en-US" sz="7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Bit reader → Huffman → MTF → BWT</a:t>
              </a:r>
              <a:endParaRPr lang="en-US" sz="730" dirty="0"/>
            </a:p>
          </p:txBody>
        </p:sp>
        <p:sp>
          <p:nvSpPr>
            <p:cNvPr id="19" name="Shape"/>
            <p:cNvSpPr/>
            <p:nvPr/>
          </p:nvSpPr>
          <p:spPr>
            <a:xfrm>
              <a:off x="4822031" y="2848570"/>
              <a:ext cx="3771900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buNone/>
              </a:pPr>
              <a:r>
                <a:rPr lang="en-US" sz="730" dirty="0">
                  <a:solidFill>
                    <a:srgbClr val="A371F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→</a:t>
              </a:r>
              <a:pPr algn="l" indent="0" marL="0">
                <a:buNone/>
              </a:pPr>
              <a:r>
                <a:rPr lang="en-US" sz="7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Millions of tiny Python calls per decode</a:t>
              </a:r>
              <a:endParaRPr lang="en-US" sz="730" dirty="0"/>
            </a:p>
          </p:txBody>
        </p:sp>
        <p:sp>
          <p:nvSpPr>
            <p:cNvPr id="20" name="Shape"/>
            <p:cNvSpPr/>
            <p:nvPr/>
          </p:nvSpPr>
          <p:spPr>
            <a:xfrm>
              <a:off x="4822031" y="3075384"/>
              <a:ext cx="3771900" cy="242888"/>
            </a:xfrm>
            <a:prstGeom prst="roundRect">
              <a:avLst>
                <a:gd name="adj" fmla="val 17647"/>
              </a:avLst>
            </a:prstGeom>
            <a:solidFill>
              <a:srgbClr val="F85149">
                <a:alpha val="12000"/>
              </a:srgbClr>
            </a:solidFill>
            <a:ln w="7144">
              <a:solidFill>
                <a:srgbClr val="F85149">
                  <a:alpha val="40000"/>
                </a:srgbClr>
              </a:solidFill>
              <a:prstDash val="solid"/>
            </a:ln>
          </p:spPr>
          <p:txBody>
            <a:bodyPr wrap="square" lIns="42863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en-US" sz="680" dirty="0">
                  <a:solidFill>
                    <a:srgbClr val="F8514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Bottleneck: </a:t>
              </a:r>
              <a:pPr algn="l" indent="0" marL="0">
                <a:buNone/>
              </a:pPr>
              <a:r>
                <a:rPr lang="en-US" sz="680" b="1" dirty="0">
                  <a:solidFill>
                    <a:srgbClr val="F8514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object alloc churn · MTF · bit reads · Huffman scan</a:t>
              </a:r>
              <a:endParaRPr lang="en-US" sz="680" dirty="0"/>
            </a:p>
          </p:txBody>
        </p:sp>
      </p:grpSp>
      <p:sp>
        <p:nvSpPr>
          <p:cNvPr id="21" name="Text 19"/>
          <p:cNvSpPr/>
          <p:nvPr/>
        </p:nvSpPr>
        <p:spPr>
          <a:xfrm>
            <a:off x="371475" y="3582591"/>
            <a:ext cx="4150519" cy="400050"/>
          </a:xfrm>
          <a:prstGeom prst="roundRect">
            <a:avLst>
              <a:gd name="adj" fmla="val 14286"/>
            </a:avLst>
          </a:prstGeom>
          <a:solidFill>
            <a:srgbClr val="161B22">
              <a:alpha val="90000"/>
            </a:srgbClr>
          </a:solidFill>
          <a:ln w="7144">
            <a:solidFill>
              <a:srgbClr val="30363D"/>
            </a:solidFill>
            <a:prstDash val="solid"/>
          </a:ln>
        </p:spPr>
        <p:txBody>
          <a:bodyPr wrap="square" lIns="50006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Both pure Python — no C extensions, no NumPy. All overhead is interpreter-visible and measurable.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4622006" y="3582591"/>
            <a:ext cx="4150519" cy="400050"/>
          </a:xfrm>
          <a:prstGeom prst="roundRect">
            <a:avLst>
              <a:gd name="adj" fmla="val 14286"/>
            </a:avLst>
          </a:prstGeom>
          <a:solidFill>
            <a:srgbClr val="161B22">
              <a:alpha val="90000"/>
            </a:srgbClr>
          </a:solidFill>
          <a:ln w="7144">
            <a:solidFill>
              <a:srgbClr val="30363D"/>
            </a:solidFill>
            <a:prstDash val="solid"/>
          </a:ln>
        </p:spPr>
        <p:txBody>
          <a:bodyPr wrap="square" lIns="50006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Complementary profiles: FP-heavy (nbody) vs. allocation/control-heavy (pyflate) → two distinct optimization stories.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0468"/>
            <a:ext cx="514350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Aft>
                <a:spcPts val="450"/>
              </a:spcAft>
              <a:buNone/>
            </a:pPr>
            <a:r>
              <a:rPr lang="en-US" sz="680" b="1" spc="101" kern="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MEASURE → OPTIMIZE → ACCELERATE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457200" y="896541"/>
            <a:ext cx="5143500" cy="314325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2481"/>
              </a:lnSpc>
              <a:buNone/>
            </a:pPr>
            <a:r>
              <a:rPr lang="en-US" sz="2360" b="1" spc="-56" kern="0" dirty="0">
                <a:solidFill>
                  <a:srgbClr val="E6EDF3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Methodology </a:t>
            </a:r>
            <a:pPr algn="l" indent="0" marL="0">
              <a:buNone/>
            </a:pPr>
            <a:r>
              <a:rPr lang="en-US" sz="2360" b="1" spc="-56" kern="0" dirty="0">
                <a:solidFill>
                  <a:srgbClr val="58A6FF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&amp; Toolchain</a:t>
            </a:r>
            <a:endParaRPr lang="en-US" sz="2360" dirty="0"/>
          </a:p>
        </p:txBody>
      </p:sp>
      <p:sp>
        <p:nvSpPr>
          <p:cNvPr id="4" name="Shape 2"/>
          <p:cNvSpPr/>
          <p:nvPr/>
        </p:nvSpPr>
        <p:spPr>
          <a:xfrm>
            <a:off x="457200" y="1325500"/>
            <a:ext cx="314325" cy="21431"/>
          </a:xfrm>
          <a:prstGeom prst="roundRect">
            <a:avLst>
              <a:gd name="adj" fmla="val 50001"/>
            </a:avLst>
          </a:prstGeom>
          <a:solidFill>
            <a:srgbClr val="58A6FF"/>
          </a:solidFill>
          <a:ln/>
        </p:spPr>
      </p:sp>
      <p:grpSp>
        <p:nvGrpSpPr>
          <p:cNvPr id="25" name="Group g13"/>
          <p:cNvGrpSpPr/>
          <p:nvPr/>
        </p:nvGrpSpPr>
        <p:grpSpPr>
          <a:xfrm>
            <a:off x="457200" y="1475519"/>
            <a:ext cx="2521744" cy="1107281"/>
            <a:chOff x="457200" y="1475519"/>
            <a:chExt cx="2521744" cy="1107281"/>
          </a:xfrm>
        </p:grpSpPr>
        <p:sp>
          <p:nvSpPr>
            <p:cNvPr id="5" name="Shape"/>
            <p:cNvSpPr/>
            <p:nvPr/>
          </p:nvSpPr>
          <p:spPr>
            <a:xfrm>
              <a:off x="457200" y="1475519"/>
              <a:ext cx="2521744" cy="1107281"/>
            </a:xfrm>
            <a:prstGeom prst="roundRect">
              <a:avLst>
                <a:gd name="adj" fmla="val 7742"/>
              </a:avLst>
            </a:prstGeom>
            <a:solidFill>
              <a:srgbClr val="0D1A2E">
                <a:alpha val="90000"/>
              </a:srgbClr>
            </a:solidFill>
            <a:ln w="7144">
              <a:solidFill>
                <a:srgbClr val="58A6FF">
                  <a:alpha val="35000"/>
                </a:srgbClr>
              </a:solidFill>
              <a:prstDash val="solid"/>
            </a:ln>
          </p:spPr>
        </p:sp>
        <p:sp>
          <p:nvSpPr>
            <p:cNvPr id="6" name="Shape"/>
            <p:cNvSpPr/>
            <p:nvPr/>
          </p:nvSpPr>
          <p:spPr>
            <a:xfrm>
              <a:off x="592931" y="1596963"/>
              <a:ext cx="2250281" cy="2357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856"/>
                </a:lnSpc>
                <a:spcAft>
                  <a:spcPts val="338"/>
                </a:spcAft>
                <a:buNone/>
              </a:pPr>
              <a:r>
                <a:rPr lang="en-US" sz="124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⏱️</a:t>
              </a:r>
              <a:endParaRPr lang="en-US" sz="1240" dirty="0"/>
            </a:p>
          </p:txBody>
        </p:sp>
        <p:sp>
          <p:nvSpPr>
            <p:cNvPr id="7" name="Shape"/>
            <p:cNvSpPr/>
            <p:nvPr/>
          </p:nvSpPr>
          <p:spPr>
            <a:xfrm>
              <a:off x="592931" y="1875569"/>
              <a:ext cx="2250281" cy="171450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350"/>
                </a:lnSpc>
                <a:spcAft>
                  <a:spcPts val="225"/>
                </a:spcAft>
                <a:buNone/>
              </a:pPr>
              <a:r>
                <a:rPr lang="en-US" sz="900" b="1" dirty="0">
                  <a:solidFill>
                    <a:srgbClr val="E6EDF3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pyperformance + pyperf</a:t>
              </a:r>
              <a:endParaRPr lang="en-US" sz="900" dirty="0"/>
            </a:p>
          </p:txBody>
        </p:sp>
        <p:sp>
          <p:nvSpPr>
            <p:cNvPr id="8" name="Shape"/>
            <p:cNvSpPr/>
            <p:nvPr/>
          </p:nvSpPr>
          <p:spPr>
            <a:xfrm>
              <a:off x="592931" y="2075594"/>
              <a:ext cx="2250281" cy="257175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Standardized runner · wall-clock timing · 60 values/side · mean ± std dev · </a:t>
              </a:r>
              <a:pPr algn="l" indent="0" marL="0">
                <a:buNone/>
              </a:pPr>
              <a:r>
                <a:rPr lang="en-US" sz="57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compare_to 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for before/after ratio</a:t>
              </a:r>
              <a:endParaRPr lang="en-US" sz="680" dirty="0"/>
            </a:p>
          </p:txBody>
        </p:sp>
      </p:grpSp>
      <p:grpSp>
        <p:nvGrpSpPr>
          <p:cNvPr id="26" name="Group g14"/>
          <p:cNvGrpSpPr/>
          <p:nvPr/>
        </p:nvGrpSpPr>
        <p:grpSpPr>
          <a:xfrm>
            <a:off x="3078956" y="1475519"/>
            <a:ext cx="2521744" cy="1107281"/>
            <a:chOff x="3078956" y="1475519"/>
            <a:chExt cx="2521744" cy="1107281"/>
          </a:xfrm>
        </p:grpSpPr>
        <p:sp>
          <p:nvSpPr>
            <p:cNvPr id="9" name="Shape"/>
            <p:cNvSpPr/>
            <p:nvPr/>
          </p:nvSpPr>
          <p:spPr>
            <a:xfrm>
              <a:off x="3078956" y="1475519"/>
              <a:ext cx="2521744" cy="1107281"/>
            </a:xfrm>
            <a:prstGeom prst="roundRect">
              <a:avLst>
                <a:gd name="adj" fmla="val 7742"/>
              </a:avLst>
            </a:prstGeom>
            <a:solidFill>
              <a:srgbClr val="0D1A2E">
                <a:alpha val="90000"/>
              </a:srgbClr>
            </a:solidFill>
            <a:ln w="7144">
              <a:solidFill>
                <a:srgbClr val="58A6FF">
                  <a:alpha val="35000"/>
                </a:srgbClr>
              </a:solidFill>
              <a:prstDash val="solid"/>
            </a:ln>
          </p:spPr>
        </p:sp>
        <p:sp>
          <p:nvSpPr>
            <p:cNvPr id="10" name="Shape"/>
            <p:cNvSpPr/>
            <p:nvPr/>
          </p:nvSpPr>
          <p:spPr>
            <a:xfrm>
              <a:off x="3214688" y="1596963"/>
              <a:ext cx="2250281" cy="2357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856"/>
                </a:lnSpc>
                <a:spcAft>
                  <a:spcPts val="338"/>
                </a:spcAft>
                <a:buNone/>
              </a:pPr>
              <a:r>
                <a:rPr lang="en-US" sz="124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🔥</a:t>
              </a:r>
              <a:endParaRPr lang="en-US" sz="1240" dirty="0"/>
            </a:p>
          </p:txBody>
        </p:sp>
        <p:sp>
          <p:nvSpPr>
            <p:cNvPr id="11" name="Shape"/>
            <p:cNvSpPr/>
            <p:nvPr/>
          </p:nvSpPr>
          <p:spPr>
            <a:xfrm>
              <a:off x="3214688" y="1875569"/>
              <a:ext cx="2250281" cy="171450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350"/>
                </a:lnSpc>
                <a:spcAft>
                  <a:spcPts val="225"/>
                </a:spcAft>
                <a:buNone/>
              </a:pPr>
              <a:r>
                <a:rPr lang="en-US" sz="900" b="1" dirty="0">
                  <a:solidFill>
                    <a:srgbClr val="E6EDF3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perf + FlameGraph</a:t>
              </a:r>
              <a:endParaRPr lang="en-US" sz="900" dirty="0"/>
            </a:p>
          </p:txBody>
        </p:sp>
        <p:sp>
          <p:nvSpPr>
            <p:cNvPr id="12" name="Shape"/>
            <p:cNvSpPr/>
            <p:nvPr/>
          </p:nvSpPr>
          <p:spPr>
            <a:xfrm>
              <a:off x="3214688" y="2075594"/>
              <a:ext cx="2250281" cy="385763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850"/>
                </a:lnSpc>
                <a:buNone/>
              </a:pPr>
              <a:r>
                <a:rPr lang="en-US" sz="57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perf record -F 999 -g 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on </a:t>
              </a:r>
              <a:pPr algn="l" indent="0" marL="0">
                <a:buNone/>
              </a:pPr>
              <a:r>
                <a:rPr lang="en-US" sz="57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python3-dbg 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· call-stack sampling · Brendan Gregg's FlameGraph · visual hotspot ID</a:t>
              </a:r>
              <a:endParaRPr lang="en-US" sz="570" dirty="0"/>
            </a:p>
          </p:txBody>
        </p:sp>
      </p:grpSp>
      <p:grpSp>
        <p:nvGrpSpPr>
          <p:cNvPr id="27" name="Group g15"/>
          <p:cNvGrpSpPr/>
          <p:nvPr/>
        </p:nvGrpSpPr>
        <p:grpSpPr>
          <a:xfrm>
            <a:off x="457200" y="2682813"/>
            <a:ext cx="2521744" cy="1107281"/>
            <a:chOff x="457200" y="2682813"/>
            <a:chExt cx="2521744" cy="1107281"/>
          </a:xfrm>
        </p:grpSpPr>
        <p:sp>
          <p:nvSpPr>
            <p:cNvPr id="13" name="Shape"/>
            <p:cNvSpPr/>
            <p:nvPr/>
          </p:nvSpPr>
          <p:spPr>
            <a:xfrm>
              <a:off x="457200" y="2682813"/>
              <a:ext cx="2521744" cy="1107281"/>
            </a:xfrm>
            <a:prstGeom prst="roundRect">
              <a:avLst>
                <a:gd name="adj" fmla="val 7742"/>
              </a:avLst>
            </a:prstGeom>
            <a:solidFill>
              <a:srgbClr val="0D1A2E">
                <a:alpha val="90000"/>
              </a:srgbClr>
            </a:solidFill>
            <a:ln w="7144">
              <a:solidFill>
                <a:srgbClr val="58A6FF">
                  <a:alpha val="35000"/>
                </a:srgbClr>
              </a:solidFill>
              <a:prstDash val="solid"/>
            </a:ln>
          </p:spPr>
        </p:sp>
        <p:sp>
          <p:nvSpPr>
            <p:cNvPr id="14" name="Shape"/>
            <p:cNvSpPr/>
            <p:nvPr/>
          </p:nvSpPr>
          <p:spPr>
            <a:xfrm>
              <a:off x="592931" y="2804257"/>
              <a:ext cx="2250281" cy="2357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856"/>
                </a:lnSpc>
                <a:spcAft>
                  <a:spcPts val="338"/>
                </a:spcAft>
                <a:buNone/>
              </a:pPr>
              <a:r>
                <a:rPr lang="en-US" sz="124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🖥️</a:t>
              </a:r>
              <a:endParaRPr lang="en-US" sz="1240" dirty="0"/>
            </a:p>
          </p:txBody>
        </p:sp>
        <p:sp>
          <p:nvSpPr>
            <p:cNvPr id="15" name="Shape"/>
            <p:cNvSpPr/>
            <p:nvPr/>
          </p:nvSpPr>
          <p:spPr>
            <a:xfrm>
              <a:off x="592931" y="3082863"/>
              <a:ext cx="2250281" cy="171450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350"/>
                </a:lnSpc>
                <a:spcAft>
                  <a:spcPts val="225"/>
                </a:spcAft>
                <a:buNone/>
              </a:pPr>
              <a:r>
                <a:rPr lang="en-US" sz="900" b="1" dirty="0">
                  <a:solidFill>
                    <a:srgbClr val="E6EDF3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QEMU guest</a:t>
              </a:r>
              <a:endParaRPr lang="en-US" sz="900" dirty="0"/>
            </a:p>
          </p:txBody>
        </p:sp>
        <p:sp>
          <p:nvSpPr>
            <p:cNvPr id="16" name="Shape"/>
            <p:cNvSpPr/>
            <p:nvPr/>
          </p:nvSpPr>
          <p:spPr>
            <a:xfrm>
              <a:off x="592931" y="3282888"/>
              <a:ext cx="2250281" cy="385763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Course "jammy" Ubuntu image · software CPU emulation · absolute times inflated vs. bare metal — </a:t>
              </a:r>
              <a:pPr algn="l" indent="0" marL="0">
                <a:buNone/>
              </a:pPr>
              <a:r>
                <a:rPr lang="en-US" sz="680" b="1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ratios are valid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(both sides same guest)</a:t>
              </a:r>
              <a:endParaRPr lang="en-US" sz="680" dirty="0"/>
            </a:p>
          </p:txBody>
        </p:sp>
      </p:grpSp>
      <p:grpSp>
        <p:nvGrpSpPr>
          <p:cNvPr id="28" name="Group g16"/>
          <p:cNvGrpSpPr/>
          <p:nvPr/>
        </p:nvGrpSpPr>
        <p:grpSpPr>
          <a:xfrm>
            <a:off x="3078956" y="2682813"/>
            <a:ext cx="2521744" cy="1107281"/>
            <a:chOff x="3078956" y="2682813"/>
            <a:chExt cx="2521744" cy="1107281"/>
          </a:xfrm>
        </p:grpSpPr>
        <p:sp>
          <p:nvSpPr>
            <p:cNvPr id="17" name="Shape"/>
            <p:cNvSpPr/>
            <p:nvPr/>
          </p:nvSpPr>
          <p:spPr>
            <a:xfrm>
              <a:off x="3078956" y="2682813"/>
              <a:ext cx="2521744" cy="1107281"/>
            </a:xfrm>
            <a:prstGeom prst="roundRect">
              <a:avLst>
                <a:gd name="adj" fmla="val 7742"/>
              </a:avLst>
            </a:prstGeom>
            <a:solidFill>
              <a:srgbClr val="0D1A2E">
                <a:alpha val="90000"/>
              </a:srgbClr>
            </a:solidFill>
            <a:ln w="7144">
              <a:solidFill>
                <a:srgbClr val="58A6FF">
                  <a:alpha val="35000"/>
                </a:srgbClr>
              </a:solidFill>
              <a:prstDash val="solid"/>
            </a:ln>
          </p:spPr>
        </p:sp>
        <p:sp>
          <p:nvSpPr>
            <p:cNvPr id="18" name="Shape"/>
            <p:cNvSpPr/>
            <p:nvPr/>
          </p:nvSpPr>
          <p:spPr>
            <a:xfrm>
              <a:off x="3214688" y="2804257"/>
              <a:ext cx="2250281" cy="2357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856"/>
                </a:lnSpc>
                <a:spcAft>
                  <a:spcPts val="338"/>
                </a:spcAft>
                <a:buNone/>
              </a:pPr>
              <a:r>
                <a:rPr lang="en-US" sz="124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🔌</a:t>
              </a:r>
              <a:endParaRPr lang="en-US" sz="1240" dirty="0"/>
            </a:p>
          </p:txBody>
        </p:sp>
        <p:sp>
          <p:nvSpPr>
            <p:cNvPr id="19" name="Shape"/>
            <p:cNvSpPr/>
            <p:nvPr/>
          </p:nvSpPr>
          <p:spPr>
            <a:xfrm>
              <a:off x="3214688" y="3082863"/>
              <a:ext cx="2250281" cy="171450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350"/>
                </a:lnSpc>
                <a:spcAft>
                  <a:spcPts val="225"/>
                </a:spcAft>
                <a:buNone/>
              </a:pPr>
              <a:r>
                <a:rPr lang="en-US" sz="900" b="1" dirty="0">
                  <a:solidFill>
                    <a:srgbClr val="E6EDF3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Icarus Verilog</a:t>
              </a:r>
              <a:endParaRPr lang="en-US" sz="900" dirty="0"/>
            </a:p>
          </p:txBody>
        </p:sp>
        <p:sp>
          <p:nvSpPr>
            <p:cNvPr id="20" name="Shape"/>
            <p:cNvSpPr/>
            <p:nvPr/>
          </p:nvSpPr>
          <p:spPr>
            <a:xfrm>
              <a:off x="3214688" y="3282888"/>
              <a:ext cx="2250281" cy="257175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RTL simulation · </a:t>
              </a:r>
              <a:pPr algn="l" indent="0" marL="0">
                <a:buNone/>
              </a:pPr>
              <a:r>
                <a:rPr lang="en-US" sz="57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iverilog -g2012 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· self-checking testbench · pyflate Huffman engine passes</a:t>
              </a:r>
              <a:endParaRPr lang="en-US" sz="680" dirty="0"/>
            </a:p>
          </p:txBody>
        </p:sp>
      </p:grpSp>
      <p:grpSp>
        <p:nvGrpSpPr>
          <p:cNvPr id="29" name="Group g17"/>
          <p:cNvGrpSpPr/>
          <p:nvPr/>
        </p:nvGrpSpPr>
        <p:grpSpPr>
          <a:xfrm>
            <a:off x="457200" y="3904394"/>
            <a:ext cx="5143500" cy="528638"/>
            <a:chOff x="457200" y="3904394"/>
            <a:chExt cx="5143500" cy="528638"/>
          </a:xfrm>
        </p:grpSpPr>
        <p:sp>
          <p:nvSpPr>
            <p:cNvPr id="21" name="Shape"/>
            <p:cNvSpPr/>
            <p:nvPr/>
          </p:nvSpPr>
          <p:spPr>
            <a:xfrm>
              <a:off x="457200" y="3904394"/>
              <a:ext cx="5143500" cy="528638"/>
            </a:xfrm>
            <a:prstGeom prst="roundRect">
              <a:avLst>
                <a:gd name="adj" fmla="val 13514"/>
              </a:avLst>
            </a:prstGeom>
            <a:solidFill>
              <a:srgbClr val="0D3320">
                <a:alpha val="88000"/>
              </a:srgbClr>
            </a:solidFill>
            <a:ln w="7144">
              <a:solidFill>
                <a:srgbClr val="3FB950">
                  <a:alpha val="50000"/>
                </a:srgbClr>
              </a:solidFill>
              <a:prstDash val="solid"/>
            </a:ln>
          </p:spPr>
        </p:sp>
        <p:sp>
          <p:nvSpPr>
            <p:cNvPr id="22" name="Shape"/>
            <p:cNvSpPr/>
            <p:nvPr/>
          </p:nvSpPr>
          <p:spPr>
            <a:xfrm>
              <a:off x="608335" y="4040125"/>
              <a:ext cx="142875" cy="2571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2025"/>
                </a:lnSpc>
                <a:buNone/>
              </a:pPr>
              <a:r>
                <a:rPr lang="en-US" sz="135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✅</a:t>
              </a:r>
              <a:endParaRPr lang="en-US" sz="1350" dirty="0"/>
            </a:p>
          </p:txBody>
        </p:sp>
        <p:sp>
          <p:nvSpPr>
            <p:cNvPr id="23" name="Shape"/>
            <p:cNvSpPr/>
            <p:nvPr/>
          </p:nvSpPr>
          <p:spPr>
            <a:xfrm>
              <a:off x="852897" y="4011550"/>
              <a:ext cx="3271838" cy="171450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350"/>
                </a:lnSpc>
                <a:buNone/>
              </a:pPr>
              <a:r>
                <a:rPr lang="en-US" sz="900" b="1" dirty="0">
                  <a:solidFill>
                    <a:srgbClr val="3FB950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Success bar: ≥7% wall-clock speedup on ≥2 benchmarks</a:t>
              </a:r>
              <a:endParaRPr lang="en-US" sz="900" dirty="0"/>
            </a:p>
          </p:txBody>
        </p:sp>
        <p:sp>
          <p:nvSpPr>
            <p:cNvPr id="24" name="Shape"/>
            <p:cNvSpPr/>
            <p:nvPr/>
          </p:nvSpPr>
          <p:spPr>
            <a:xfrm>
              <a:off x="852897" y="4197288"/>
              <a:ext cx="3271838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spcBef>
                  <a:spcPts val="113"/>
                </a:spcBef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Measured with pyperf compare_to · n=60 · inside QEMU guest</a:t>
              </a:r>
              <a:endParaRPr lang="en-US" sz="68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42844"/>
            <a:ext cx="4114800" cy="364331"/>
          </a:xfrm>
          <a:prstGeom prst="rect">
            <a:avLst/>
          </a:prstGeom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95"/>
              </a:lnSpc>
              <a:spcAft>
                <a:spcPts val="1125"/>
              </a:spcAft>
              <a:buNone/>
            </a:pPr>
            <a:r>
              <a:rPr lang="en-US" sz="1910" b="1" spc="-11" kern="0" dirty="0">
                <a:solidFill>
                  <a:srgbClr val="58A6FF"/>
                </a:solidFill>
                <a:latin typeface="SF Pro Semibold" pitchFamily="34" charset="0"/>
                <a:ea typeface="SF Pro Semibold" pitchFamily="34" charset="-122"/>
                <a:cs typeface="SF Pro Semibold" pitchFamily="34" charset="-120"/>
              </a:rPr>
              <a:t>nbody — Solar System Simulation</a:t>
            </a:r>
            <a:endParaRPr lang="en-US" sz="1910" dirty="0"/>
          </a:p>
        </p:txBody>
      </p:sp>
      <p:sp>
        <p:nvSpPr>
          <p:cNvPr id="4" name="Shape 1"/>
          <p:cNvSpPr/>
          <p:nvPr/>
        </p:nvSpPr>
        <p:spPr>
          <a:xfrm>
            <a:off x="457200" y="849995"/>
            <a:ext cx="314325" cy="21431"/>
          </a:xfrm>
          <a:prstGeom prst="roundRect">
            <a:avLst>
              <a:gd name="adj" fmla="val 50001"/>
            </a:avLst>
          </a:prstGeom>
          <a:solidFill>
            <a:srgbClr val="58A6FF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999232"/>
            <a:ext cx="3857625" cy="400050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10" dirty="0">
                <a:solidFill>
                  <a:srgbClr val="C9D1D9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Simulates the gravitational dynamics of the </a:t>
            </a:r>
            <a:pPr algn="l" indent="0" marL="0">
              <a:buNone/>
            </a:pPr>
            <a:r>
              <a:rPr lang="en-US" sz="1010" b="1" dirty="0">
                <a:solidFill>
                  <a:srgbClr val="79C0FF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outer solar system</a:t>
            </a:r>
            <a:pPr algn="l" indent="0" marL="0">
              <a:spcAft>
                <a:spcPts val="675"/>
              </a:spcAft>
              <a:buNone/>
            </a:pPr>
            <a:r>
              <a:rPr lang="en-US" sz="1010" dirty="0">
                <a:solidFill>
                  <a:srgbClr val="C9D1D9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 — Sun + 4 gas giants — over 20,000 timesteps.</a:t>
            </a:r>
            <a:endParaRPr lang="en-US" sz="1010" dirty="0"/>
          </a:p>
        </p:txBody>
      </p:sp>
      <p:grpSp>
        <p:nvGrpSpPr>
          <p:cNvPr id="17" name="Group g18"/>
          <p:cNvGrpSpPr/>
          <p:nvPr/>
        </p:nvGrpSpPr>
        <p:grpSpPr>
          <a:xfrm>
            <a:off x="457200" y="1527088"/>
            <a:ext cx="3857625" cy="635794"/>
            <a:chOff x="457200" y="1527088"/>
            <a:chExt cx="3857625" cy="635794"/>
          </a:xfrm>
        </p:grpSpPr>
        <p:sp>
          <p:nvSpPr>
            <p:cNvPr id="6" name="Shape"/>
            <p:cNvSpPr/>
            <p:nvPr/>
          </p:nvSpPr>
          <p:spPr>
            <a:xfrm>
              <a:off x="457200" y="1527088"/>
              <a:ext cx="3857625" cy="635794"/>
            </a:xfrm>
            <a:prstGeom prst="roundRect">
              <a:avLst>
                <a:gd name="adj" fmla="val 11236"/>
              </a:avLst>
            </a:prstGeom>
            <a:solidFill>
              <a:srgbClr val="161B22"/>
            </a:solidFill>
            <a:ln w="7144">
              <a:solidFill>
                <a:srgbClr val="30363D"/>
              </a:solidFill>
              <a:prstDash val="solid"/>
            </a:ln>
          </p:spPr>
        </p:sp>
        <p:sp>
          <p:nvSpPr>
            <p:cNvPr id="7" name="Shape"/>
            <p:cNvSpPr/>
            <p:nvPr/>
          </p:nvSpPr>
          <p:spPr>
            <a:xfrm>
              <a:off x="592931" y="1619957"/>
              <a:ext cx="3586162" cy="15001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181"/>
                </a:lnSpc>
                <a:spcAft>
                  <a:spcPts val="169"/>
                </a:spcAft>
                <a:buNone/>
              </a:pPr>
              <a:r>
                <a:rPr lang="en-US" sz="790" b="1" dirty="0">
                  <a:solidFill>
                    <a:srgbClr val="79C0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Bodies &amp; data structures</a:t>
              </a:r>
              <a:endParaRPr lang="en-US" sz="790" dirty="0"/>
            </a:p>
          </p:txBody>
        </p:sp>
        <p:sp>
          <p:nvSpPr>
            <p:cNvPr id="8" name="Shape"/>
            <p:cNvSpPr/>
            <p:nvPr/>
          </p:nvSpPr>
          <p:spPr>
            <a:xfrm>
              <a:off x="592931" y="1791407"/>
              <a:ext cx="3586162" cy="278606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buNone/>
              </a:pPr>
              <a:r>
                <a:rPr lang="en-US" sz="7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5 bodies · each is a Python list </a:t>
              </a:r>
              <a:pPr algn="l" indent="0" marL="0">
                <a:buNone/>
              </a:pPr>
              <a:r>
                <a:rPr lang="en-US" sz="61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[pos_list, vel_list, mass] </a:t>
              </a:r>
              <a:pPr algn="l" indent="0" marL="0">
                <a:buNone/>
              </a:pPr>
              <a:r>
                <a:rPr lang="en-US" sz="7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· positions/velocities are 3-element mutable lists</a:t>
              </a:r>
              <a:endParaRPr lang="en-US" sz="730" dirty="0"/>
            </a:p>
          </p:txBody>
        </p:sp>
      </p:grpSp>
      <p:grpSp>
        <p:nvGrpSpPr>
          <p:cNvPr id="18" name="Group g19"/>
          <p:cNvGrpSpPr/>
          <p:nvPr/>
        </p:nvGrpSpPr>
        <p:grpSpPr>
          <a:xfrm>
            <a:off x="457200" y="2241463"/>
            <a:ext cx="3857625" cy="635794"/>
            <a:chOff x="457200" y="2241463"/>
            <a:chExt cx="3857625" cy="635794"/>
          </a:xfrm>
        </p:grpSpPr>
        <p:sp>
          <p:nvSpPr>
            <p:cNvPr id="9" name="Shape"/>
            <p:cNvSpPr/>
            <p:nvPr/>
          </p:nvSpPr>
          <p:spPr>
            <a:xfrm>
              <a:off x="457200" y="2241463"/>
              <a:ext cx="3857625" cy="635794"/>
            </a:xfrm>
            <a:prstGeom prst="roundRect">
              <a:avLst>
                <a:gd name="adj" fmla="val 11236"/>
              </a:avLst>
            </a:prstGeom>
            <a:solidFill>
              <a:srgbClr val="161B22"/>
            </a:solidFill>
            <a:ln w="7144">
              <a:solidFill>
                <a:srgbClr val="30363D"/>
              </a:solidFill>
              <a:prstDash val="solid"/>
            </a:ln>
          </p:spPr>
        </p:sp>
        <p:sp>
          <p:nvSpPr>
            <p:cNvPr id="10" name="Shape"/>
            <p:cNvSpPr/>
            <p:nvPr/>
          </p:nvSpPr>
          <p:spPr>
            <a:xfrm>
              <a:off x="592931" y="2334332"/>
              <a:ext cx="3586162" cy="15001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181"/>
                </a:lnSpc>
                <a:spcAft>
                  <a:spcPts val="169"/>
                </a:spcAft>
                <a:buNone/>
              </a:pPr>
              <a:r>
                <a:rPr lang="en-US" sz="790" b="1" dirty="0">
                  <a:solidFill>
                    <a:srgbClr val="79C0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Algorithm</a:t>
              </a:r>
              <a:endParaRPr lang="en-US" sz="790" dirty="0"/>
            </a:p>
          </p:txBody>
        </p:sp>
        <p:sp>
          <p:nvSpPr>
            <p:cNvPr id="11" name="Shape"/>
            <p:cNvSpPr/>
            <p:nvPr/>
          </p:nvSpPr>
          <p:spPr>
            <a:xfrm>
              <a:off x="592931" y="2505782"/>
              <a:ext cx="3586162" cy="278606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buNone/>
              </a:pPr>
              <a:r>
                <a:rPr lang="en-US" sz="7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Brute-force O(N²) · 10 pairs · symplectic-Euler integrator · 20,000 steps · no libraries beyond </a:t>
              </a:r>
              <a:pPr algn="l" indent="0" marL="0">
                <a:buNone/>
              </a:pPr>
              <a:r>
                <a:rPr lang="en-US" sz="61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math.sqrt </a:t>
              </a:r>
              <a:endParaRPr lang="en-US" sz="730" dirty="0"/>
            </a:p>
          </p:txBody>
        </p:sp>
      </p:grpSp>
      <p:grpSp>
        <p:nvGrpSpPr>
          <p:cNvPr id="19" name="Group g20"/>
          <p:cNvGrpSpPr/>
          <p:nvPr/>
        </p:nvGrpSpPr>
        <p:grpSpPr>
          <a:xfrm>
            <a:off x="457200" y="2955838"/>
            <a:ext cx="3857625" cy="635794"/>
            <a:chOff x="457200" y="2955838"/>
            <a:chExt cx="3857625" cy="635794"/>
          </a:xfrm>
        </p:grpSpPr>
        <p:sp>
          <p:nvSpPr>
            <p:cNvPr id="12" name="Shape"/>
            <p:cNvSpPr/>
            <p:nvPr/>
          </p:nvSpPr>
          <p:spPr>
            <a:xfrm>
              <a:off x="457200" y="2955838"/>
              <a:ext cx="3857625" cy="635794"/>
            </a:xfrm>
            <a:prstGeom prst="roundRect">
              <a:avLst>
                <a:gd name="adj" fmla="val 11236"/>
              </a:avLst>
            </a:prstGeom>
            <a:solidFill>
              <a:srgbClr val="161B22"/>
            </a:solidFill>
            <a:ln w="7144">
              <a:solidFill>
                <a:srgbClr val="30363D"/>
              </a:solidFill>
              <a:prstDash val="solid"/>
            </a:ln>
          </p:spPr>
        </p:sp>
        <p:sp>
          <p:nvSpPr>
            <p:cNvPr id="13" name="Shape"/>
            <p:cNvSpPr/>
            <p:nvPr/>
          </p:nvSpPr>
          <p:spPr>
            <a:xfrm>
              <a:off x="592931" y="3048707"/>
              <a:ext cx="3586162" cy="15001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181"/>
                </a:lnSpc>
                <a:spcAft>
                  <a:spcPts val="169"/>
                </a:spcAft>
                <a:buNone/>
              </a:pPr>
              <a:r>
                <a:rPr lang="en-US" sz="790" b="1" dirty="0">
                  <a:solidFill>
                    <a:srgbClr val="79C0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Correctness oracle</a:t>
              </a:r>
              <a:endParaRPr lang="en-US" sz="790" dirty="0"/>
            </a:p>
          </p:txBody>
        </p:sp>
        <p:sp>
          <p:nvSpPr>
            <p:cNvPr id="14" name="Shape"/>
            <p:cNvSpPr/>
            <p:nvPr/>
          </p:nvSpPr>
          <p:spPr>
            <a:xfrm>
              <a:off x="592931" y="3220157"/>
              <a:ext cx="3586162" cy="278606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buNone/>
              </a:pPr>
              <a:r>
                <a:rPr lang="en-US" sz="7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Final system energy printed to 9 decimals: </a:t>
              </a:r>
              <a:pPr algn="l" indent="0" marL="0">
                <a:buNone/>
              </a:pPr>
              <a:r>
                <a:rPr lang="en-US" sz="610" dirty="0">
                  <a:solidFill>
                    <a:srgbClr val="3FB950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-0.169089263 </a:t>
              </a:r>
              <a:pPr algn="l" indent="0" marL="0">
                <a:buNone/>
              </a:pPr>
              <a:r>
                <a:rPr lang="en-US" sz="7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— must be identical before/after</a:t>
              </a:r>
              <a:endParaRPr lang="en-US" sz="730" dirty="0"/>
            </a:p>
          </p:txBody>
        </p:sp>
      </p:grpSp>
      <p:sp>
        <p:nvSpPr>
          <p:cNvPr id="15" name="Text 12"/>
          <p:cNvSpPr/>
          <p:nvPr/>
        </p:nvSpPr>
        <p:spPr>
          <a:xfrm>
            <a:off x="457200" y="3705932"/>
            <a:ext cx="385762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80" b="1" spc="101" kern="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WHY IT'S A GOOD BENCHMARK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457200" y="3875931"/>
            <a:ext cx="3857625" cy="300038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Deterministic · pure arithmetic · no I/O · energy checksum validates correctness · representative scientific computing workload</a:t>
            </a:r>
            <a:endParaRPr lang="en-US" sz="7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8260" y="936613"/>
            <a:ext cx="4536281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80" b="1" spc="101" kern="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LINUX PERF · PYTHON3-DBG · TOP FUNCTIONS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458260" y="1100919"/>
            <a:ext cx="4536281" cy="30003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80" b="1" spc="-28" kern="0" dirty="0">
                <a:solidFill>
                  <a:srgbClr val="E6EDF3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nbody — </a:t>
            </a:r>
            <a:pPr algn="l" indent="0" marL="0">
              <a:buNone/>
            </a:pPr>
            <a:r>
              <a:rPr lang="en-US" sz="1580" b="1" spc="-28" kern="0" dirty="0">
                <a:solidFill>
                  <a:srgbClr val="58A6FF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Profiling</a:t>
            </a:r>
            <a:endParaRPr lang="en-US" sz="158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8260" y="1472394"/>
          <a:ext cx="4536281" cy="914400"/>
        </p:xfrm>
        <a:graphic>
          <a:graphicData uri="http://schemas.openxmlformats.org/drawingml/2006/table">
            <a:tbl>
              <a:tblPr/>
              <a:tblGrid>
                <a:gridCol w="2265573"/>
                <a:gridCol w="589025"/>
                <a:gridCol w="16766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b="1" spc="45" kern="0" dirty="0">
                          <a:solidFill>
                            <a:srgbClr val="58A6FF"/>
                          </a:solidFill>
                          <a:highlight>
                            <a:srgbClr val="0D1117"/>
                          </a:highlight>
                          <a:latin typeface="SF Pro Semibold" pitchFamily="34" charset="0"/>
                          <a:ea typeface="SF Pro Semibold" pitchFamily="34" charset="-122"/>
                          <a:cs typeface="SF Pro Semibold" pitchFamily="34" charset="-120"/>
                        </a:rPr>
                        <a:t>FUNCTION</a:t>
                      </a:r>
                      <a:endParaRPr lang="en-US" sz="680" dirty="0">
                        <a:latin typeface="SF Pro Semibold" charset="0"/>
                        <a:ea typeface="SF Pro Semibold" charset="0"/>
                        <a:cs typeface="SF Pro Semibold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b="1" spc="45" kern="0" dirty="0">
                          <a:solidFill>
                            <a:srgbClr val="58A6FF"/>
                          </a:solidFill>
                          <a:highlight>
                            <a:srgbClr val="0D1117"/>
                          </a:highlight>
                          <a:latin typeface="SF Pro Semibold" pitchFamily="34" charset="0"/>
                          <a:ea typeface="SF Pro Semibold" pitchFamily="34" charset="-122"/>
                          <a:cs typeface="SF Pro Semibold" pitchFamily="34" charset="-120"/>
                        </a:rPr>
                        <a:t>SELF %</a:t>
                      </a:r>
                      <a:endParaRPr lang="en-US" sz="680" dirty="0">
                        <a:latin typeface="SF Pro Semibold" charset="0"/>
                        <a:ea typeface="SF Pro Semibold" charset="0"/>
                        <a:cs typeface="SF Pro Semibold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b="1" spc="45" kern="0" dirty="0">
                          <a:solidFill>
                            <a:srgbClr val="58A6FF"/>
                          </a:solidFill>
                          <a:highlight>
                            <a:srgbClr val="0D1117"/>
                          </a:highlight>
                          <a:latin typeface="SF Pro Semibold" pitchFamily="34" charset="0"/>
                          <a:ea typeface="SF Pro Semibold" pitchFamily="34" charset="-122"/>
                          <a:cs typeface="SF Pro Semibold" pitchFamily="34" charset="-120"/>
                        </a:rPr>
                        <a:t>WHAT IT MEANS</a:t>
                      </a:r>
                      <a:endParaRPr lang="en-US" sz="680" dirty="0">
                        <a:latin typeface="SF Pro Semibold" charset="0"/>
                        <a:ea typeface="SF Pro Semibold" charset="0"/>
                        <a:cs typeface="SF Pro Semibold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b="1" dirty="0">
                          <a:solidFill>
                            <a:srgbClr val="F85149"/>
                          </a:solidFill>
                          <a:highlight>
                            <a:srgbClr val="1A0D0D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_PyEval_EvalFrameDefault</a:t>
                      </a:r>
                      <a:endParaRPr lang="en-US" sz="68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266"/>
                        </a:lnSpc>
                        <a:buNone/>
                      </a:pPr>
                      <a:r>
                        <a:rPr lang="en-US" sz="840" b="1" dirty="0">
                          <a:solidFill>
                            <a:srgbClr val="F85149"/>
                          </a:solidFill>
                          <a:highlight>
                            <a:srgbClr val="1A0D0D"/>
                          </a:highlight>
                          <a:latin typeface="SF Pro Heavy" pitchFamily="34" charset="0"/>
                          <a:ea typeface="SF Pro Heavy" pitchFamily="34" charset="-122"/>
                          <a:cs typeface="SF Pro Heavy" pitchFamily="34" charset="-120"/>
                        </a:rPr>
                        <a:t>35.0%</a:t>
                      </a:r>
                      <a:endParaRPr lang="en-US" sz="840" dirty="0">
                        <a:latin typeface="SF Pro Heavy" charset="0"/>
                        <a:ea typeface="SF Pro Heavy" charset="0"/>
                        <a:cs typeface="SF Pro Heavy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8"/>
                        </a:lnSpc>
                        <a:buNone/>
                      </a:pPr>
                      <a:r>
                        <a:rPr lang="en-US" sz="620" dirty="0">
                          <a:solidFill>
                            <a:srgbClr val="8B949E"/>
                          </a:solidFill>
                          <a:highlight>
                            <a:srgbClr val="1A0D0D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Bytecode dispatch — the interpreter loop</a:t>
                      </a:r>
                      <a:endParaRPr lang="en-US" sz="62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D0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FFA657"/>
                          </a:solidFill>
                          <a:highlight>
                            <a:srgbClr val="0D1117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PyFloat_FromDouble</a:t>
                      </a:r>
                      <a:endParaRPr lang="en-US" sz="68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b="1" dirty="0">
                          <a:solidFill>
                            <a:srgbClr val="FFA657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7.3%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8"/>
                        </a:lnSpc>
                        <a:buNone/>
                      </a:pPr>
                      <a:r>
                        <a:rPr lang="en-US" sz="620" dirty="0">
                          <a:solidFill>
                            <a:srgbClr val="8B949E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Boxing a new float per arithmetic result</a:t>
                      </a:r>
                      <a:endParaRPr lang="en-US" sz="62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FFA657"/>
                          </a:solidFill>
                          <a:highlight>
                            <a:srgbClr val="0D1117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binary_op1 / float_dealloc</a:t>
                      </a:r>
                      <a:endParaRPr lang="en-US" sz="68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b="1" dirty="0">
                          <a:solidFill>
                            <a:srgbClr val="FFA657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5.0 / 4.6%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8"/>
                        </a:lnSpc>
                        <a:buNone/>
                      </a:pPr>
                      <a:r>
                        <a:rPr lang="en-US" sz="620" dirty="0">
                          <a:solidFill>
                            <a:srgbClr val="8B949E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Op dispatch + float object teardown</a:t>
                      </a:r>
                      <a:endParaRPr lang="en-US" sz="62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FFA657"/>
                          </a:solidFill>
                          <a:highlight>
                            <a:srgbClr val="0D1117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PyNumber_AsSsize_t</a:t>
                      </a:r>
                      <a:endParaRPr lang="en-US" sz="68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b="1" dirty="0">
                          <a:solidFill>
                            <a:srgbClr val="FFA657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3.7%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8"/>
                        </a:lnSpc>
                        <a:buNone/>
                      </a:pPr>
                      <a:r>
                        <a:rPr lang="en-US" sz="620" dirty="0">
                          <a:solidFill>
                            <a:srgbClr val="8B949E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List index resolution (v1[0], v1[1], …)</a:t>
                      </a:r>
                      <a:endParaRPr lang="en-US" sz="62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FFA657"/>
                          </a:solidFill>
                          <a:highlight>
                            <a:srgbClr val="1A1200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__ieee754_pow_sse2</a:t>
                      </a:r>
                      <a:endParaRPr lang="en-US" sz="68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5C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5C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5C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5C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b="1" dirty="0">
                          <a:solidFill>
                            <a:srgbClr val="FFA657"/>
                          </a:solidFill>
                          <a:highlight>
                            <a:srgbClr val="1A1200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2.5%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5C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5C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5C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5C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80"/>
                        </a:lnSpc>
                        <a:buNone/>
                      </a:pPr>
                      <a:r>
                        <a:rPr lang="en-US" sz="520" dirty="0">
                          <a:solidFill>
                            <a:srgbClr val="79C0FF"/>
                          </a:solidFill>
                          <a:highlight>
                            <a:srgbClr val="161B22"/>
                          </a:highlight>
                          <a:latin typeface="SF Mono" pitchFamily="34" charset="0"/>
                          <a:ea typeface="SF Mono" pitchFamily="34" charset="-122"/>
                          <a:cs typeface="SF Mono" pitchFamily="34" charset="-120"/>
                        </a:rPr>
                        <a:t>** -1.5 </a:t>
                      </a:r>
                      <a:pPr algn="l" indent="0" marL="0">
                        <a:lnSpc>
                          <a:spcPts val="928"/>
                        </a:lnSpc>
                        <a:buNone/>
                      </a:pPr>
                      <a:r>
                        <a:rPr lang="en-US" sz="620" dirty="0">
                          <a:solidFill>
                            <a:srgbClr val="8B949E"/>
                          </a:solidFill>
                          <a:highlight>
                            <a:srgbClr val="1A1200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 power op — looks tempting</a:t>
                      </a:r>
                      <a:endParaRPr lang="en-US" sz="62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5C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5C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5C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5C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8B949E"/>
                          </a:solidFill>
                          <a:highlight>
                            <a:srgbClr val="0D1117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float_mul / float_add / float_sub</a:t>
                      </a:r>
                      <a:endParaRPr lang="en-US" sz="68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b="1" dirty="0">
                          <a:solidFill>
                            <a:srgbClr val="8B949E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~1.5–2.3%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8"/>
                        </a:lnSpc>
                        <a:buNone/>
                      </a:pPr>
                      <a:r>
                        <a:rPr lang="en-US" sz="620" dirty="0">
                          <a:solidFill>
                            <a:srgbClr val="8B949E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Actual FP arithmetic — barely visible</a:t>
                      </a:r>
                      <a:endParaRPr lang="en-US" sz="62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F85149"/>
                          </a:solidFill>
                          <a:highlight>
                            <a:srgbClr val="1A0D0D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list_ass_subscript</a:t>
                      </a:r>
                      <a:endParaRPr lang="en-US" sz="68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b="1" dirty="0">
                          <a:solidFill>
                            <a:srgbClr val="F85149"/>
                          </a:solidFill>
                          <a:highlight>
                            <a:srgbClr val="1A0D0D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2.0%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80"/>
                        </a:lnSpc>
                        <a:buNone/>
                      </a:pPr>
                      <a:r>
                        <a:rPr lang="en-US" sz="520" dirty="0">
                          <a:solidFill>
                            <a:srgbClr val="79C0FF"/>
                          </a:solidFill>
                          <a:highlight>
                            <a:srgbClr val="161B22"/>
                          </a:highlight>
                          <a:latin typeface="SF Mono" pitchFamily="34" charset="0"/>
                          <a:ea typeface="SF Mono" pitchFamily="34" charset="-122"/>
                          <a:cs typeface="SF Mono" pitchFamily="34" charset="-120"/>
                        </a:rPr>
                        <a:t>v1[0] -= … </a:t>
                      </a:r>
                      <a:pPr algn="l" indent="0" marL="0">
                        <a:lnSpc>
                          <a:spcPts val="928"/>
                        </a:lnSpc>
                        <a:buNone/>
                      </a:pPr>
                      <a:r>
                        <a:rPr lang="en-US" sz="620" dirty="0">
                          <a:solidFill>
                            <a:srgbClr val="8B949E"/>
                          </a:solidFill>
                          <a:highlight>
                            <a:srgbClr val="1A0D0D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 list-subscript writes</a:t>
                      </a:r>
                      <a:endParaRPr lang="en-US" sz="62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D0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5916" y="3857625"/>
            <a:ext cx="2243138" cy="350044"/>
          </a:xfrm>
          <a:prstGeom prst="roundRect">
            <a:avLst>
              <a:gd name="adj" fmla="val 14286"/>
            </a:avLst>
          </a:prstGeom>
          <a:solidFill>
            <a:srgbClr val="0D1A2E"/>
          </a:solidFill>
          <a:ln w="7144">
            <a:solidFill>
              <a:srgbClr val="1A3A5C"/>
            </a:solidFill>
            <a:prstDash val="solid"/>
          </a:ln>
        </p:spPr>
        <p:txBody>
          <a:bodyPr wrap="square" lIns="42863" tIns="0" rIns="0" bIns="0" rtlCol="0" anchor="ctr">
            <a:sp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20" b="1" dirty="0">
                <a:solidFill>
                  <a:srgbClr val="58A6FF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Key:</a:t>
            </a:r>
            <a:pPr algn="l" indent="0" marL="0">
              <a:buNone/>
            </a:pPr>
            <a:r>
              <a:rPr lang="en-US" sz="62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 FP ops each only 1.5–2.5%. Interpreter + object overhead is 35%+.</a:t>
            </a:r>
            <a:endParaRPr lang="en-US" sz="620" dirty="0"/>
          </a:p>
        </p:txBody>
      </p:sp>
      <p:sp>
        <p:nvSpPr>
          <p:cNvPr id="6" name="Text 3"/>
          <p:cNvSpPr/>
          <p:nvPr/>
        </p:nvSpPr>
        <p:spPr>
          <a:xfrm>
            <a:off x="2753692" y="3857625"/>
            <a:ext cx="2243138" cy="350044"/>
          </a:xfrm>
          <a:prstGeom prst="roundRect">
            <a:avLst>
              <a:gd name="adj" fmla="val 14286"/>
            </a:avLst>
          </a:prstGeom>
          <a:solidFill>
            <a:srgbClr val="1A1200"/>
          </a:solidFill>
          <a:ln w="7144">
            <a:solidFill>
              <a:srgbClr val="FFA657"/>
            </a:solidFill>
            <a:prstDash val="solid"/>
          </a:ln>
        </p:spPr>
        <p:txBody>
          <a:bodyPr wrap="square" lIns="42863" tIns="0" rIns="0" bIns="0" rtlCol="0" anchor="ctr">
            <a:sp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20" b="1" dirty="0">
                <a:solidFill>
                  <a:srgbClr val="FFA657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sqrt swap:</a:t>
            </a:r>
            <a:pPr algn="l" indent="0" marL="0">
              <a:buNone/>
            </a:pPr>
            <a:r>
              <a:rPr lang="en-US" sz="62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 pow=2.5% → max saving 2.5% → got ~0–1.5%.</a:t>
            </a:r>
            <a:endParaRPr lang="en-US" sz="620" dirty="0"/>
          </a:p>
        </p:txBody>
      </p:sp>
      <p:grpSp>
        <p:nvGrpSpPr>
          <p:cNvPr id="10" name="Group g29"/>
          <p:cNvGrpSpPr/>
          <p:nvPr/>
        </p:nvGrpSpPr>
        <p:grpSpPr>
          <a:xfrm>
            <a:off x="5194567" y="-1649090"/>
            <a:ext cx="3493294" cy="5403130"/>
            <a:chOff x="5194567" y="-1649090"/>
            <a:chExt cx="3493294" cy="5403130"/>
          </a:xfrm>
        </p:grpSpPr>
        <p:sp>
          <p:nvSpPr>
            <p:cNvPr id="7" name="Shape"/>
            <p:cNvSpPr/>
            <p:nvPr/>
          </p:nvSpPr>
          <p:spPr>
            <a:xfrm>
              <a:off x="5194567" y="1389459"/>
              <a:ext cx="3493294" cy="2364581"/>
            </a:xfrm>
            <a:prstGeom prst="roundRect">
              <a:avLst>
                <a:gd name="adj" fmla="val 2417"/>
              </a:avLst>
            </a:prstGeom>
            <a:ln w="7144">
              <a:solidFill>
                <a:srgbClr val="30363D"/>
              </a:solidFill>
              <a:prstDash val="solid"/>
            </a:ln>
          </p:spPr>
        </p:sp>
        <p:sp>
          <p:nvSpPr>
            <p:cNvPr id="8" name="Shape"/>
            <p:cNvSpPr/>
            <p:nvPr/>
          </p:nvSpPr>
          <p:spPr>
            <a:xfrm>
              <a:off x="5201710" y="1396603"/>
              <a:ext cx="3479006" cy="207169"/>
            </a:xfrm>
            <a:prstGeom prst="rect">
              <a:avLst/>
            </a:prstGeom>
            <a:solidFill>
              <a:srgbClr val="161B22"/>
            </a:solidFill>
            <a:ln/>
          </p:spPr>
          <p:txBody>
            <a:bodyPr wrap="square" lIns="42863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monospace" pitchFamily="34" charset="0"/>
                  <a:ea typeface="monospace" pitchFamily="34" charset="-122"/>
                  <a:cs typeface="monospace" pitchFamily="34" charset="-120"/>
                </a:rPr>
                <a:t>nbody original — flame graph</a:t>
              </a:r>
              <a:endParaRPr lang="en-US" sz="620" dirty="0"/>
            </a:p>
          </p:txBody>
        </p:sp>
        <p:pic>
          <p:nvPicPr>
            <p:cNvPr id="9" name="Shape" descr="preencoded.png">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01710" y="-1649090"/>
              <a:ext cx="3479006" cy="53935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30238"/>
            <a:ext cx="822960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80" b="1" spc="101" kern="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O(N²) PAIRS · PER-PAIR COMPUTATION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457200" y="1001688"/>
            <a:ext cx="8229600" cy="364331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2869"/>
              </a:lnSpc>
              <a:buNone/>
            </a:pPr>
            <a:r>
              <a:rPr lang="en-US" sz="1910" b="1" spc="-28" kern="0" dirty="0">
                <a:solidFill>
                  <a:srgbClr val="E6EDF3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nbody — </a:t>
            </a:r>
            <a:pPr algn="l" indent="0" marL="0">
              <a:buNone/>
            </a:pPr>
            <a:r>
              <a:rPr lang="en-US" sz="1910" b="1" spc="-28" kern="0" dirty="0">
                <a:solidFill>
                  <a:srgbClr val="58A6FF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The Inner Loop</a:t>
            </a:r>
            <a:endParaRPr lang="en-US" sz="1910" dirty="0"/>
          </a:p>
        </p:txBody>
      </p:sp>
      <p:sp>
        <p:nvSpPr>
          <p:cNvPr id="4" name="Text 2"/>
          <p:cNvSpPr/>
          <p:nvPr/>
        </p:nvSpPr>
        <p:spPr>
          <a:xfrm>
            <a:off x="456698" y="1466031"/>
            <a:ext cx="4221956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Aft>
                <a:spcPts val="450"/>
              </a:spcAft>
              <a:buNone/>
            </a:pPr>
            <a:r>
              <a:rPr lang="en-US" sz="680" b="1" spc="56" kern="0" dirty="0">
                <a:solidFill>
                  <a:srgbClr val="F85149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THE HOT LOOP — ORIGINAL CODE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456698" y="1650206"/>
            <a:ext cx="4221956" cy="2028825"/>
          </a:xfrm>
          <a:prstGeom prst="roundRect">
            <a:avLst>
              <a:gd name="adj" fmla="val 2817"/>
            </a:avLst>
          </a:prstGeom>
          <a:solidFill>
            <a:srgbClr val="1A0D0D"/>
          </a:solidFill>
          <a:ln w="7144">
            <a:solidFill>
              <a:srgbClr val="5C2A2A"/>
            </a:solidFill>
            <a:prstDash val="solid"/>
          </a:ln>
        </p:spPr>
        <p:txBody>
          <a:bodyPr wrap="square" lIns="71438" tIns="0" rIns="0" bIns="0" rtlCol="0" anchor="ctr">
            <a:sp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30" dirty="0">
                <a:solidFill>
                  <a:srgbClr val="C9D1D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for (((x1,y1,z1),v1,m1), ((x2,y2,z2),v2,m2)) in pairs: dx = x1-x2; dy = y1-y2; dz = z1-z2 d2 = dx*dx + dy*dy + dz*dz mag = dt * (d2 ** -1.5) # ← power op b2m = m2*mag; b1m = m1*mag v1[0] -= dx*b2m # BINARY_SUBSCR v1[1] -= dy*b2m # BINARY_SUBSCR v1[2] -= dz*b2m # BINARY_SUBSCR v2[0] += dx*b1m # BINARY_SUBSCR v2[1] += dy*b1m # BINARY_SUBSCR v2[2] += dz*b1m # BINARY_SUBSCR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458428" y="3768551"/>
            <a:ext cx="721519" cy="214313"/>
          </a:xfrm>
          <a:prstGeom prst="roundRect">
            <a:avLst>
              <a:gd name="adj" fmla="val 50000"/>
            </a:avLst>
          </a:prstGeom>
          <a:solidFill>
            <a:srgbClr val="0D1A2E"/>
          </a:solidFill>
          <a:ln w="7144">
            <a:solidFill>
              <a:srgbClr val="58A6FF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097"/>
              </a:lnSpc>
              <a:spcBef>
                <a:spcPts val="169"/>
              </a:spcBef>
              <a:spcAft>
                <a:spcPts val="169"/>
              </a:spcAft>
              <a:buNone/>
            </a:pPr>
            <a:r>
              <a:rPr lang="en-US" sz="730" dirty="0">
                <a:solidFill>
                  <a:srgbClr val="79C0FF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3× subtract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275048" y="3768551"/>
            <a:ext cx="885825" cy="214313"/>
          </a:xfrm>
          <a:prstGeom prst="roundRect">
            <a:avLst>
              <a:gd name="adj" fmla="val 50000"/>
            </a:avLst>
          </a:prstGeom>
          <a:solidFill>
            <a:srgbClr val="0D1A2E"/>
          </a:solidFill>
          <a:ln w="7144">
            <a:solidFill>
              <a:srgbClr val="58A6FF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097"/>
              </a:lnSpc>
              <a:spcBef>
                <a:spcPts val="169"/>
              </a:spcBef>
              <a:spcAft>
                <a:spcPts val="169"/>
              </a:spcAft>
              <a:buNone/>
            </a:pPr>
            <a:r>
              <a:rPr lang="en-US" sz="730" dirty="0">
                <a:solidFill>
                  <a:srgbClr val="79C0FF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3× multiply (d²)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2253183" y="3768551"/>
            <a:ext cx="764381" cy="214313"/>
          </a:xfrm>
          <a:prstGeom prst="roundRect">
            <a:avLst>
              <a:gd name="adj" fmla="val 50000"/>
            </a:avLst>
          </a:prstGeom>
          <a:solidFill>
            <a:srgbClr val="0D1A2E"/>
          </a:solidFill>
          <a:ln w="7144">
            <a:solidFill>
              <a:srgbClr val="58A6FF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097"/>
              </a:lnSpc>
              <a:spcBef>
                <a:spcPts val="169"/>
              </a:spcBef>
              <a:spcAft>
                <a:spcPts val="169"/>
              </a:spcAft>
              <a:buNone/>
            </a:pPr>
            <a:r>
              <a:rPr lang="en-US" sz="730" dirty="0">
                <a:solidFill>
                  <a:srgbClr val="79C0FF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1× pow(-1.5)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3107531" y="3768551"/>
            <a:ext cx="707231" cy="214313"/>
          </a:xfrm>
          <a:prstGeom prst="roundRect">
            <a:avLst>
              <a:gd name="adj" fmla="val 50000"/>
            </a:avLst>
          </a:prstGeom>
          <a:solidFill>
            <a:srgbClr val="0D1A2E"/>
          </a:solidFill>
          <a:ln w="7144">
            <a:solidFill>
              <a:srgbClr val="58A6FF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097"/>
              </a:lnSpc>
              <a:spcBef>
                <a:spcPts val="169"/>
              </a:spcBef>
              <a:spcAft>
                <a:spcPts val="169"/>
              </a:spcAft>
              <a:buNone/>
            </a:pPr>
            <a:r>
              <a:rPr lang="en-US" sz="730" dirty="0">
                <a:solidFill>
                  <a:srgbClr val="79C0FF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4× multiply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456809" y="4079304"/>
            <a:ext cx="3014663" cy="214313"/>
          </a:xfrm>
          <a:prstGeom prst="roundRect">
            <a:avLst>
              <a:gd name="adj" fmla="val 50000"/>
            </a:avLst>
          </a:prstGeom>
          <a:solidFill>
            <a:srgbClr val="1A0D0D"/>
          </a:solidFill>
          <a:ln w="7144">
            <a:solidFill>
              <a:srgbClr val="F85149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097"/>
              </a:lnSpc>
              <a:spcBef>
                <a:spcPts val="169"/>
              </a:spcBef>
              <a:spcAft>
                <a:spcPts val="169"/>
              </a:spcAft>
              <a:buNone/>
            </a:pPr>
            <a:r>
              <a:rPr lang="en-US" sz="730" dirty="0">
                <a:solidFill>
                  <a:srgbClr val="F85149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6× subscript read + write (BINARY_SUBSCR + STORE_SUBSCR)</a:t>
            </a:r>
            <a:endParaRPr lang="en-US" sz="730" dirty="0"/>
          </a:p>
        </p:txBody>
      </p:sp>
      <p:sp>
        <p:nvSpPr>
          <p:cNvPr id="11" name="Text 9"/>
          <p:cNvSpPr/>
          <p:nvPr/>
        </p:nvSpPr>
        <p:spPr>
          <a:xfrm>
            <a:off x="4850104" y="1466031"/>
            <a:ext cx="3836194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Aft>
                <a:spcPts val="113"/>
              </a:spcAft>
              <a:buNone/>
            </a:pPr>
            <a:r>
              <a:rPr lang="en-US" sz="680" b="1" spc="56" kern="0" dirty="0">
                <a:solidFill>
                  <a:srgbClr val="FFA657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WHAT PYTHON DOES PER SUBSCRIPT</a:t>
            </a:r>
            <a:endParaRPr lang="en-US" sz="680" dirty="0"/>
          </a:p>
        </p:txBody>
      </p:sp>
      <p:grpSp>
        <p:nvGrpSpPr>
          <p:cNvPr id="23" name="Group g30"/>
          <p:cNvGrpSpPr/>
          <p:nvPr/>
        </p:nvGrpSpPr>
        <p:grpSpPr>
          <a:xfrm>
            <a:off x="4850104" y="1678558"/>
            <a:ext cx="3836194" cy="1314450"/>
            <a:chOff x="4850104" y="1678558"/>
            <a:chExt cx="3836194" cy="1314450"/>
          </a:xfrm>
        </p:grpSpPr>
        <p:sp>
          <p:nvSpPr>
            <p:cNvPr id="12" name="Shape"/>
            <p:cNvSpPr/>
            <p:nvPr/>
          </p:nvSpPr>
          <p:spPr>
            <a:xfrm>
              <a:off x="4850104" y="1678558"/>
              <a:ext cx="3836194" cy="1314450"/>
            </a:xfrm>
            <a:prstGeom prst="roundRect">
              <a:avLst>
                <a:gd name="adj" fmla="val 5435"/>
              </a:avLst>
            </a:prstGeom>
            <a:solidFill>
              <a:srgbClr val="1A0D0D"/>
            </a:solidFill>
            <a:ln w="7144">
              <a:solidFill>
                <a:srgbClr val="5C3A1A"/>
              </a:solidFill>
              <a:prstDash val="solid"/>
            </a:ln>
          </p:spPr>
        </p:sp>
        <p:sp>
          <p:nvSpPr>
            <p:cNvPr id="13" name="Shape"/>
            <p:cNvSpPr/>
            <p:nvPr/>
          </p:nvSpPr>
          <p:spPr>
            <a:xfrm>
              <a:off x="4971548" y="1785714"/>
              <a:ext cx="3593306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spcAft>
                  <a:spcPts val="338"/>
                </a:spcAft>
                <a:buNone/>
              </a:pPr>
              <a:r>
                <a:rPr lang="en-US" sz="730" dirty="0">
                  <a:solidFill>
                    <a:srgbClr val="F85149"/>
                  </a:solidFill>
                  <a:latin typeface="monospace" pitchFamily="34" charset="0"/>
                  <a:ea typeface="monospace" pitchFamily="34" charset="-122"/>
                  <a:cs typeface="monospace" pitchFamily="34" charset="-120"/>
                </a:rPr>
                <a:t>v1[0] -= dx*b2m</a:t>
              </a:r>
              <a:endParaRPr lang="en-US" sz="730" dirty="0"/>
            </a:p>
          </p:txBody>
        </p:sp>
        <p:sp>
          <p:nvSpPr>
            <p:cNvPr id="14" name="Shape"/>
            <p:cNvSpPr/>
            <p:nvPr/>
          </p:nvSpPr>
          <p:spPr>
            <a:xfrm>
              <a:off x="4971548" y="1969666"/>
              <a:ext cx="3593306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en-US" sz="680" dirty="0">
                  <a:solidFill>
                    <a:srgbClr val="FFA65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①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LOAD_FAST v1 → pointer to list object</a:t>
              </a:r>
              <a:endParaRPr lang="en-US" sz="680" dirty="0"/>
            </a:p>
          </p:txBody>
        </p:sp>
        <p:sp>
          <p:nvSpPr>
            <p:cNvPr id="15" name="Shape"/>
            <p:cNvSpPr/>
            <p:nvPr/>
          </p:nvSpPr>
          <p:spPr>
            <a:xfrm>
              <a:off x="4971548" y="2126828"/>
              <a:ext cx="3593306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en-US" sz="680" dirty="0">
                  <a:solidFill>
                    <a:srgbClr val="FFA65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②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LOAD_CONST 0 → integer object</a:t>
              </a:r>
              <a:endParaRPr lang="en-US" sz="680" dirty="0"/>
            </a:p>
          </p:txBody>
        </p:sp>
        <p:sp>
          <p:nvSpPr>
            <p:cNvPr id="16" name="Shape"/>
            <p:cNvSpPr/>
            <p:nvPr/>
          </p:nvSpPr>
          <p:spPr>
            <a:xfrm>
              <a:off x="4971548" y="2283991"/>
              <a:ext cx="3593306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en-US" sz="680" dirty="0">
                  <a:solidFill>
                    <a:srgbClr val="FFA65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③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BINARY_SUBSCR → dict lookup + bounds check</a:t>
              </a:r>
              <a:endParaRPr lang="en-US" sz="680" dirty="0"/>
            </a:p>
          </p:txBody>
        </p:sp>
        <p:sp>
          <p:nvSpPr>
            <p:cNvPr id="17" name="Shape"/>
            <p:cNvSpPr/>
            <p:nvPr/>
          </p:nvSpPr>
          <p:spPr>
            <a:xfrm>
              <a:off x="4971548" y="2441153"/>
              <a:ext cx="3593306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en-US" sz="680" dirty="0">
                  <a:solidFill>
                    <a:srgbClr val="FFA65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④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compute dx*b2m</a:t>
              </a:r>
              <a:endParaRPr lang="en-US" sz="680" dirty="0"/>
            </a:p>
          </p:txBody>
        </p:sp>
        <p:sp>
          <p:nvSpPr>
            <p:cNvPr id="18" name="Shape"/>
            <p:cNvSpPr/>
            <p:nvPr/>
          </p:nvSpPr>
          <p:spPr>
            <a:xfrm>
              <a:off x="4971548" y="2598316"/>
              <a:ext cx="3593306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en-US" sz="680" dirty="0">
                  <a:solidFill>
                    <a:srgbClr val="FFA65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⑤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BINARY_OP subtract</a:t>
              </a:r>
              <a:endParaRPr lang="en-US" sz="680" dirty="0"/>
            </a:p>
          </p:txBody>
        </p:sp>
        <p:sp>
          <p:nvSpPr>
            <p:cNvPr id="19" name="Shape"/>
            <p:cNvSpPr/>
            <p:nvPr/>
          </p:nvSpPr>
          <p:spPr>
            <a:xfrm>
              <a:off x="4971548" y="2755478"/>
              <a:ext cx="3593306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en-US" sz="680" dirty="0">
                  <a:solidFill>
                    <a:srgbClr val="FFA65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⑥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STORE_SUBSCR → type check + refcount update</a:t>
              </a:r>
              <a:endParaRPr lang="en-US" sz="680" dirty="0"/>
            </a:p>
          </p:txBody>
        </p:sp>
      </p:grpSp>
      <p:grpSp>
        <p:nvGrpSpPr>
          <p:cNvPr id="24" name="Group g31"/>
          <p:cNvGrpSpPr/>
          <p:nvPr/>
        </p:nvGrpSpPr>
        <p:grpSpPr>
          <a:xfrm>
            <a:off x="4850104" y="3060874"/>
            <a:ext cx="3836194" cy="650081"/>
            <a:chOff x="4850104" y="3060874"/>
            <a:chExt cx="3836194" cy="650081"/>
          </a:xfrm>
        </p:grpSpPr>
        <p:sp>
          <p:nvSpPr>
            <p:cNvPr id="20" name="Shape"/>
            <p:cNvSpPr/>
            <p:nvPr/>
          </p:nvSpPr>
          <p:spPr>
            <a:xfrm>
              <a:off x="4850104" y="3060874"/>
              <a:ext cx="3836194" cy="650081"/>
            </a:xfrm>
            <a:prstGeom prst="roundRect">
              <a:avLst>
                <a:gd name="adj" fmla="val 10989"/>
              </a:avLst>
            </a:prstGeom>
            <a:solidFill>
              <a:srgbClr val="0D1A2E"/>
            </a:solidFill>
            <a:ln w="7144">
              <a:solidFill>
                <a:srgbClr val="1A3A5C"/>
              </a:solidFill>
              <a:prstDash val="solid"/>
            </a:ln>
          </p:spPr>
        </p:sp>
        <p:sp>
          <p:nvSpPr>
            <p:cNvPr id="21" name="Shape"/>
            <p:cNvSpPr/>
            <p:nvPr/>
          </p:nvSpPr>
          <p:spPr>
            <a:xfrm>
              <a:off x="4971548" y="3168030"/>
              <a:ext cx="3593306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spcAft>
                  <a:spcPts val="281"/>
                </a:spcAft>
                <a:buNone/>
              </a:pPr>
              <a:r>
                <a:rPr lang="en-US" sz="730" b="1" dirty="0">
                  <a:solidFill>
                    <a:srgbClr val="58A6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Per pair: ~60+ bytecodes</a:t>
              </a:r>
              <a:endParaRPr lang="en-US" sz="730" dirty="0"/>
            </a:p>
          </p:txBody>
        </p:sp>
        <p:sp>
          <p:nvSpPr>
            <p:cNvPr id="22" name="Shape"/>
            <p:cNvSpPr/>
            <p:nvPr/>
          </p:nvSpPr>
          <p:spPr>
            <a:xfrm>
              <a:off x="4971548" y="3344838"/>
              <a:ext cx="3593306" cy="257175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6 subscript writes × ~6 bytecodes each, plus unpacking, arithmetic dispatch, float boxing/unboxing. </a:t>
              </a:r>
              <a:pPr algn="l" indent="0" marL="0">
                <a:buNone/>
              </a:pPr>
              <a:r>
                <a:rPr lang="en-US" sz="680" b="1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The math is cheap. The interpreter tax is not.</a:t>
              </a:r>
              <a:endParaRPr lang="en-US" sz="68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0631" y="0"/>
            <a:ext cx="3471863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 </a:blip>
          <a:stretch>
            <a:fillRect/>
          </a:stretch>
        </p:blipFill>
        <p:spPr>
          <a:xfrm>
            <a:off x="-1451" y="0"/>
            <a:ext cx="5672137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5749" y="674750"/>
            <a:ext cx="4757738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Aft>
                <a:spcPts val="450"/>
              </a:spcAft>
              <a:buNone/>
            </a:pPr>
            <a:r>
              <a:rPr lang="en-US" sz="680" b="1" spc="101" kern="0" dirty="0">
                <a:solidFill>
                  <a:srgbClr val="FFA657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HYPOTHESIS — INCORRECT</a:t>
            </a:r>
            <a:endParaRPr lang="en-US" sz="680" dirty="0"/>
          </a:p>
        </p:txBody>
      </p:sp>
      <p:sp>
        <p:nvSpPr>
          <p:cNvPr id="5" name="Text 1"/>
          <p:cNvSpPr/>
          <p:nvPr/>
        </p:nvSpPr>
        <p:spPr>
          <a:xfrm>
            <a:off x="455749" y="860487"/>
            <a:ext cx="4757738" cy="600075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250" b="1" spc="-28" kern="0" dirty="0">
                <a:solidFill>
                  <a:srgbClr val="E6EDF3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The sqrt Idea</a:t>
            </a:r>
            <a:pPr algn="l" indent="0" marL="0">
              <a:buNone/>
            </a:pPr>
            <a:endParaRPr lang="en-US" sz="2250" dirty="0"/>
          </a:p>
          <a:p>
            <a:pPr algn="l" indent="0" marL="0">
              <a:lnSpc>
                <a:spcPts val="2363"/>
              </a:lnSpc>
              <a:buNone/>
            </a:pPr>
            <a:r>
              <a:rPr lang="en-US" sz="2250" b="1" spc="-28" kern="0" dirty="0">
                <a:solidFill>
                  <a:srgbClr val="FFA657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That Failed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457200" y="1503425"/>
            <a:ext cx="314325" cy="21431"/>
          </a:xfrm>
          <a:prstGeom prst="roundRect">
            <a:avLst>
              <a:gd name="adj" fmla="val 50001"/>
            </a:avLst>
          </a:prstGeom>
          <a:solidFill>
            <a:srgbClr val="FFA657"/>
          </a:solidFill>
          <a:ln/>
        </p:spPr>
      </p:sp>
      <p:sp>
        <p:nvSpPr>
          <p:cNvPr id="7" name="Shape 3"/>
          <p:cNvSpPr/>
          <p:nvPr/>
        </p:nvSpPr>
        <p:spPr>
          <a:xfrm>
            <a:off x="455749" y="1666280"/>
            <a:ext cx="4757738" cy="600075"/>
          </a:xfrm>
          <a:prstGeom prst="roundRect">
            <a:avLst>
              <a:gd name="adj" fmla="val 11905"/>
            </a:avLst>
          </a:prstGeom>
          <a:solidFill>
            <a:srgbClr val="1A1200"/>
          </a:solidFill>
          <a:ln w="7144">
            <a:solidFill>
              <a:srgbClr val="FFA6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05768" y="1787723"/>
            <a:ext cx="4457700" cy="35718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C9D1D9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"</a:t>
            </a:r>
            <a:pPr algn="l"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The inner loop uses (dx²+dy²+dz²) ** (-1.5) — a general power op. Replace it with a hardware sqrt: dt / (d2 * sqrt(d2)). Should be much faster.</a:t>
            </a:r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"</a:t>
            </a:r>
            <a:endParaRPr lang="en-US" sz="900" dirty="0"/>
          </a:p>
        </p:txBody>
      </p:sp>
      <p:grpSp>
        <p:nvGrpSpPr>
          <p:cNvPr id="22" name="Group g32"/>
          <p:cNvGrpSpPr/>
          <p:nvPr/>
        </p:nvGrpSpPr>
        <p:grpSpPr>
          <a:xfrm>
            <a:off x="455414" y="2436354"/>
            <a:ext cx="2100263" cy="1164431"/>
            <a:chOff x="455414" y="2436354"/>
            <a:chExt cx="2100263" cy="1164431"/>
          </a:xfrm>
        </p:grpSpPr>
        <p:sp>
          <p:nvSpPr>
            <p:cNvPr id="9" name="Shape"/>
            <p:cNvSpPr/>
            <p:nvPr/>
          </p:nvSpPr>
          <p:spPr>
            <a:xfrm>
              <a:off x="455414" y="2436354"/>
              <a:ext cx="2100263" cy="1164431"/>
            </a:xfrm>
            <a:prstGeom prst="roundRect">
              <a:avLst>
                <a:gd name="adj" fmla="val 7362"/>
              </a:avLst>
            </a:prstGeom>
            <a:solidFill>
              <a:srgbClr val="1A0D0D"/>
            </a:solidFill>
            <a:ln w="7144">
              <a:solidFill>
                <a:srgbClr val="5C2A2A"/>
              </a:solidFill>
              <a:prstDash val="solid"/>
            </a:ln>
          </p:spPr>
        </p:sp>
        <p:sp>
          <p:nvSpPr>
            <p:cNvPr id="10" name="Shape"/>
            <p:cNvSpPr/>
            <p:nvPr/>
          </p:nvSpPr>
          <p:spPr>
            <a:xfrm>
              <a:off x="605433" y="2584586"/>
              <a:ext cx="1800225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1097"/>
                </a:lnSpc>
                <a:spcAft>
                  <a:spcPts val="338"/>
                </a:spcAft>
                <a:buNone/>
              </a:pPr>
              <a:r>
                <a:rPr lang="en-US" sz="730" spc="56" kern="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MEASURED SPEEDUP</a:t>
              </a:r>
              <a:endParaRPr lang="en-US" sz="730" dirty="0"/>
            </a:p>
          </p:txBody>
        </p:sp>
        <p:sp>
          <p:nvSpPr>
            <p:cNvPr id="11" name="Shape"/>
            <p:cNvSpPr/>
            <p:nvPr/>
          </p:nvSpPr>
          <p:spPr>
            <a:xfrm>
              <a:off x="605433" y="2768538"/>
              <a:ext cx="1800225" cy="514350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4050"/>
                </a:lnSpc>
                <a:buNone/>
              </a:pPr>
              <a:r>
                <a:rPr lang="en-US" sz="4050" b="1" spc="-112" kern="0" dirty="0">
                  <a:solidFill>
                    <a:srgbClr val="F85149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~1%</a:t>
              </a:r>
              <a:endParaRPr lang="en-US" sz="4050" dirty="0"/>
            </a:p>
          </p:txBody>
        </p:sp>
        <p:sp>
          <p:nvSpPr>
            <p:cNvPr id="12" name="Shape"/>
            <p:cNvSpPr/>
            <p:nvPr/>
          </p:nvSpPr>
          <p:spPr>
            <a:xfrm>
              <a:off x="605433" y="3309677"/>
              <a:ext cx="1800225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1097"/>
                </a:lnSpc>
                <a:spcBef>
                  <a:spcPts val="225"/>
                </a:spcBef>
                <a:buNone/>
              </a:pPr>
              <a:r>
                <a:rPr lang="en-US" sz="73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well below the 7% bar</a:t>
              </a:r>
              <a:endParaRPr lang="en-US" sz="730" dirty="0"/>
            </a:p>
          </p:txBody>
        </p:sp>
      </p:grpSp>
      <p:grpSp>
        <p:nvGrpSpPr>
          <p:cNvPr id="23" name="Group g33"/>
          <p:cNvGrpSpPr/>
          <p:nvPr/>
        </p:nvGrpSpPr>
        <p:grpSpPr>
          <a:xfrm>
            <a:off x="2697100" y="2391705"/>
            <a:ext cx="2514600" cy="592931"/>
            <a:chOff x="2697100" y="2391705"/>
            <a:chExt cx="2514600" cy="592931"/>
          </a:xfrm>
        </p:grpSpPr>
        <p:sp>
          <p:nvSpPr>
            <p:cNvPr id="13" name="Shape"/>
            <p:cNvSpPr/>
            <p:nvPr/>
          </p:nvSpPr>
          <p:spPr>
            <a:xfrm>
              <a:off x="2697100" y="2391705"/>
              <a:ext cx="2514600" cy="592931"/>
            </a:xfrm>
            <a:prstGeom prst="roundRect">
              <a:avLst>
                <a:gd name="adj" fmla="val 12048"/>
              </a:avLst>
            </a:prstGeom>
            <a:solidFill>
              <a:srgbClr val="161B22"/>
            </a:solidFill>
            <a:ln w="7144">
              <a:solidFill>
                <a:srgbClr val="30363D"/>
              </a:solidFill>
              <a:prstDash val="solid"/>
            </a:ln>
          </p:spPr>
        </p:sp>
        <p:sp>
          <p:nvSpPr>
            <p:cNvPr id="14" name="Shape"/>
            <p:cNvSpPr/>
            <p:nvPr/>
          </p:nvSpPr>
          <p:spPr>
            <a:xfrm>
              <a:off x="2804257" y="2477430"/>
              <a:ext cx="2300288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spcAft>
                  <a:spcPts val="169"/>
                </a:spcAft>
                <a:buNone/>
              </a:pPr>
              <a:r>
                <a:rPr lang="en-US" sz="730" b="1" dirty="0">
                  <a:solidFill>
                    <a:srgbClr val="F8514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Why it didn't work</a:t>
              </a:r>
              <a:endParaRPr lang="en-US" sz="730" dirty="0"/>
            </a:p>
          </p:txBody>
        </p:sp>
        <p:sp>
          <p:nvSpPr>
            <p:cNvPr id="15" name="Shape"/>
            <p:cNvSpPr/>
            <p:nvPr/>
          </p:nvSpPr>
          <p:spPr>
            <a:xfrm>
              <a:off x="2804257" y="2639950"/>
              <a:ext cx="2300288" cy="257175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850"/>
                </a:lnSpc>
                <a:buNone/>
              </a:pPr>
              <a:r>
                <a:rPr lang="en-US" sz="57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pow 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is only 2.5% of runtime. Optimizing it can never move the needle — Amdahl's Law.</a:t>
              </a:r>
              <a:endParaRPr lang="en-US" sz="570" dirty="0"/>
            </a:p>
          </p:txBody>
        </p:sp>
      </p:grpSp>
      <p:grpSp>
        <p:nvGrpSpPr>
          <p:cNvPr id="24" name="Group g34"/>
          <p:cNvGrpSpPr/>
          <p:nvPr/>
        </p:nvGrpSpPr>
        <p:grpSpPr>
          <a:xfrm>
            <a:off x="2697100" y="3052502"/>
            <a:ext cx="2514600" cy="592931"/>
            <a:chOff x="2697100" y="3052502"/>
            <a:chExt cx="2514600" cy="592931"/>
          </a:xfrm>
        </p:grpSpPr>
        <p:sp>
          <p:nvSpPr>
            <p:cNvPr id="16" name="Shape"/>
            <p:cNvSpPr/>
            <p:nvPr/>
          </p:nvSpPr>
          <p:spPr>
            <a:xfrm>
              <a:off x="2697100" y="3052502"/>
              <a:ext cx="2514600" cy="592931"/>
            </a:xfrm>
            <a:prstGeom prst="roundRect">
              <a:avLst>
                <a:gd name="adj" fmla="val 12048"/>
              </a:avLst>
            </a:prstGeom>
            <a:solidFill>
              <a:srgbClr val="161B22"/>
            </a:solidFill>
            <a:ln w="7144">
              <a:solidFill>
                <a:srgbClr val="30363D"/>
              </a:solidFill>
              <a:prstDash val="solid"/>
            </a:ln>
          </p:spPr>
        </p:sp>
        <p:sp>
          <p:nvSpPr>
            <p:cNvPr id="17" name="Shape"/>
            <p:cNvSpPr/>
            <p:nvPr/>
          </p:nvSpPr>
          <p:spPr>
            <a:xfrm>
              <a:off x="2804257" y="3138227"/>
              <a:ext cx="2300288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spcAft>
                  <a:spcPts val="169"/>
                </a:spcAft>
                <a:buNone/>
              </a:pPr>
              <a:r>
                <a:rPr lang="en-US" sz="730" b="1" dirty="0">
                  <a:solidFill>
                    <a:srgbClr val="F8514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What the profile said</a:t>
              </a:r>
              <a:endParaRPr lang="en-US" sz="730" dirty="0"/>
            </a:p>
          </p:txBody>
        </p:sp>
        <p:sp>
          <p:nvSpPr>
            <p:cNvPr id="18" name="Shape"/>
            <p:cNvSpPr/>
            <p:nvPr/>
          </p:nvSpPr>
          <p:spPr>
            <a:xfrm>
              <a:off x="2804257" y="3300747"/>
              <a:ext cx="2300288" cy="257175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35% interpreter dispatch + list subscripting. That's the real target.</a:t>
              </a:r>
              <a:endParaRPr lang="en-US" sz="680" dirty="0"/>
            </a:p>
          </p:txBody>
        </p:sp>
      </p:grpSp>
      <p:grpSp>
        <p:nvGrpSpPr>
          <p:cNvPr id="25" name="Group g35"/>
          <p:cNvGrpSpPr/>
          <p:nvPr/>
        </p:nvGrpSpPr>
        <p:grpSpPr>
          <a:xfrm>
            <a:off x="455749" y="3784736"/>
            <a:ext cx="4757738" cy="685800"/>
            <a:chOff x="455749" y="3784736"/>
            <a:chExt cx="4757738" cy="685800"/>
          </a:xfrm>
        </p:grpSpPr>
        <p:sp>
          <p:nvSpPr>
            <p:cNvPr id="19" name="Shape"/>
            <p:cNvSpPr/>
            <p:nvPr/>
          </p:nvSpPr>
          <p:spPr>
            <a:xfrm>
              <a:off x="455749" y="3784736"/>
              <a:ext cx="4757738" cy="685800"/>
            </a:xfrm>
            <a:prstGeom prst="roundRect">
              <a:avLst>
                <a:gd name="adj" fmla="val 10417"/>
              </a:avLst>
            </a:prstGeom>
            <a:solidFill>
              <a:srgbClr val="0D2018"/>
            </a:solidFill>
            <a:ln w="7144">
              <a:solidFill>
                <a:srgbClr val="2A5C3A"/>
              </a:solidFill>
              <a:prstDash val="solid"/>
            </a:ln>
          </p:spPr>
        </p:sp>
        <p:sp>
          <p:nvSpPr>
            <p:cNvPr id="20" name="Shape"/>
            <p:cNvSpPr/>
            <p:nvPr/>
          </p:nvSpPr>
          <p:spPr>
            <a:xfrm>
              <a:off x="591480" y="3891893"/>
              <a:ext cx="4486275" cy="16430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266"/>
                </a:lnSpc>
                <a:spcAft>
                  <a:spcPts val="225"/>
                </a:spcAft>
                <a:buNone/>
              </a:pPr>
              <a:r>
                <a:rPr lang="en-US" sz="840" b="1" dirty="0">
                  <a:solidFill>
                    <a:srgbClr val="3FB950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Lesson: measure, don't assume</a:t>
              </a:r>
              <a:endParaRPr lang="en-US" sz="840" dirty="0"/>
            </a:p>
          </p:txBody>
        </p:sp>
        <p:sp>
          <p:nvSpPr>
            <p:cNvPr id="21" name="Shape"/>
            <p:cNvSpPr/>
            <p:nvPr/>
          </p:nvSpPr>
          <p:spPr>
            <a:xfrm>
              <a:off x="591480" y="4082988"/>
              <a:ext cx="4486275" cy="278606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buNone/>
              </a:pPr>
              <a:r>
                <a:rPr lang="en-US" sz="73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The profiler told us the truth. We tried the intuitive fix first, measured it, found it useless, then went back to the data. That's the right process.</a:t>
              </a:r>
              <a:endParaRPr lang="en-US" sz="73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6402" y="0"/>
            <a:ext cx="2928938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 </a:blip>
          <a:stretch>
            <a:fillRect/>
          </a:stretch>
        </p:blipFill>
        <p:spPr>
          <a:xfrm>
            <a:off x="1395" y="0"/>
            <a:ext cx="6215063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8595" y="730448"/>
            <a:ext cx="5300663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80" b="1" spc="101" kern="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SOFTWARE REGISTER ALLOCATION</a:t>
            </a:r>
            <a:endParaRPr lang="en-US" sz="680" dirty="0"/>
          </a:p>
        </p:txBody>
      </p:sp>
      <p:sp>
        <p:nvSpPr>
          <p:cNvPr id="5" name="Text 1"/>
          <p:cNvSpPr/>
          <p:nvPr/>
        </p:nvSpPr>
        <p:spPr>
          <a:xfrm>
            <a:off x="458595" y="901898"/>
            <a:ext cx="5300663" cy="385763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030" b="1" spc="-28" kern="0" dirty="0">
                <a:solidFill>
                  <a:srgbClr val="E6EDF3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nbody — </a:t>
            </a:r>
            <a:pPr algn="l" indent="0" marL="0">
              <a:buNone/>
            </a:pPr>
            <a:r>
              <a:rPr lang="en-US" sz="2030" b="1" spc="-28" kern="0" dirty="0">
                <a:solidFill>
                  <a:srgbClr val="58A6FF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Real Fix: Scalar Locals</a:t>
            </a:r>
            <a:endParaRPr lang="en-US" sz="2030" dirty="0"/>
          </a:p>
        </p:txBody>
      </p:sp>
      <p:sp>
        <p:nvSpPr>
          <p:cNvPr id="6" name="Shape 2"/>
          <p:cNvSpPr/>
          <p:nvPr/>
        </p:nvSpPr>
        <p:spPr>
          <a:xfrm>
            <a:off x="457200" y="1401961"/>
            <a:ext cx="314325" cy="21431"/>
          </a:xfrm>
          <a:prstGeom prst="roundRect">
            <a:avLst>
              <a:gd name="adj" fmla="val 50001"/>
            </a:avLst>
          </a:prstGeom>
          <a:solidFill>
            <a:srgbClr val="58A6FF"/>
          </a:solidFill>
          <a:ln/>
        </p:spPr>
      </p:sp>
      <p:sp>
        <p:nvSpPr>
          <p:cNvPr id="7" name="Text 3"/>
          <p:cNvSpPr/>
          <p:nvPr/>
        </p:nvSpPr>
        <p:spPr>
          <a:xfrm>
            <a:off x="456530" y="1551980"/>
            <a:ext cx="268605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80" b="1" spc="56" kern="0" dirty="0">
                <a:solidFill>
                  <a:srgbClr val="F85149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BEFORE — LIST SUBSCRIPTS EVERY STEP</a:t>
            </a:r>
            <a:endParaRPr lang="en-US" sz="680" dirty="0"/>
          </a:p>
        </p:txBody>
      </p:sp>
      <p:sp>
        <p:nvSpPr>
          <p:cNvPr id="8" name="Text 4"/>
          <p:cNvSpPr/>
          <p:nvPr/>
        </p:nvSpPr>
        <p:spPr>
          <a:xfrm>
            <a:off x="456530" y="1724546"/>
            <a:ext cx="2686050" cy="1200150"/>
          </a:xfrm>
          <a:prstGeom prst="roundRect">
            <a:avLst>
              <a:gd name="adj" fmla="val 4762"/>
            </a:avLst>
          </a:prstGeom>
          <a:solidFill>
            <a:srgbClr val="1A0D0D"/>
          </a:solidFill>
          <a:ln w="7144">
            <a:solidFill>
              <a:srgbClr val="5C2A2A"/>
            </a:solidFill>
            <a:prstDash val="solid"/>
          </a:ln>
        </p:spPr>
        <p:txBody>
          <a:bodyPr wrap="square" lIns="71438" tIns="0" rIns="0" bIns="0" rtlCol="0" anchor="ctr">
            <a:sp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680" dirty="0">
                <a:solidFill>
                  <a:srgbClr val="C9D1D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for (((x1,y1,z1),v1,m1), ((x2,y2,z2),v2,m2)) in pairs: dx = x1-x2; dy = y1-y2; dz = z1-z2 mag = dt * (d2 ** -1.5) v1[0] -= dx*b2m # BINARY_SUBSCR+STORE_SUBSCR v1[1] -= dy*b2m # ×3 per body, ×10 pairs v1[2] -= dz*b2m</a:t>
            </a:r>
            <a:endParaRPr lang="en-US" sz="680" dirty="0"/>
          </a:p>
        </p:txBody>
      </p:sp>
      <p:sp>
        <p:nvSpPr>
          <p:cNvPr id="9" name="Text 5"/>
          <p:cNvSpPr/>
          <p:nvPr/>
        </p:nvSpPr>
        <p:spPr>
          <a:xfrm>
            <a:off x="456530" y="2968675"/>
            <a:ext cx="2686050" cy="335756"/>
          </a:xfrm>
          <a:prstGeom prst="roundRect">
            <a:avLst>
              <a:gd name="adj" fmla="val 12766"/>
            </a:avLst>
          </a:prstGeom>
          <a:solidFill>
            <a:srgbClr val="1A0D0D"/>
          </a:solidFill>
          <a:ln w="7144">
            <a:solidFill>
              <a:srgbClr val="5C2A2A"/>
            </a:solidFill>
            <a:prstDash val="solid"/>
          </a:ln>
        </p:spPr>
        <p:txBody>
          <a:bodyPr wrap="square" lIns="35719" tIns="0" rIns="0" bIns="0" rtlCol="0" anchor="ctr">
            <a:spAutoFit/>
          </a:bodyPr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520" dirty="0">
                <a:solidFill>
                  <a:srgbClr val="79C0FF"/>
                </a:solidFill>
                <a:highlight>
                  <a:srgbClr val="161B22"/>
                </a:highlight>
                <a:latin typeface="SF Mono" pitchFamily="34" charset="0"/>
                <a:ea typeface="SF Mono" pitchFamily="34" charset="-122"/>
                <a:cs typeface="SF Mono" pitchFamily="34" charset="-120"/>
              </a:rPr>
              <a:t>v1[0] </a:t>
            </a:r>
            <a:pPr algn="l" indent="0" marL="0">
              <a:buNone/>
            </a:pPr>
            <a:r>
              <a:rPr lang="en-US" sz="62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: find list → bounds-check index → load float → compute → store back</a:t>
            </a:r>
            <a:endParaRPr lang="en-US" sz="520" dirty="0"/>
          </a:p>
        </p:txBody>
      </p:sp>
      <p:sp>
        <p:nvSpPr>
          <p:cNvPr id="10" name="Text 6"/>
          <p:cNvSpPr/>
          <p:nvPr/>
        </p:nvSpPr>
        <p:spPr>
          <a:xfrm>
            <a:off x="3271335" y="1551980"/>
            <a:ext cx="2736056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80" b="1" spc="56" kern="0" dirty="0">
                <a:solidFill>
                  <a:srgbClr val="3FB950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AFTER — SCALAR LOCALS, READ/WRITE ONCE</a:t>
            </a:r>
            <a:endParaRPr lang="en-US" sz="680" dirty="0"/>
          </a:p>
        </p:txBody>
      </p:sp>
      <p:sp>
        <p:nvSpPr>
          <p:cNvPr id="11" name="Text 7"/>
          <p:cNvSpPr/>
          <p:nvPr/>
        </p:nvSpPr>
        <p:spPr>
          <a:xfrm>
            <a:off x="3271335" y="1721644"/>
            <a:ext cx="2736056" cy="1343025"/>
          </a:xfrm>
          <a:prstGeom prst="roundRect">
            <a:avLst>
              <a:gd name="adj" fmla="val 4255"/>
            </a:avLst>
          </a:prstGeom>
          <a:solidFill>
            <a:srgbClr val="0D2018"/>
          </a:solidFill>
          <a:ln w="7144">
            <a:solidFill>
              <a:srgbClr val="2A5C3A"/>
            </a:solidFill>
            <a:prstDash val="solid"/>
          </a:ln>
        </p:spPr>
        <p:txBody>
          <a:bodyPr wrap="square" lIns="71438" tIns="0" rIns="0" bIns="0" rtlCol="0" anchor="ctr">
            <a:sp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680" dirty="0">
                <a:solidFill>
                  <a:srgbClr val="C9D1D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x0,y0,z0 = S[0][0] # read ONCE before loop vx0,vy0,vz0 = S[0][1] for _ in range(n): dx = x0-x1; dy = y0-y1; dz = z0-z1 mag = dt * (d2 ** -1.5) vx0 -= dx*b1 # LOAD_FAST — direct C slot vy0 -= dy*b1 # no list lookup at all S[0][1][:] = [vx0,vy0,vz0] # write ONCE after</a:t>
            </a:r>
            <a:endParaRPr lang="en-US" sz="680" dirty="0"/>
          </a:p>
        </p:txBody>
      </p:sp>
      <p:sp>
        <p:nvSpPr>
          <p:cNvPr id="12" name="Text 8"/>
          <p:cNvSpPr/>
          <p:nvPr/>
        </p:nvSpPr>
        <p:spPr>
          <a:xfrm>
            <a:off x="3271335" y="3103959"/>
            <a:ext cx="2736056" cy="221456"/>
          </a:xfrm>
          <a:prstGeom prst="roundRect">
            <a:avLst>
              <a:gd name="adj" fmla="val 19355"/>
            </a:avLst>
          </a:prstGeom>
          <a:solidFill>
            <a:srgbClr val="0D2018"/>
          </a:solidFill>
          <a:ln w="7144">
            <a:solidFill>
              <a:srgbClr val="2A5C3A"/>
            </a:solidFill>
            <a:prstDash val="solid"/>
          </a:ln>
        </p:spPr>
        <p:txBody>
          <a:bodyPr wrap="square" lIns="35719" tIns="0" rIns="0" bIns="0" rtlCol="0" anchor="ctr">
            <a:sp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20" b="1" dirty="0">
                <a:solidFill>
                  <a:srgbClr val="79C0FF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Local slot vs list indexing, ×millions → ~37% faster</a:t>
            </a:r>
            <a:endParaRPr lang="en-US" sz="620" dirty="0"/>
          </a:p>
        </p:txBody>
      </p:sp>
      <p:grpSp>
        <p:nvGrpSpPr>
          <p:cNvPr id="22" name="Group g36"/>
          <p:cNvGrpSpPr/>
          <p:nvPr/>
        </p:nvGrpSpPr>
        <p:grpSpPr>
          <a:xfrm>
            <a:off x="458819" y="3421856"/>
            <a:ext cx="1707356" cy="992981"/>
            <a:chOff x="458819" y="3421856"/>
            <a:chExt cx="1707356" cy="992981"/>
          </a:xfrm>
        </p:grpSpPr>
        <p:sp>
          <p:nvSpPr>
            <p:cNvPr id="13" name="Shape"/>
            <p:cNvSpPr/>
            <p:nvPr/>
          </p:nvSpPr>
          <p:spPr>
            <a:xfrm>
              <a:off x="458819" y="3421856"/>
              <a:ext cx="1707356" cy="992981"/>
            </a:xfrm>
            <a:prstGeom prst="roundRect">
              <a:avLst>
                <a:gd name="adj" fmla="val 7194"/>
              </a:avLst>
            </a:prstGeom>
            <a:solidFill>
              <a:srgbClr val="0D2018"/>
            </a:solidFill>
            <a:ln w="7144">
              <a:solidFill>
                <a:srgbClr val="2A5C3A"/>
              </a:solidFill>
              <a:prstDash val="solid"/>
            </a:ln>
          </p:spPr>
        </p:sp>
        <p:sp>
          <p:nvSpPr>
            <p:cNvPr id="14" name="Shape"/>
            <p:cNvSpPr/>
            <p:nvPr/>
          </p:nvSpPr>
          <p:spPr>
            <a:xfrm>
              <a:off x="565975" y="3514725"/>
              <a:ext cx="1493044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spcAft>
                  <a:spcPts val="169"/>
                </a:spcAft>
                <a:buNone/>
              </a:pPr>
              <a:r>
                <a:rPr lang="en-US" sz="730" b="1" dirty="0">
                  <a:solidFill>
                    <a:srgbClr val="3FB950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Why it works</a:t>
              </a:r>
              <a:endParaRPr lang="en-US" sz="730" dirty="0"/>
            </a:p>
          </p:txBody>
        </p:sp>
        <p:sp>
          <p:nvSpPr>
            <p:cNvPr id="15" name="Shape"/>
            <p:cNvSpPr/>
            <p:nvPr/>
          </p:nvSpPr>
          <p:spPr>
            <a:xfrm>
              <a:off x="565975" y="3677245"/>
              <a:ext cx="1493044" cy="642938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850"/>
                </a:lnSpc>
                <a:buNone/>
              </a:pPr>
              <a:r>
                <a:rPr lang="en-US" sz="57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LOAD_FAST 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= direct C array slot. </a:t>
              </a:r>
              <a:pPr algn="l" indent="0" marL="0">
                <a:buNone/>
              </a:pPr>
              <a:r>
                <a:rPr lang="en-US" sz="57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BINARY_SUBSCR 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= dict lookup + type check + refcount. ~3× cheaper per access, across millions of iterations.</a:t>
              </a:r>
              <a:endParaRPr lang="en-US" sz="570" dirty="0"/>
            </a:p>
          </p:txBody>
        </p:sp>
      </p:grpSp>
      <p:grpSp>
        <p:nvGrpSpPr>
          <p:cNvPr id="23" name="Group g37"/>
          <p:cNvGrpSpPr/>
          <p:nvPr/>
        </p:nvGrpSpPr>
        <p:grpSpPr>
          <a:xfrm>
            <a:off x="2255193" y="3421856"/>
            <a:ext cx="1707356" cy="992981"/>
            <a:chOff x="2255193" y="3421856"/>
            <a:chExt cx="1707356" cy="992981"/>
          </a:xfrm>
        </p:grpSpPr>
        <p:sp>
          <p:nvSpPr>
            <p:cNvPr id="16" name="Shape"/>
            <p:cNvSpPr/>
            <p:nvPr/>
          </p:nvSpPr>
          <p:spPr>
            <a:xfrm>
              <a:off x="2255193" y="3421856"/>
              <a:ext cx="1707356" cy="992981"/>
            </a:xfrm>
            <a:prstGeom prst="roundRect">
              <a:avLst>
                <a:gd name="adj" fmla="val 7194"/>
              </a:avLst>
            </a:prstGeom>
            <a:solidFill>
              <a:srgbClr val="0D2018"/>
            </a:solidFill>
            <a:ln w="7144">
              <a:solidFill>
                <a:srgbClr val="2A5C3A"/>
              </a:solidFill>
              <a:prstDash val="solid"/>
            </a:ln>
          </p:spPr>
        </p:sp>
        <p:sp>
          <p:nvSpPr>
            <p:cNvPr id="17" name="Shape"/>
            <p:cNvSpPr/>
            <p:nvPr/>
          </p:nvSpPr>
          <p:spPr>
            <a:xfrm>
              <a:off x="2362349" y="3514725"/>
              <a:ext cx="1493044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spcAft>
                  <a:spcPts val="169"/>
                </a:spcAft>
                <a:buNone/>
              </a:pPr>
              <a:r>
                <a:rPr lang="en-US" sz="730" b="1" dirty="0">
                  <a:solidFill>
                    <a:srgbClr val="3FB950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The analogy</a:t>
              </a:r>
              <a:endParaRPr lang="en-US" sz="730" dirty="0"/>
            </a:p>
          </p:txBody>
        </p:sp>
        <p:sp>
          <p:nvSpPr>
            <p:cNvPr id="18" name="Shape"/>
            <p:cNvSpPr/>
            <p:nvPr/>
          </p:nvSpPr>
          <p:spPr>
            <a:xfrm>
              <a:off x="2362349" y="3677245"/>
              <a:ext cx="1493044" cy="514350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Software "register allocation" — keep the hot working set in fast local slots instead of chasing pointers into heap list objects.</a:t>
              </a:r>
              <a:endParaRPr lang="en-US" sz="680" dirty="0"/>
            </a:p>
          </p:txBody>
        </p:sp>
      </p:grpSp>
      <p:grpSp>
        <p:nvGrpSpPr>
          <p:cNvPr id="24" name="Group g38"/>
          <p:cNvGrpSpPr/>
          <p:nvPr/>
        </p:nvGrpSpPr>
        <p:grpSpPr>
          <a:xfrm>
            <a:off x="4051622" y="3421856"/>
            <a:ext cx="1707356" cy="992981"/>
            <a:chOff x="4051622" y="3421856"/>
            <a:chExt cx="1707356" cy="992981"/>
          </a:xfrm>
        </p:grpSpPr>
        <p:sp>
          <p:nvSpPr>
            <p:cNvPr id="19" name="Shape"/>
            <p:cNvSpPr/>
            <p:nvPr/>
          </p:nvSpPr>
          <p:spPr>
            <a:xfrm>
              <a:off x="4051622" y="3421856"/>
              <a:ext cx="1707356" cy="992981"/>
            </a:xfrm>
            <a:prstGeom prst="roundRect">
              <a:avLst>
                <a:gd name="adj" fmla="val 7194"/>
              </a:avLst>
            </a:prstGeom>
            <a:solidFill>
              <a:srgbClr val="0D2018"/>
            </a:solidFill>
            <a:ln w="7144">
              <a:solidFill>
                <a:srgbClr val="2A5C3A"/>
              </a:solidFill>
              <a:prstDash val="solid"/>
            </a:ln>
          </p:spPr>
        </p:sp>
        <p:sp>
          <p:nvSpPr>
            <p:cNvPr id="20" name="Shape"/>
            <p:cNvSpPr/>
            <p:nvPr/>
          </p:nvSpPr>
          <p:spPr>
            <a:xfrm>
              <a:off x="4158779" y="3514725"/>
              <a:ext cx="1493044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spcAft>
                  <a:spcPts val="169"/>
                </a:spcAft>
                <a:buNone/>
              </a:pPr>
              <a:r>
                <a:rPr lang="en-US" sz="730" b="1" dirty="0">
                  <a:solidFill>
                    <a:srgbClr val="3FB950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Correctness</a:t>
              </a:r>
              <a:endParaRPr lang="en-US" sz="730" dirty="0"/>
            </a:p>
          </p:txBody>
        </p:sp>
        <p:sp>
          <p:nvSpPr>
            <p:cNvPr id="21" name="Shape"/>
            <p:cNvSpPr/>
            <p:nvPr/>
          </p:nvSpPr>
          <p:spPr>
            <a:xfrm>
              <a:off x="4158779" y="3677245"/>
              <a:ext cx="1493044" cy="385763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Same math, same output. Energy checksum </a:t>
              </a:r>
              <a:pPr algn="l" indent="0" marL="0">
                <a:buNone/>
              </a:pPr>
              <a:r>
                <a:rPr lang="en-US" sz="570" dirty="0">
                  <a:solidFill>
                    <a:srgbClr val="3FB950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-0.169089263 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identical to 9 decimals.</a:t>
              </a:r>
              <a:endParaRPr lang="en-US" sz="68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5188" y="1423392"/>
            <a:ext cx="1250156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013"/>
              </a:lnSpc>
              <a:spcAft>
                <a:spcPts val="788"/>
              </a:spcAft>
              <a:buNone/>
            </a:pPr>
            <a:r>
              <a:rPr lang="en-US" sz="680" b="1" spc="101" kern="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WALL-CLOCK SPEEDUP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1022282" y="1651992"/>
            <a:ext cx="2035969" cy="785813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6188"/>
              </a:lnSpc>
              <a:buNone/>
            </a:pPr>
            <a:r>
              <a:rPr lang="en-US" sz="6190" b="1" spc="-225" kern="0" dirty="0">
                <a:solidFill>
                  <a:srgbClr val="3FB950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~37%</a:t>
            </a:r>
            <a:endParaRPr lang="en-US" sz="6190" dirty="0"/>
          </a:p>
        </p:txBody>
      </p:sp>
      <p:sp>
        <p:nvSpPr>
          <p:cNvPr id="4" name="Text 2"/>
          <p:cNvSpPr/>
          <p:nvPr/>
        </p:nvSpPr>
        <p:spPr>
          <a:xfrm>
            <a:off x="1125810" y="2480667"/>
            <a:ext cx="1828800" cy="192881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519"/>
              </a:lnSpc>
              <a:spcBef>
                <a:spcPts val="338"/>
              </a:spcBef>
              <a:buNone/>
            </a:pPr>
            <a:r>
              <a:rPr lang="en-US" sz="101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1.58× · 3.93 s → 2.50 s (n=60)</a:t>
            </a:r>
            <a:endParaRPr lang="en-US" sz="1010" dirty="0"/>
          </a:p>
        </p:txBody>
      </p:sp>
      <p:grpSp>
        <p:nvGrpSpPr>
          <p:cNvPr id="19" name="Group g39"/>
          <p:cNvGrpSpPr/>
          <p:nvPr/>
        </p:nvGrpSpPr>
        <p:grpSpPr>
          <a:xfrm>
            <a:off x="1111523" y="2816423"/>
            <a:ext cx="1857375" cy="600075"/>
            <a:chOff x="1111523" y="2816423"/>
            <a:chExt cx="1857375" cy="600075"/>
          </a:xfrm>
        </p:grpSpPr>
        <p:sp>
          <p:nvSpPr>
            <p:cNvPr id="5" name="Shape"/>
            <p:cNvSpPr/>
            <p:nvPr/>
          </p:nvSpPr>
          <p:spPr>
            <a:xfrm>
              <a:off x="1111523" y="2816423"/>
              <a:ext cx="1857375" cy="600075"/>
            </a:xfrm>
            <a:prstGeom prst="roundRect">
              <a:avLst>
                <a:gd name="adj" fmla="val 14286"/>
              </a:avLst>
            </a:prstGeom>
            <a:solidFill>
              <a:srgbClr val="0D2018"/>
            </a:solidFill>
            <a:ln w="7144">
              <a:solidFill>
                <a:srgbClr val="2A5C3A"/>
              </a:solidFill>
              <a:prstDash val="solid"/>
            </a:ln>
          </p:spPr>
        </p:sp>
        <p:sp>
          <p:nvSpPr>
            <p:cNvPr id="6" name="Shape"/>
            <p:cNvSpPr/>
            <p:nvPr/>
          </p:nvSpPr>
          <p:spPr>
            <a:xfrm>
              <a:off x="1290117" y="2923580"/>
              <a:ext cx="1500188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1013"/>
                </a:lnSpc>
                <a:spcAft>
                  <a:spcPts val="169"/>
                </a:spcAft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vs. 7% threshold</a:t>
              </a:r>
              <a:endParaRPr lang="en-US" sz="680" dirty="0"/>
            </a:p>
          </p:txBody>
        </p:sp>
        <p:sp>
          <p:nvSpPr>
            <p:cNvPr id="7" name="Shape"/>
            <p:cNvSpPr/>
            <p:nvPr/>
          </p:nvSpPr>
          <p:spPr>
            <a:xfrm>
              <a:off x="1290117" y="3073598"/>
              <a:ext cx="1500188" cy="2357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1856"/>
                </a:lnSpc>
                <a:buNone/>
              </a:pPr>
              <a:r>
                <a:rPr lang="en-US" sz="1240" b="1" dirty="0">
                  <a:solidFill>
                    <a:srgbClr val="3FB950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5.2× above target ✓</a:t>
              </a:r>
              <a:endParaRPr lang="en-US" sz="1240" dirty="0"/>
            </a:p>
          </p:txBody>
        </p:sp>
      </p:grpSp>
      <p:sp>
        <p:nvSpPr>
          <p:cNvPr id="8" name="Text 6"/>
          <p:cNvSpPr/>
          <p:nvPr/>
        </p:nvSpPr>
        <p:spPr>
          <a:xfrm>
            <a:off x="1111914" y="3514725"/>
            <a:ext cx="121444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62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0%</a:t>
            </a:r>
            <a:endParaRPr lang="en-US" sz="620" dirty="0"/>
          </a:p>
        </p:txBody>
      </p:sp>
      <p:sp>
        <p:nvSpPr>
          <p:cNvPr id="9" name="Text 7"/>
          <p:cNvSpPr/>
          <p:nvPr/>
        </p:nvSpPr>
        <p:spPr>
          <a:xfrm>
            <a:off x="1885838" y="3514725"/>
            <a:ext cx="264319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620" dirty="0">
                <a:solidFill>
                  <a:srgbClr val="FFA657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7% bar</a:t>
            </a:r>
            <a:endParaRPr lang="en-US" sz="620" dirty="0"/>
          </a:p>
        </p:txBody>
      </p:sp>
      <p:sp>
        <p:nvSpPr>
          <p:cNvPr id="10" name="Text 8"/>
          <p:cNvSpPr/>
          <p:nvPr/>
        </p:nvSpPr>
        <p:spPr>
          <a:xfrm>
            <a:off x="2803364" y="3514725"/>
            <a:ext cx="164306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620" dirty="0">
                <a:solidFill>
                  <a:srgbClr val="3FB950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37%</a:t>
            </a:r>
            <a:endParaRPr lang="en-US" sz="620" dirty="0"/>
          </a:p>
        </p:txBody>
      </p:sp>
      <p:grpSp>
        <p:nvGrpSpPr>
          <p:cNvPr id="20" name="Group g40"/>
          <p:cNvGrpSpPr/>
          <p:nvPr/>
        </p:nvGrpSpPr>
        <p:grpSpPr>
          <a:xfrm>
            <a:off x="1111523" y="3634383"/>
            <a:ext cx="1857375" cy="114300"/>
            <a:chOff x="1111523" y="3634383"/>
            <a:chExt cx="1857375" cy="114300"/>
          </a:xfrm>
        </p:grpSpPr>
        <p:sp>
          <p:nvSpPr>
            <p:cNvPr id="11" name="Shape"/>
            <p:cNvSpPr/>
            <p:nvPr/>
          </p:nvSpPr>
          <p:spPr>
            <a:xfrm>
              <a:off x="1111523" y="3662958"/>
              <a:ext cx="1857375" cy="57150"/>
            </a:xfrm>
            <a:prstGeom prst="roundRect">
              <a:avLst>
                <a:gd name="adj" fmla="val 50000"/>
              </a:avLst>
            </a:prstGeom>
            <a:solidFill>
              <a:srgbClr val="30363D"/>
            </a:solidFill>
            <a:ln/>
          </p:spPr>
        </p:sp>
        <p:pic>
          <p:nvPicPr>
            <p:cNvPr id="12" name="Shape" descr="preencoded.png">    </p:cNvPr>
            <p:cNvPicPr>
              <a:picLocks noChangeAspect="1"/>
            </p:cNvPicPr>
            <p:nvPr/>
          </p:nvPicPr>
          <p:blipFill>
            <a:blip r:embed="rId2"> </a:blip>
            <a:stretch>
              <a:fillRect/>
            </a:stretch>
          </p:blipFill>
          <p:spPr>
            <a:xfrm>
              <a:off x="1111523" y="3662958"/>
              <a:ext cx="1857375" cy="57150"/>
            </a:xfrm>
            <a:prstGeom prst="rect">
              <a:avLst/>
            </a:prstGeom>
          </p:spPr>
        </p:pic>
        <p:sp>
          <p:nvSpPr>
            <p:cNvPr id="13" name="Shape"/>
            <p:cNvSpPr/>
            <p:nvPr/>
          </p:nvSpPr>
          <p:spPr>
            <a:xfrm>
              <a:off x="1464357" y="3634383"/>
              <a:ext cx="14288" cy="114300"/>
            </a:xfrm>
            <a:prstGeom prst="rect">
              <a:avLst/>
            </a:prstGeom>
            <a:solidFill>
              <a:srgbClr val="FFA657"/>
            </a:solidFill>
            <a:ln/>
          </p:spPr>
        </p:sp>
      </p:grpSp>
      <p:sp>
        <p:nvSpPr>
          <p:cNvPr id="14" name="Text 11"/>
          <p:cNvSpPr/>
          <p:nvPr/>
        </p:nvSpPr>
        <p:spPr>
          <a:xfrm>
            <a:off x="3936932" y="1050131"/>
            <a:ext cx="4750594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Aft>
                <a:spcPts val="225"/>
              </a:spcAft>
              <a:buNone/>
            </a:pPr>
            <a:r>
              <a:rPr lang="en-US" sz="680" b="1" spc="84" kern="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BEFORE VS. AFTER</a:t>
            </a:r>
            <a:endParaRPr lang="en-US" sz="68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6932" y="1291233"/>
          <a:ext cx="4750594" cy="914400"/>
        </p:xfrm>
        <a:graphic>
          <a:graphicData uri="http://schemas.openxmlformats.org/drawingml/2006/table">
            <a:tbl>
              <a:tblPr/>
              <a:tblGrid>
                <a:gridCol w="1087971"/>
                <a:gridCol w="967085"/>
                <a:gridCol w="96708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7"/>
                        </a:lnSpc>
                        <a:buNone/>
                      </a:pPr>
                      <a:r>
                        <a:rPr lang="en-US" sz="730" b="1" spc="45" kern="0" dirty="0">
                          <a:solidFill>
                            <a:srgbClr val="58A6FF"/>
                          </a:solidFill>
                          <a:highlight>
                            <a:srgbClr val="0D1117"/>
                          </a:highlight>
                          <a:latin typeface="SF Pro Semibold" pitchFamily="34" charset="0"/>
                          <a:ea typeface="SF Pro Semibold" pitchFamily="34" charset="-122"/>
                          <a:cs typeface="SF Pro Semibold" pitchFamily="34" charset="-120"/>
                        </a:rPr>
                        <a:t>METRIC</a:t>
                      </a:r>
                      <a:endParaRPr lang="en-US" sz="730" dirty="0">
                        <a:latin typeface="SF Pro Semibold" charset="0"/>
                        <a:ea typeface="SF Pro Semibold" charset="0"/>
                        <a:cs typeface="SF Pro Semibold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7"/>
                        </a:lnSpc>
                        <a:buNone/>
                      </a:pPr>
                      <a:r>
                        <a:rPr lang="en-US" sz="730" b="1" spc="45" kern="0" dirty="0">
                          <a:solidFill>
                            <a:srgbClr val="58A6FF"/>
                          </a:solidFill>
                          <a:highlight>
                            <a:srgbClr val="0D1117"/>
                          </a:highlight>
                          <a:latin typeface="SF Pro Semibold" pitchFamily="34" charset="0"/>
                          <a:ea typeface="SF Pro Semibold" pitchFamily="34" charset="-122"/>
                          <a:cs typeface="SF Pro Semibold" pitchFamily="34" charset="-120"/>
                        </a:rPr>
                        <a:t>BEFORE</a:t>
                      </a:r>
                      <a:endParaRPr lang="en-US" sz="730" dirty="0">
                        <a:latin typeface="SF Pro Semibold" charset="0"/>
                        <a:ea typeface="SF Pro Semibold" charset="0"/>
                        <a:cs typeface="SF Pro Semibold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7"/>
                        </a:lnSpc>
                        <a:buNone/>
                      </a:pPr>
                      <a:r>
                        <a:rPr lang="en-US" sz="730" b="1" spc="45" kern="0" dirty="0">
                          <a:solidFill>
                            <a:srgbClr val="3FB950"/>
                          </a:solidFill>
                          <a:highlight>
                            <a:srgbClr val="0D2018"/>
                          </a:highlight>
                          <a:latin typeface="SF Pro Semibold" pitchFamily="34" charset="0"/>
                          <a:ea typeface="SF Pro Semibold" pitchFamily="34" charset="-122"/>
                          <a:cs typeface="SF Pro Semibold" pitchFamily="34" charset="-120"/>
                        </a:rPr>
                        <a:t>AFTER</a:t>
                      </a:r>
                      <a:endParaRPr lang="en-US" sz="730" dirty="0">
                        <a:latin typeface="SF Pro Semibold" charset="0"/>
                        <a:ea typeface="SF Pro Semibold" charset="0"/>
                        <a:cs typeface="SF Pro Semibold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dirty="0">
                          <a:solidFill>
                            <a:srgbClr val="8B949E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Wall-clock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dirty="0">
                          <a:solidFill>
                            <a:srgbClr val="C9D1D9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3.93 s ± 0.38 s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3FB950"/>
                          </a:solidFill>
                          <a:highlight>
                            <a:srgbClr val="0D2018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2.50 s ± 0.22 s</a:t>
                      </a:r>
                      <a:endParaRPr lang="en-US" sz="68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dirty="0">
                          <a:solidFill>
                            <a:srgbClr val="8B949E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Speedup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dirty="0">
                          <a:solidFill>
                            <a:srgbClr val="C9D1D9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1.00×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519"/>
                        </a:lnSpc>
                        <a:buNone/>
                      </a:pPr>
                      <a:r>
                        <a:rPr lang="en-US" sz="1010" b="1" dirty="0">
                          <a:solidFill>
                            <a:srgbClr val="3FB950"/>
                          </a:solidFill>
                          <a:highlight>
                            <a:srgbClr val="0D2A1A"/>
                          </a:highlight>
                          <a:latin typeface="SF Pro Heavy" pitchFamily="34" charset="0"/>
                          <a:ea typeface="SF Pro Heavy" pitchFamily="34" charset="-122"/>
                          <a:cs typeface="SF Pro Heavy" pitchFamily="34" charset="-120"/>
                        </a:rPr>
                        <a:t>1.58×</a:t>
                      </a:r>
                      <a:endParaRPr lang="en-US" sz="1010" dirty="0">
                        <a:latin typeface="SF Pro Heavy" charset="0"/>
                        <a:ea typeface="SF Pro Heavy" charset="0"/>
                        <a:cs typeface="SF Pro Heavy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dirty="0">
                          <a:solidFill>
                            <a:srgbClr val="8B949E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Key bytecode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8"/>
                        </a:lnSpc>
                        <a:buNone/>
                      </a:pPr>
                      <a:r>
                        <a:rPr lang="en-US" sz="620" dirty="0">
                          <a:solidFill>
                            <a:srgbClr val="F85149"/>
                          </a:solidFill>
                          <a:highlight>
                            <a:srgbClr val="0D1117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BINARY_SUBSCR</a:t>
                      </a:r>
                      <a:endParaRPr lang="en-US" sz="62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8"/>
                        </a:lnSpc>
                        <a:buNone/>
                      </a:pPr>
                      <a:r>
                        <a:rPr lang="en-US" sz="620" dirty="0">
                          <a:solidFill>
                            <a:srgbClr val="3FB950"/>
                          </a:solidFill>
                          <a:highlight>
                            <a:srgbClr val="0D2018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LOAD_FAST</a:t>
                      </a:r>
                      <a:endParaRPr lang="en-US" sz="62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dirty="0">
                          <a:solidFill>
                            <a:srgbClr val="8B949E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Energy checksum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8"/>
                        </a:lnSpc>
                        <a:buNone/>
                      </a:pPr>
                      <a:r>
                        <a:rPr lang="en-US" sz="620" dirty="0">
                          <a:solidFill>
                            <a:srgbClr val="C9D1D9"/>
                          </a:solidFill>
                          <a:highlight>
                            <a:srgbClr val="0D1117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-0.169089263</a:t>
                      </a:r>
                      <a:endParaRPr lang="en-US" sz="62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8"/>
                        </a:lnSpc>
                        <a:buNone/>
                      </a:pPr>
                      <a:r>
                        <a:rPr lang="en-US" sz="620" dirty="0">
                          <a:solidFill>
                            <a:srgbClr val="3FB950"/>
                          </a:solidFill>
                          <a:highlight>
                            <a:srgbClr val="0D2018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-0.169089263 ✓</a:t>
                      </a:r>
                      <a:endParaRPr lang="en-US" sz="62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18"/>
                    </a:solidFill>
                  </a:tcPr>
                </a:tc>
              </a:tr>
            </a:tbl>
          </a:graphicData>
        </a:graphic>
      </p:graphicFrame>
      <p:grpSp>
        <p:nvGrpSpPr>
          <p:cNvPr id="21" name="Group g46"/>
          <p:cNvGrpSpPr/>
          <p:nvPr/>
        </p:nvGrpSpPr>
        <p:grpSpPr>
          <a:xfrm>
            <a:off x="3936932" y="-4335084"/>
            <a:ext cx="4750594" cy="8430239"/>
            <a:chOff x="3936932" y="-4335084"/>
            <a:chExt cx="4750594" cy="8430239"/>
          </a:xfrm>
        </p:grpSpPr>
        <p:sp>
          <p:nvSpPr>
            <p:cNvPr id="16" name="Shape"/>
            <p:cNvSpPr/>
            <p:nvPr/>
          </p:nvSpPr>
          <p:spPr>
            <a:xfrm>
              <a:off x="3936932" y="2744986"/>
              <a:ext cx="4750594" cy="1350169"/>
            </a:xfrm>
            <a:prstGeom prst="roundRect">
              <a:avLst>
                <a:gd name="adj" fmla="val 4233"/>
              </a:avLst>
            </a:prstGeom>
            <a:ln w="7144">
              <a:solidFill>
                <a:srgbClr val="30363D"/>
              </a:solidFill>
              <a:prstDash val="solid"/>
            </a:ln>
          </p:spPr>
        </p:sp>
        <p:sp>
          <p:nvSpPr>
            <p:cNvPr id="17" name="Shape"/>
            <p:cNvSpPr/>
            <p:nvPr/>
          </p:nvSpPr>
          <p:spPr>
            <a:xfrm>
              <a:off x="3944076" y="2752130"/>
              <a:ext cx="4736306" cy="192881"/>
            </a:xfrm>
            <a:prstGeom prst="rect">
              <a:avLst/>
            </a:prstGeom>
            <a:solidFill>
              <a:srgbClr val="161B22"/>
            </a:solidFill>
            <a:ln/>
          </p:spPr>
          <p:txBody>
            <a:bodyPr wrap="square" lIns="42863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monospace" pitchFamily="34" charset="0"/>
                  <a:ea typeface="monospace" pitchFamily="34" charset="-122"/>
                  <a:cs typeface="monospace" pitchFamily="34" charset="-120"/>
                </a:rPr>
                <a:t>nbody optimized — flame graph (hotspot visibly narrower)</a:t>
              </a:r>
              <a:endParaRPr lang="en-US" sz="620" dirty="0"/>
            </a:p>
          </p:txBody>
        </p:sp>
        <p:pic>
          <p:nvPicPr>
            <p:cNvPr id="18" name="Shape" descr="preencoded.png">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44076" y="-4335084"/>
              <a:ext cx="4736306" cy="842248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2002" y="0"/>
            <a:ext cx="384333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8595" y="342844"/>
            <a:ext cx="4386263" cy="364331"/>
          </a:xfrm>
          <a:prstGeom prst="rect">
            <a:avLst/>
          </a:prstGeom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95"/>
              </a:lnSpc>
              <a:spcAft>
                <a:spcPts val="1125"/>
              </a:spcAft>
              <a:buNone/>
            </a:pPr>
            <a:r>
              <a:rPr lang="en-US" sz="1910" b="1" spc="-11" kern="0" dirty="0">
                <a:solidFill>
                  <a:srgbClr val="58A6FF"/>
                </a:solidFill>
                <a:latin typeface="SF Pro Semibold" pitchFamily="34" charset="0"/>
                <a:ea typeface="SF Pro Semibold" pitchFamily="34" charset="-122"/>
                <a:cs typeface="SF Pro Semibold" pitchFamily="34" charset="-120"/>
              </a:rPr>
              <a:t>pyflate — Pure-Python Decompressor</a:t>
            </a:r>
            <a:endParaRPr lang="en-US" sz="1910" dirty="0"/>
          </a:p>
        </p:txBody>
      </p:sp>
      <p:sp>
        <p:nvSpPr>
          <p:cNvPr id="4" name="Shape 1"/>
          <p:cNvSpPr/>
          <p:nvPr/>
        </p:nvSpPr>
        <p:spPr>
          <a:xfrm>
            <a:off x="457200" y="849995"/>
            <a:ext cx="314325" cy="21431"/>
          </a:xfrm>
          <a:prstGeom prst="roundRect">
            <a:avLst>
              <a:gd name="adj" fmla="val 50001"/>
            </a:avLst>
          </a:prstGeom>
          <a:solidFill>
            <a:srgbClr val="58A6FF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998451"/>
            <a:ext cx="3857625" cy="585788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60" dirty="0">
                <a:solidFill>
                  <a:srgbClr val="C9D1D9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A complete </a:t>
            </a:r>
            <a:pPr algn="l" indent="0" marL="0">
              <a:buNone/>
            </a:pPr>
            <a:r>
              <a:rPr lang="en-US" sz="960" b="1" dirty="0">
                <a:solidFill>
                  <a:srgbClr val="79C0FF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bzip2 and gzip decompressor</a:t>
            </a:r>
            <a:pPr algn="l" indent="0" marL="0">
              <a:spcAft>
                <a:spcPts val="675"/>
              </a:spcAft>
              <a:buNone/>
            </a:pPr>
            <a:r>
              <a:rPr lang="en-US" sz="960" dirty="0">
                <a:solidFill>
                  <a:srgbClr val="C9D1D9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 written entirely in Python — no C extensions. Every bit operation is visible to the interpreter.</a:t>
            </a:r>
            <a:endParaRPr lang="en-US" sz="960" dirty="0"/>
          </a:p>
        </p:txBody>
      </p:sp>
      <p:grpSp>
        <p:nvGrpSpPr>
          <p:cNvPr id="17" name="Group g47"/>
          <p:cNvGrpSpPr/>
          <p:nvPr/>
        </p:nvGrpSpPr>
        <p:grpSpPr>
          <a:xfrm>
            <a:off x="457200" y="1696975"/>
            <a:ext cx="3857625" cy="635794"/>
            <a:chOff x="457200" y="1696975"/>
            <a:chExt cx="3857625" cy="635794"/>
          </a:xfrm>
        </p:grpSpPr>
        <p:sp>
          <p:nvSpPr>
            <p:cNvPr id="6" name="Shape"/>
            <p:cNvSpPr/>
            <p:nvPr/>
          </p:nvSpPr>
          <p:spPr>
            <a:xfrm>
              <a:off x="457200" y="1696975"/>
              <a:ext cx="3857625" cy="635794"/>
            </a:xfrm>
            <a:prstGeom prst="roundRect">
              <a:avLst>
                <a:gd name="adj" fmla="val 11236"/>
              </a:avLst>
            </a:prstGeom>
            <a:solidFill>
              <a:srgbClr val="161B22"/>
            </a:solidFill>
            <a:ln w="7144">
              <a:solidFill>
                <a:srgbClr val="30363D"/>
              </a:solidFill>
              <a:prstDash val="solid"/>
            </a:ln>
          </p:spPr>
        </p:sp>
        <p:sp>
          <p:nvSpPr>
            <p:cNvPr id="7" name="Shape"/>
            <p:cNvSpPr/>
            <p:nvPr/>
          </p:nvSpPr>
          <p:spPr>
            <a:xfrm>
              <a:off x="592931" y="1789844"/>
              <a:ext cx="3586162" cy="15001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181"/>
                </a:lnSpc>
                <a:spcAft>
                  <a:spcPts val="169"/>
                </a:spcAft>
                <a:buNone/>
              </a:pPr>
              <a:r>
                <a:rPr lang="en-US" sz="790" b="1" dirty="0">
                  <a:solidFill>
                    <a:srgbClr val="79C0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What it decompresses</a:t>
              </a:r>
              <a:endParaRPr lang="en-US" sz="790" dirty="0"/>
            </a:p>
          </p:txBody>
        </p:sp>
        <p:sp>
          <p:nvSpPr>
            <p:cNvPr id="8" name="Shape"/>
            <p:cNvSpPr/>
            <p:nvPr/>
          </p:nvSpPr>
          <p:spPr>
            <a:xfrm>
              <a:off x="592931" y="1961294"/>
              <a:ext cx="3586162" cy="278606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buNone/>
              </a:pPr>
              <a:r>
                <a:rPr lang="en-US" sz="7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Fixed embedded </a:t>
              </a:r>
              <a:pPr algn="l" indent="0" marL="0">
                <a:buNone/>
              </a:pPr>
              <a:r>
                <a:rPr lang="en-US" sz="61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interpreter.tar.bz2 </a:t>
              </a:r>
              <a:pPr algn="l" indent="0" marL="0">
                <a:buNone/>
              </a:pPr>
              <a:r>
                <a:rPr lang="en-US" sz="7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(~66 KB compressed → 399,360 bytes). Checks MD5 of output.</a:t>
              </a:r>
              <a:endParaRPr lang="en-US" sz="730" dirty="0"/>
            </a:p>
          </p:txBody>
        </p:sp>
      </p:grpSp>
      <p:grpSp>
        <p:nvGrpSpPr>
          <p:cNvPr id="18" name="Group g48"/>
          <p:cNvGrpSpPr/>
          <p:nvPr/>
        </p:nvGrpSpPr>
        <p:grpSpPr>
          <a:xfrm>
            <a:off x="457200" y="2404207"/>
            <a:ext cx="3857625" cy="635794"/>
            <a:chOff x="457200" y="2404207"/>
            <a:chExt cx="3857625" cy="635794"/>
          </a:xfrm>
        </p:grpSpPr>
        <p:sp>
          <p:nvSpPr>
            <p:cNvPr id="9" name="Shape"/>
            <p:cNvSpPr/>
            <p:nvPr/>
          </p:nvSpPr>
          <p:spPr>
            <a:xfrm>
              <a:off x="457200" y="2404207"/>
              <a:ext cx="3857625" cy="635794"/>
            </a:xfrm>
            <a:prstGeom prst="roundRect">
              <a:avLst>
                <a:gd name="adj" fmla="val 11236"/>
              </a:avLst>
            </a:prstGeom>
            <a:solidFill>
              <a:srgbClr val="161B22"/>
            </a:solidFill>
            <a:ln w="7144">
              <a:solidFill>
                <a:srgbClr val="30363D"/>
              </a:solidFill>
              <a:prstDash val="solid"/>
            </a:ln>
          </p:spPr>
        </p:sp>
        <p:sp>
          <p:nvSpPr>
            <p:cNvPr id="10" name="Shape"/>
            <p:cNvSpPr/>
            <p:nvPr/>
          </p:nvSpPr>
          <p:spPr>
            <a:xfrm>
              <a:off x="592931" y="2497075"/>
              <a:ext cx="3586162" cy="15001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181"/>
                </a:lnSpc>
                <a:spcAft>
                  <a:spcPts val="169"/>
                </a:spcAft>
                <a:buNone/>
              </a:pPr>
              <a:r>
                <a:rPr lang="en-US" sz="790" b="1" dirty="0">
                  <a:solidFill>
                    <a:srgbClr val="79C0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Decompression pipeline</a:t>
              </a:r>
              <a:endParaRPr lang="en-US" sz="790" dirty="0"/>
            </a:p>
          </p:txBody>
        </p:sp>
        <p:sp>
          <p:nvSpPr>
            <p:cNvPr id="11" name="Shape"/>
            <p:cNvSpPr/>
            <p:nvPr/>
          </p:nvSpPr>
          <p:spPr>
            <a:xfrm>
              <a:off x="592931" y="2668525"/>
              <a:ext cx="3586162" cy="278606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buNone/>
              </a:pPr>
              <a:r>
                <a:rPr lang="en-US" sz="7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Bit reader → Canonical Huffman decode → Move-To-Front (MTF) → Run-Length decode → Inverse BWT</a:t>
              </a:r>
              <a:endParaRPr lang="en-US" sz="730" dirty="0"/>
            </a:p>
          </p:txBody>
        </p:sp>
      </p:grpSp>
      <p:grpSp>
        <p:nvGrpSpPr>
          <p:cNvPr id="19" name="Group g49"/>
          <p:cNvGrpSpPr/>
          <p:nvPr/>
        </p:nvGrpSpPr>
        <p:grpSpPr>
          <a:xfrm>
            <a:off x="457200" y="3111438"/>
            <a:ext cx="3857625" cy="635794"/>
            <a:chOff x="457200" y="3111438"/>
            <a:chExt cx="3857625" cy="635794"/>
          </a:xfrm>
        </p:grpSpPr>
        <p:sp>
          <p:nvSpPr>
            <p:cNvPr id="12" name="Shape"/>
            <p:cNvSpPr/>
            <p:nvPr/>
          </p:nvSpPr>
          <p:spPr>
            <a:xfrm>
              <a:off x="457200" y="3111438"/>
              <a:ext cx="3857625" cy="635794"/>
            </a:xfrm>
            <a:prstGeom prst="roundRect">
              <a:avLst>
                <a:gd name="adj" fmla="val 11236"/>
              </a:avLst>
            </a:prstGeom>
            <a:solidFill>
              <a:srgbClr val="161B22"/>
            </a:solidFill>
            <a:ln w="7144">
              <a:solidFill>
                <a:srgbClr val="30363D"/>
              </a:solidFill>
              <a:prstDash val="solid"/>
            </a:ln>
          </p:spPr>
        </p:sp>
        <p:sp>
          <p:nvSpPr>
            <p:cNvPr id="13" name="Shape"/>
            <p:cNvSpPr/>
            <p:nvPr/>
          </p:nvSpPr>
          <p:spPr>
            <a:xfrm>
              <a:off x="592931" y="3204307"/>
              <a:ext cx="3586162" cy="15001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181"/>
                </a:lnSpc>
                <a:spcAft>
                  <a:spcPts val="169"/>
                </a:spcAft>
                <a:buNone/>
              </a:pPr>
              <a:r>
                <a:rPr lang="en-US" sz="790" b="1" dirty="0">
                  <a:solidFill>
                    <a:srgbClr val="79C0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Why it's slow</a:t>
              </a:r>
              <a:endParaRPr lang="en-US" sz="790" dirty="0"/>
            </a:p>
          </p:txBody>
        </p:sp>
        <p:sp>
          <p:nvSpPr>
            <p:cNvPr id="14" name="Shape"/>
            <p:cNvSpPr/>
            <p:nvPr/>
          </p:nvSpPr>
          <p:spPr>
            <a:xfrm>
              <a:off x="592931" y="3375757"/>
              <a:ext cx="3586162" cy="278606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buNone/>
              </a:pPr>
              <a:r>
                <a:rPr lang="en-US" sz="7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Python does the bit/byte work the C library normally does. Millions of tiny calls, list allocations, and linear scans — all through the interpreter.</a:t>
              </a:r>
              <a:endParaRPr lang="en-US" sz="730" dirty="0"/>
            </a:p>
          </p:txBody>
        </p:sp>
      </p:grpSp>
      <p:sp>
        <p:nvSpPr>
          <p:cNvPr id="15" name="Text 12"/>
          <p:cNvSpPr/>
          <p:nvPr/>
        </p:nvSpPr>
        <p:spPr>
          <a:xfrm>
            <a:off x="457200" y="3847244"/>
            <a:ext cx="385762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80" b="1" spc="101" kern="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CONTRAST WITH NBODY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457200" y="4012890"/>
            <a:ext cx="3857625" cy="27146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nbody: one tight arithmetic loop · pyflate: deep call stack, bit manipulation, branchy decode logic, heavy allocation churn</a:t>
            </a:r>
            <a:endParaRPr lang="en-US" sz="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6028" y="769739"/>
            <a:ext cx="468630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80" b="1" spc="101" kern="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CPROFILE SELF-TIME · ORIGINAL DECODER · ALL TOP FUNCTIONS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456028" y="934045"/>
            <a:ext cx="4686300" cy="278606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2194"/>
              </a:lnSpc>
              <a:buNone/>
            </a:pPr>
            <a:r>
              <a:rPr lang="en-US" sz="1460" b="1" spc="-28" kern="0" dirty="0">
                <a:solidFill>
                  <a:srgbClr val="E6EDF3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pyflate — </a:t>
            </a:r>
            <a:pPr algn="l" indent="0" marL="0">
              <a:buNone/>
            </a:pPr>
            <a:r>
              <a:rPr lang="en-US" sz="1460" b="1" spc="-28" kern="0" dirty="0">
                <a:solidFill>
                  <a:srgbClr val="58A6FF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Profiling</a:t>
            </a:r>
            <a:endParaRPr lang="en-US" sz="146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6028" y="1282303"/>
          <a:ext cx="4686300" cy="914400"/>
        </p:xfrm>
        <a:graphic>
          <a:graphicData uri="http://schemas.openxmlformats.org/drawingml/2006/table">
            <a:tbl>
              <a:tblPr/>
              <a:tblGrid>
                <a:gridCol w="1939863"/>
                <a:gridCol w="570830"/>
                <a:gridCol w="606214"/>
                <a:gridCol w="155990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8"/>
                        </a:lnSpc>
                        <a:buNone/>
                      </a:pPr>
                      <a:r>
                        <a:rPr lang="en-US" sz="620" b="1" spc="45" kern="0" dirty="0">
                          <a:solidFill>
                            <a:srgbClr val="58A6FF"/>
                          </a:solidFill>
                          <a:highlight>
                            <a:srgbClr val="0D1117"/>
                          </a:highlight>
                          <a:latin typeface="SF Pro Semibold" pitchFamily="34" charset="0"/>
                          <a:ea typeface="SF Pro Semibold" pitchFamily="34" charset="-122"/>
                          <a:cs typeface="SF Pro Semibold" pitchFamily="34" charset="-120"/>
                        </a:rPr>
                        <a:t>FUNCTION</a:t>
                      </a:r>
                      <a:endParaRPr lang="en-US" sz="620" dirty="0">
                        <a:latin typeface="SF Pro Semibold" charset="0"/>
                        <a:ea typeface="SF Pro Semibold" charset="0"/>
                        <a:cs typeface="SF Pro Semibold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928"/>
                        </a:lnSpc>
                        <a:buNone/>
                      </a:pPr>
                      <a:r>
                        <a:rPr lang="en-US" sz="620" b="1" spc="45" kern="0" dirty="0">
                          <a:solidFill>
                            <a:srgbClr val="58A6FF"/>
                          </a:solidFill>
                          <a:highlight>
                            <a:srgbClr val="0D1117"/>
                          </a:highlight>
                          <a:latin typeface="SF Pro Semibold" pitchFamily="34" charset="0"/>
                          <a:ea typeface="SF Pro Semibold" pitchFamily="34" charset="-122"/>
                          <a:cs typeface="SF Pro Semibold" pitchFamily="34" charset="-120"/>
                        </a:rPr>
                        <a:t>SELF %</a:t>
                      </a:r>
                      <a:endParaRPr lang="en-US" sz="620" dirty="0">
                        <a:latin typeface="SF Pro Semibold" charset="0"/>
                        <a:ea typeface="SF Pro Semibold" charset="0"/>
                        <a:cs typeface="SF Pro Semibold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28"/>
                        </a:lnSpc>
                        <a:buNone/>
                      </a:pPr>
                      <a:r>
                        <a:rPr lang="en-US" sz="620" b="1" spc="45" kern="0" dirty="0">
                          <a:solidFill>
                            <a:srgbClr val="58A6FF"/>
                          </a:solidFill>
                          <a:highlight>
                            <a:srgbClr val="0D1117"/>
                          </a:highlight>
                          <a:latin typeface="SF Pro Semibold" pitchFamily="34" charset="0"/>
                          <a:ea typeface="SF Pro Semibold" pitchFamily="34" charset="-122"/>
                          <a:cs typeface="SF Pro Semibold" pitchFamily="34" charset="-120"/>
                        </a:rPr>
                        <a:t>BUCKET</a:t>
                      </a:r>
                      <a:endParaRPr lang="en-US" sz="620" dirty="0">
                        <a:latin typeface="SF Pro Semibold" charset="0"/>
                        <a:ea typeface="SF Pro Semibold" charset="0"/>
                        <a:cs typeface="SF Pro Semibold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8"/>
                        </a:lnSpc>
                        <a:buNone/>
                      </a:pPr>
                      <a:r>
                        <a:rPr lang="en-US" sz="620" b="1" spc="45" kern="0" dirty="0">
                          <a:solidFill>
                            <a:srgbClr val="58A6FF"/>
                          </a:solidFill>
                          <a:highlight>
                            <a:srgbClr val="0D1117"/>
                          </a:highlight>
                          <a:latin typeface="SF Pro Semibold" pitchFamily="34" charset="0"/>
                          <a:ea typeface="SF Pro Semibold" pitchFamily="34" charset="-122"/>
                          <a:cs typeface="SF Pro Semibold" pitchFamily="34" charset="-120"/>
                        </a:rPr>
                        <a:t>WHAT IT DOES</a:t>
                      </a:r>
                      <a:endParaRPr lang="en-US" sz="620" dirty="0">
                        <a:latin typeface="SF Pro Semibold" charset="0"/>
                        <a:ea typeface="SF Pro Semibold" charset="0"/>
                        <a:cs typeface="SF Pro Semibold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8"/>
                        </a:lnSpc>
                        <a:buNone/>
                      </a:pPr>
                      <a:r>
                        <a:rPr lang="en-US" sz="620" b="1" dirty="0">
                          <a:solidFill>
                            <a:srgbClr val="C9D1D9"/>
                          </a:solidFill>
                          <a:highlight>
                            <a:srgbClr val="161B22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decode_huffman_block</a:t>
                      </a:r>
                      <a:endParaRPr lang="en-US" sz="62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097"/>
                        </a:lnSpc>
                        <a:buNone/>
                      </a:pPr>
                      <a:r>
                        <a:rPr lang="en-US" sz="730" b="1" dirty="0">
                          <a:solidFill>
                            <a:srgbClr val="C9D1D9"/>
                          </a:solidFill>
                          <a:highlight>
                            <a:srgbClr val="161B22"/>
                          </a:highlight>
                          <a:latin typeface="SF Pro Heavy" pitchFamily="34" charset="0"/>
                          <a:ea typeface="SF Pro Heavy" pitchFamily="34" charset="-122"/>
                          <a:cs typeface="SF Pro Heavy" pitchFamily="34" charset="-120"/>
                        </a:rPr>
                        <a:t>~23.4%</a:t>
                      </a:r>
                      <a:endParaRPr lang="en-US" sz="730" dirty="0">
                        <a:latin typeface="SF Pro Heavy" charset="0"/>
                        <a:ea typeface="SF Pro Heavy" charset="0"/>
                        <a:cs typeface="SF Pro Heavy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759"/>
                        </a:lnSpc>
                        <a:buNone/>
                      </a:pPr>
                      <a:r>
                        <a:rPr lang="en-US" sz="510" b="1" dirty="0">
                          <a:solidFill>
                            <a:srgbClr val="8B949E"/>
                          </a:solidFill>
                          <a:highlight>
                            <a:srgbClr val="161B22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stays in SW 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4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8B949E"/>
                          </a:solidFill>
                          <a:highlight>
                            <a:srgbClr val="161B22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Block loop control / MTF dispatch</a:t>
                      </a:r>
                      <a:endParaRPr lang="en-US" sz="56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8"/>
                        </a:lnSpc>
                        <a:buNone/>
                      </a:pPr>
                      <a:r>
                        <a:rPr lang="en-US" sz="620" b="1" dirty="0">
                          <a:solidFill>
                            <a:srgbClr val="F85149"/>
                          </a:solidFill>
                          <a:highlight>
                            <a:srgbClr val="1A0D0D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find_next_symbol</a:t>
                      </a:r>
                      <a:endParaRPr lang="en-US" sz="62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097"/>
                        </a:lnSpc>
                        <a:buNone/>
                      </a:pPr>
                      <a:r>
                        <a:rPr lang="en-US" sz="730" b="1" dirty="0">
                          <a:solidFill>
                            <a:srgbClr val="F85149"/>
                          </a:solidFill>
                          <a:highlight>
                            <a:srgbClr val="1A0D0D"/>
                          </a:highlight>
                          <a:latin typeface="SF Pro Heavy" pitchFamily="34" charset="0"/>
                          <a:ea typeface="SF Pro Heavy" pitchFamily="34" charset="-122"/>
                          <a:cs typeface="SF Pro Heavy" pitchFamily="34" charset="-120"/>
                        </a:rPr>
                        <a:t>15.85%</a:t>
                      </a:r>
                      <a:endParaRPr lang="en-US" sz="730" dirty="0">
                        <a:latin typeface="SF Pro Heavy" charset="0"/>
                        <a:ea typeface="SF Pro Heavy" charset="0"/>
                        <a:cs typeface="SF Pro Heavy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759"/>
                        </a:lnSpc>
                        <a:buNone/>
                      </a:pPr>
                      <a:r>
                        <a:rPr lang="en-US" sz="510" b="1" dirty="0">
                          <a:solidFill>
                            <a:srgbClr val="58A6FF"/>
                          </a:solidFill>
                          <a:highlight>
                            <a:srgbClr val="0D1A2E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Huffman (A) 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4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8B949E"/>
                          </a:solidFill>
                          <a:highlight>
                            <a:srgbClr val="1A0D0D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Linear scan of code table per symbol</a:t>
                      </a:r>
                      <a:endParaRPr lang="en-US" sz="56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D0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8"/>
                        </a:lnSpc>
                        <a:buNone/>
                      </a:pPr>
                      <a:r>
                        <a:rPr lang="en-US" sz="620" b="1" dirty="0">
                          <a:solidFill>
                            <a:srgbClr val="F85149"/>
                          </a:solidFill>
                          <a:highlight>
                            <a:srgbClr val="1A0D0D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readbits</a:t>
                      </a:r>
                      <a:endParaRPr lang="en-US" sz="62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097"/>
                        </a:lnSpc>
                        <a:buNone/>
                      </a:pPr>
                      <a:r>
                        <a:rPr lang="en-US" sz="730" b="1" dirty="0">
                          <a:solidFill>
                            <a:srgbClr val="F85149"/>
                          </a:solidFill>
                          <a:highlight>
                            <a:srgbClr val="1A0D0D"/>
                          </a:highlight>
                          <a:latin typeface="SF Pro Heavy" pitchFamily="34" charset="0"/>
                          <a:ea typeface="SF Pro Heavy" pitchFamily="34" charset="-122"/>
                          <a:cs typeface="SF Pro Heavy" pitchFamily="34" charset="-120"/>
                        </a:rPr>
                        <a:t>10.32%</a:t>
                      </a:r>
                      <a:endParaRPr lang="en-US" sz="730" dirty="0">
                        <a:latin typeface="SF Pro Heavy" charset="0"/>
                        <a:ea typeface="SF Pro Heavy" charset="0"/>
                        <a:cs typeface="SF Pro Heavy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759"/>
                        </a:lnSpc>
                        <a:buNone/>
                      </a:pPr>
                      <a:r>
                        <a:rPr lang="en-US" sz="510" b="1" dirty="0">
                          <a:solidFill>
                            <a:srgbClr val="58A6FF"/>
                          </a:solidFill>
                          <a:highlight>
                            <a:srgbClr val="0D1A2E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Bit-read (A) 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4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8B949E"/>
                          </a:solidFill>
                          <a:highlight>
                            <a:srgbClr val="1A0D0D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Read N bits from the stream</a:t>
                      </a:r>
                      <a:endParaRPr lang="en-US" sz="56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D0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8"/>
                        </a:lnSpc>
                        <a:buNone/>
                      </a:pPr>
                      <a:r>
                        <a:rPr lang="en-US" sz="620" b="1" dirty="0">
                          <a:solidFill>
                            <a:srgbClr val="FFA657"/>
                          </a:solidFill>
                          <a:highlight>
                            <a:srgbClr val="1A1200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move_to_front</a:t>
                      </a:r>
                      <a:endParaRPr lang="en-US" sz="62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5C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5C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5C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5C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097"/>
                        </a:lnSpc>
                        <a:buNone/>
                      </a:pPr>
                      <a:r>
                        <a:rPr lang="en-US" sz="730" b="1" dirty="0">
                          <a:solidFill>
                            <a:srgbClr val="FFA657"/>
                          </a:solidFill>
                          <a:highlight>
                            <a:srgbClr val="1A1200"/>
                          </a:highlight>
                          <a:latin typeface="SF Pro Heavy" pitchFamily="34" charset="0"/>
                          <a:ea typeface="SF Pro Heavy" pitchFamily="34" charset="-122"/>
                          <a:cs typeface="SF Pro Heavy" pitchFamily="34" charset="-120"/>
                        </a:rPr>
                        <a:t>10.30%</a:t>
                      </a:r>
                      <a:endParaRPr lang="en-US" sz="730" dirty="0">
                        <a:latin typeface="SF Pro Heavy" charset="0"/>
                        <a:ea typeface="SF Pro Heavy" charset="0"/>
                        <a:cs typeface="SF Pro Heavy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5C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5C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5C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5C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759"/>
                        </a:lnSpc>
                        <a:buNone/>
                      </a:pPr>
                      <a:r>
                        <a:rPr lang="en-US" sz="510" b="1" dirty="0">
                          <a:solidFill>
                            <a:srgbClr val="FFA657"/>
                          </a:solidFill>
                          <a:highlight>
                            <a:srgbClr val="1A1200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MTF (B) 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5C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5C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5C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5C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4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8B949E"/>
                          </a:solidFill>
                          <a:highlight>
                            <a:srgbClr val="1A1200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4 new list allocs per symbol</a:t>
                      </a:r>
                      <a:endParaRPr lang="en-US" sz="56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5C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5C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5C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5C4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8"/>
                        </a:lnSpc>
                        <a:buNone/>
                      </a:pPr>
                      <a:r>
                        <a:rPr lang="en-US" sz="620" dirty="0">
                          <a:solidFill>
                            <a:srgbClr val="F85149"/>
                          </a:solidFill>
                          <a:highlight>
                            <a:srgbClr val="1A0D0D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snoopbits</a:t>
                      </a:r>
                      <a:endParaRPr lang="en-US" sz="62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b="1" dirty="0">
                          <a:solidFill>
                            <a:srgbClr val="F85149"/>
                          </a:solidFill>
                          <a:highlight>
                            <a:srgbClr val="1A0D0D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9.55%</a:t>
                      </a: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759"/>
                        </a:lnSpc>
                        <a:buNone/>
                      </a:pPr>
                      <a:r>
                        <a:rPr lang="en-US" sz="510" b="1" dirty="0">
                          <a:solidFill>
                            <a:srgbClr val="58A6FF"/>
                          </a:solidFill>
                          <a:highlight>
                            <a:srgbClr val="0D1A2E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Bit-read (A) 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4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8B949E"/>
                          </a:solidFill>
                          <a:highlight>
                            <a:srgbClr val="1A0D0D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Peek at bits without consuming</a:t>
                      </a:r>
                      <a:endParaRPr lang="en-US" sz="56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5C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D0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8"/>
                        </a:lnSpc>
                        <a:buNone/>
                      </a:pPr>
                      <a:r>
                        <a:rPr lang="en-US" sz="620" dirty="0">
                          <a:solidFill>
                            <a:srgbClr val="C9D1D9"/>
                          </a:solidFill>
                          <a:highlight>
                            <a:srgbClr val="161B22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_mask / bwt_reverse / bwt_transform</a:t>
                      </a:r>
                      <a:endParaRPr lang="en-US" sz="62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b="1" dirty="0">
                          <a:solidFill>
                            <a:srgbClr val="C9D1D9"/>
                          </a:solidFill>
                          <a:highlight>
                            <a:srgbClr val="161B22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5.8 / 4.2 / 3.6%</a:t>
                      </a: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759"/>
                        </a:lnSpc>
                        <a:buNone/>
                      </a:pPr>
                      <a:r>
                        <a:rPr lang="en-US" sz="510" b="1" dirty="0">
                          <a:solidFill>
                            <a:srgbClr val="8B949E"/>
                          </a:solidFill>
                          <a:highlight>
                            <a:srgbClr val="161B22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stays in SW 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4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8B949E"/>
                          </a:solidFill>
                          <a:highlight>
                            <a:srgbClr val="161B22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Bit-mask helper / inverse BWT / BWT helper</a:t>
                      </a:r>
                      <a:endParaRPr lang="en-US" sz="56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8"/>
                        </a:lnSpc>
                        <a:buNone/>
                      </a:pPr>
                      <a:r>
                        <a:rPr lang="en-US" sz="620" dirty="0">
                          <a:solidFill>
                            <a:srgbClr val="8B949E"/>
                          </a:solidFill>
                          <a:highlight>
                            <a:srgbClr val="0D1117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_read / _more / needbits</a:t>
                      </a:r>
                      <a:endParaRPr lang="en-US" sz="62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b="1" dirty="0">
                          <a:solidFill>
                            <a:srgbClr val="8B949E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3.3 / 3.1 / 1.5%</a:t>
                      </a: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759"/>
                        </a:lnSpc>
                        <a:buNone/>
                      </a:pPr>
                      <a:r>
                        <a:rPr lang="en-US" sz="510" b="1" dirty="0">
                          <a:solidFill>
                            <a:srgbClr val="58A6FF"/>
                          </a:solidFill>
                          <a:highlight>
                            <a:srgbClr val="0D1A2E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Bit-read (A) 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4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8B949E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Internal bit-stream helpers</a:t>
                      </a:r>
                      <a:endParaRPr lang="en-US" sz="56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8651" y="4159448"/>
            <a:ext cx="1135856" cy="214313"/>
          </a:xfrm>
          <a:prstGeom prst="roundRect">
            <a:avLst>
              <a:gd name="adj" fmla="val 20000"/>
            </a:avLst>
          </a:prstGeom>
          <a:solidFill>
            <a:srgbClr val="0D1A2E"/>
          </a:solidFill>
          <a:ln w="7144">
            <a:solidFill>
              <a:srgbClr val="1A3A5C"/>
            </a:solidFill>
            <a:prstDash val="solid"/>
          </a:ln>
        </p:spPr>
        <p:txBody>
          <a:bodyPr wrap="square" lIns="35719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60" b="1" dirty="0">
                <a:solidFill>
                  <a:srgbClr val="58A6FF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(A)</a:t>
            </a:r>
            <a:pPr algn="l" indent="0" marL="0">
              <a:buNone/>
            </a:pPr>
            <a:r>
              <a:rPr lang="en-US" sz="56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 43.55%</a:t>
            </a:r>
            <a:endParaRPr lang="en-US" sz="560" dirty="0"/>
          </a:p>
        </p:txBody>
      </p:sp>
      <p:sp>
        <p:nvSpPr>
          <p:cNvPr id="6" name="Text 3"/>
          <p:cNvSpPr/>
          <p:nvPr/>
        </p:nvSpPr>
        <p:spPr>
          <a:xfrm>
            <a:off x="1640328" y="4159448"/>
            <a:ext cx="1135856" cy="214313"/>
          </a:xfrm>
          <a:prstGeom prst="roundRect">
            <a:avLst>
              <a:gd name="adj" fmla="val 20000"/>
            </a:avLst>
          </a:prstGeom>
          <a:solidFill>
            <a:srgbClr val="1A1200"/>
          </a:solidFill>
          <a:ln w="7144">
            <a:solidFill>
              <a:srgbClr val="FFA657"/>
            </a:solidFill>
            <a:prstDash val="solid"/>
          </a:ln>
        </p:spPr>
        <p:txBody>
          <a:bodyPr wrap="square" lIns="35719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60" b="1" dirty="0">
                <a:solidFill>
                  <a:srgbClr val="FFA657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(B)</a:t>
            </a:r>
            <a:pPr algn="l" indent="0" marL="0">
              <a:buNone/>
            </a:pPr>
            <a:r>
              <a:rPr lang="en-US" sz="56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 10.30%</a:t>
            </a:r>
            <a:endParaRPr lang="en-US" sz="560" dirty="0"/>
          </a:p>
        </p:txBody>
      </p:sp>
      <p:sp>
        <p:nvSpPr>
          <p:cNvPr id="7" name="Text 4"/>
          <p:cNvSpPr/>
          <p:nvPr/>
        </p:nvSpPr>
        <p:spPr>
          <a:xfrm>
            <a:off x="2822060" y="4159448"/>
            <a:ext cx="1135856" cy="214313"/>
          </a:xfrm>
          <a:prstGeom prst="roundRect">
            <a:avLst>
              <a:gd name="adj" fmla="val 20000"/>
            </a:avLst>
          </a:prstGeom>
          <a:solidFill>
            <a:srgbClr val="0D2018"/>
          </a:solidFill>
          <a:ln w="7144">
            <a:solidFill>
              <a:srgbClr val="2A5C3A"/>
            </a:solidFill>
            <a:prstDash val="solid"/>
          </a:ln>
        </p:spPr>
        <p:txBody>
          <a:bodyPr wrap="square" lIns="35719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60" b="1" dirty="0">
                <a:solidFill>
                  <a:srgbClr val="3FB950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(A+B)</a:t>
            </a:r>
            <a:pPr algn="l" indent="0" marL="0">
              <a:buNone/>
            </a:pPr>
            <a:r>
              <a:rPr lang="en-US" sz="56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 53.85% → ~2.16×</a:t>
            </a:r>
            <a:endParaRPr lang="en-US" sz="560" dirty="0"/>
          </a:p>
        </p:txBody>
      </p:sp>
      <p:sp>
        <p:nvSpPr>
          <p:cNvPr id="8" name="Text 5"/>
          <p:cNvSpPr/>
          <p:nvPr/>
        </p:nvSpPr>
        <p:spPr>
          <a:xfrm>
            <a:off x="4003793" y="4159448"/>
            <a:ext cx="1135856" cy="214313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lIns="35719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60" b="1" dirty="0">
                <a:solidFill>
                  <a:srgbClr val="484F58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SW</a:t>
            </a:r>
            <a:pPr algn="l" indent="0" marL="0">
              <a:buNone/>
            </a:pPr>
            <a:r>
              <a:rPr lang="en-US" sz="56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 ~46% → next stage</a:t>
            </a:r>
            <a:endParaRPr lang="en-US" sz="560" dirty="0"/>
          </a:p>
        </p:txBody>
      </p:sp>
      <p:grpSp>
        <p:nvGrpSpPr>
          <p:cNvPr id="15" name="Group g58"/>
          <p:cNvGrpSpPr/>
          <p:nvPr/>
        </p:nvGrpSpPr>
        <p:grpSpPr>
          <a:xfrm>
            <a:off x="5342353" y="-3387142"/>
            <a:ext cx="3343275" cy="5932103"/>
            <a:chOff x="5342353" y="-3387142"/>
            <a:chExt cx="3343275" cy="5932103"/>
          </a:xfrm>
        </p:grpSpPr>
        <p:sp>
          <p:nvSpPr>
            <p:cNvPr id="9" name="Shape"/>
            <p:cNvSpPr/>
            <p:nvPr/>
          </p:nvSpPr>
          <p:spPr>
            <a:xfrm>
              <a:off x="5342353" y="1409105"/>
              <a:ext cx="3343275" cy="1135856"/>
            </a:xfrm>
            <a:prstGeom prst="roundRect">
              <a:avLst>
                <a:gd name="adj" fmla="val 5031"/>
              </a:avLst>
            </a:prstGeom>
            <a:ln w="7144">
              <a:solidFill>
                <a:srgbClr val="30363D"/>
              </a:solidFill>
              <a:prstDash val="solid"/>
            </a:ln>
          </p:spPr>
        </p:sp>
        <p:sp>
          <p:nvSpPr>
            <p:cNvPr id="10" name="Shape"/>
            <p:cNvSpPr/>
            <p:nvPr/>
          </p:nvSpPr>
          <p:spPr>
            <a:xfrm>
              <a:off x="5349497" y="1416248"/>
              <a:ext cx="3328987" cy="192881"/>
            </a:xfrm>
            <a:prstGeom prst="rect">
              <a:avLst/>
            </a:prstGeom>
            <a:solidFill>
              <a:srgbClr val="161B22"/>
            </a:solidFill>
            <a:ln/>
          </p:spPr>
          <p:txBody>
            <a:bodyPr wrap="square" lIns="42863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F85149"/>
                  </a:solidFill>
                  <a:latin typeface="monospace" pitchFamily="34" charset="0"/>
                  <a:ea typeface="monospace" pitchFamily="34" charset="-122"/>
                  <a:cs typeface="monospace" pitchFamily="34" charset="-120"/>
                </a:rPr>
                <a:t>pyflate baseline — before</a:t>
              </a:r>
              <a:endParaRPr lang="en-US" sz="620" dirty="0"/>
            </a:p>
          </p:txBody>
        </p:sp>
        <p:pic>
          <p:nvPicPr>
            <p:cNvPr id="11" name="Shape" descr="preencoded.png">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49497" y="-3387142"/>
              <a:ext cx="3328987" cy="5922169"/>
            </a:xfrm>
            <a:prstGeom prst="rect">
              <a:avLst/>
            </a:prstGeom>
          </p:spPr>
        </p:pic>
      </p:grpSp>
      <p:grpSp>
        <p:nvGrpSpPr>
          <p:cNvPr id="16" name="Group g59"/>
          <p:cNvGrpSpPr/>
          <p:nvPr/>
        </p:nvGrpSpPr>
        <p:grpSpPr>
          <a:xfrm>
            <a:off x="5342353" y="-2197708"/>
            <a:ext cx="3343275" cy="5932103"/>
            <a:chOff x="5342353" y="-2197708"/>
            <a:chExt cx="3343275" cy="5932103"/>
          </a:xfrm>
        </p:grpSpPr>
        <p:sp>
          <p:nvSpPr>
            <p:cNvPr id="12" name="Shape"/>
            <p:cNvSpPr/>
            <p:nvPr/>
          </p:nvSpPr>
          <p:spPr>
            <a:xfrm>
              <a:off x="5342353" y="2598539"/>
              <a:ext cx="3343275" cy="1135856"/>
            </a:xfrm>
            <a:prstGeom prst="roundRect">
              <a:avLst>
                <a:gd name="adj" fmla="val 5031"/>
              </a:avLst>
            </a:prstGeom>
            <a:ln w="7144">
              <a:solidFill>
                <a:srgbClr val="2A5C3A"/>
              </a:solidFill>
              <a:prstDash val="solid"/>
            </a:ln>
          </p:spPr>
        </p:sp>
        <p:sp>
          <p:nvSpPr>
            <p:cNvPr id="13" name="Shape"/>
            <p:cNvSpPr/>
            <p:nvPr/>
          </p:nvSpPr>
          <p:spPr>
            <a:xfrm>
              <a:off x="5349497" y="2605683"/>
              <a:ext cx="3328987" cy="192881"/>
            </a:xfrm>
            <a:prstGeom prst="rect">
              <a:avLst/>
            </a:prstGeom>
            <a:solidFill>
              <a:srgbClr val="0D2018"/>
            </a:solidFill>
            <a:ln/>
          </p:spPr>
          <p:txBody>
            <a:bodyPr wrap="square" lIns="42863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3FB950"/>
                  </a:solidFill>
                  <a:latin typeface="monospace" pitchFamily="34" charset="0"/>
                  <a:ea typeface="monospace" pitchFamily="34" charset="-122"/>
                  <a:cs typeface="monospace" pitchFamily="34" charset="-120"/>
                </a:rPr>
                <a:t>pyflate optimized — after</a:t>
              </a:r>
              <a:endParaRPr lang="en-US" sz="620" dirty="0"/>
            </a:p>
          </p:txBody>
        </p:sp>
        <p:pic>
          <p:nvPicPr>
            <p:cNvPr id="14" name="Shape" descr="preencoded.png">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49497" y="-2197708"/>
              <a:ext cx="3328987" cy="592216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1087636"/>
            <a:ext cx="828675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Aft>
                <a:spcPts val="450"/>
              </a:spcAft>
              <a:buNone/>
            </a:pPr>
            <a:r>
              <a:rPr lang="en-US" sz="680" b="1" spc="101" kern="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BZIP2 DECODE PATH · STAGE BY STAGE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428625" y="1273373"/>
            <a:ext cx="8286750" cy="364331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2869"/>
              </a:lnSpc>
              <a:buNone/>
            </a:pPr>
            <a:r>
              <a:rPr lang="en-US" sz="1910" b="1" spc="-28" kern="0" dirty="0">
                <a:solidFill>
                  <a:srgbClr val="E6EDF3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pyflate — </a:t>
            </a:r>
            <a:pPr algn="l" indent="0" marL="0">
              <a:buNone/>
            </a:pPr>
            <a:r>
              <a:rPr lang="en-US" sz="1910" b="1" spc="-28" kern="0" dirty="0">
                <a:solidFill>
                  <a:srgbClr val="58A6FF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Decompression Pipeline</a:t>
            </a:r>
            <a:endParaRPr lang="en-US" sz="1910" dirty="0"/>
          </a:p>
        </p:txBody>
      </p:sp>
      <p:grpSp>
        <p:nvGrpSpPr>
          <p:cNvPr id="42" name="Group g60"/>
          <p:cNvGrpSpPr/>
          <p:nvPr/>
        </p:nvGrpSpPr>
        <p:grpSpPr>
          <a:xfrm>
            <a:off x="429853" y="1780580"/>
            <a:ext cx="1521619" cy="1243013"/>
            <a:chOff x="429853" y="1780580"/>
            <a:chExt cx="1521619" cy="1243013"/>
          </a:xfrm>
        </p:grpSpPr>
        <p:pic>
          <p:nvPicPr>
            <p:cNvPr id="4" name="Shape" descr="preencoded.png">    </p:cNvPr>
            <p:cNvPicPr>
              <a:picLocks noChangeAspect="1"/>
            </p:cNvPicPr>
            <p:nvPr/>
          </p:nvPicPr>
          <p:blipFill>
            <a:blip r:embed="rId2"> </a:blip>
            <a:stretch>
              <a:fillRect/>
            </a:stretch>
          </p:blipFill>
          <p:spPr>
            <a:xfrm>
              <a:off x="429853" y="1780580"/>
              <a:ext cx="1521619" cy="1243013"/>
            </a:xfrm>
            <a:prstGeom prst="rect">
              <a:avLst/>
            </a:prstGeom>
          </p:spPr>
        </p:pic>
        <p:sp>
          <p:nvSpPr>
            <p:cNvPr id="5" name="Shape"/>
            <p:cNvSpPr/>
            <p:nvPr/>
          </p:nvSpPr>
          <p:spPr>
            <a:xfrm>
              <a:off x="537009" y="1900238"/>
              <a:ext cx="1307306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928"/>
                </a:lnSpc>
                <a:spcAft>
                  <a:spcPts val="338"/>
                </a:spcAft>
                <a:buNone/>
              </a:pPr>
              <a:r>
                <a:rPr lang="en-US" sz="620" b="1" spc="56" kern="0" dirty="0">
                  <a:solidFill>
                    <a:srgbClr val="F8514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🔥 HOT</a:t>
              </a:r>
              <a:endParaRPr lang="en-US" sz="620" dirty="0"/>
            </a:p>
          </p:txBody>
        </p:sp>
        <p:sp>
          <p:nvSpPr>
            <p:cNvPr id="6" name="Shape"/>
            <p:cNvSpPr/>
            <p:nvPr/>
          </p:nvSpPr>
          <p:spPr>
            <a:xfrm>
              <a:off x="537009" y="2060972"/>
              <a:ext cx="1307306" cy="16430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1266"/>
                </a:lnSpc>
                <a:spcAft>
                  <a:spcPts val="338"/>
                </a:spcAft>
                <a:buNone/>
              </a:pPr>
              <a:r>
                <a:rPr lang="en-US" sz="840" b="1" dirty="0">
                  <a:solidFill>
                    <a:srgbClr val="E6EDF3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Bit Reader</a:t>
              </a:r>
              <a:endParaRPr lang="en-US" sz="840" dirty="0"/>
            </a:p>
          </p:txBody>
        </p:sp>
        <p:sp>
          <p:nvSpPr>
            <p:cNvPr id="7" name="Shape"/>
            <p:cNvSpPr/>
            <p:nvPr/>
          </p:nvSpPr>
          <p:spPr>
            <a:xfrm>
              <a:off x="537009" y="2266355"/>
              <a:ext cx="1307306" cy="4714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780"/>
                </a:lnSpc>
                <a:buNone/>
              </a:pPr>
              <a:r>
                <a:rPr lang="en-US" sz="52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RBitfield</a:t>
              </a:r>
              <a:pPr algn="ctr" indent="0" marL="0">
                <a:buNone/>
              </a:pPr>
              <a:endParaRPr lang="en-US" sz="520" dirty="0"/>
            </a:p>
            <a:p>
              <a:pPr algn="ctr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reads 1 byte</a:t>
              </a:r>
              <a:pPr algn="ctr" indent="0" marL="0">
                <a:buNone/>
              </a:pPr>
              <a:endParaRPr lang="en-US" sz="520" dirty="0"/>
            </a:p>
            <a:p>
              <a:pPr algn="ctr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at a time via</a:t>
              </a:r>
              <a:pPr algn="ctr" indent="0" marL="0">
                <a:buNone/>
              </a:pPr>
              <a:endParaRPr lang="en-US" sz="520" dirty="0"/>
            </a:p>
            <a:p>
              <a:pPr algn="ctr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file object</a:t>
              </a:r>
              <a:endParaRPr lang="en-US" sz="520" dirty="0"/>
            </a:p>
          </p:txBody>
        </p:sp>
        <p:sp>
          <p:nvSpPr>
            <p:cNvPr id="8" name="Shape"/>
            <p:cNvSpPr/>
            <p:nvPr/>
          </p:nvSpPr>
          <p:spPr>
            <a:xfrm>
              <a:off x="537009" y="2794992"/>
              <a:ext cx="1307306" cy="10715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844"/>
                </a:lnSpc>
                <a:spcBef>
                  <a:spcPts val="450"/>
                </a:spcBef>
                <a:buNone/>
              </a:pPr>
              <a:r>
                <a:rPr lang="en-US" sz="560" b="1" dirty="0">
                  <a:solidFill>
                    <a:srgbClr val="F8514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27.70% of runtime</a:t>
              </a:r>
              <a:endParaRPr lang="en-US" sz="560" dirty="0"/>
            </a:p>
          </p:txBody>
        </p:sp>
      </p:grpSp>
      <p:sp>
        <p:nvSpPr>
          <p:cNvPr id="9" name="Text 6"/>
          <p:cNvSpPr/>
          <p:nvPr/>
        </p:nvSpPr>
        <p:spPr>
          <a:xfrm>
            <a:off x="1953816" y="1780580"/>
            <a:ext cx="171450" cy="1243013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0" dirty="0">
                <a:solidFill>
                  <a:srgbClr val="58A6FF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→</a:t>
            </a:r>
            <a:endParaRPr lang="en-US" sz="1010" dirty="0"/>
          </a:p>
        </p:txBody>
      </p:sp>
      <p:grpSp>
        <p:nvGrpSpPr>
          <p:cNvPr id="43" name="Group g61"/>
          <p:cNvGrpSpPr/>
          <p:nvPr/>
        </p:nvGrpSpPr>
        <p:grpSpPr>
          <a:xfrm>
            <a:off x="2127665" y="1780580"/>
            <a:ext cx="1507331" cy="1243013"/>
            <a:chOff x="2127665" y="1780580"/>
            <a:chExt cx="1507331" cy="1243013"/>
          </a:xfrm>
        </p:grpSpPr>
        <p:sp>
          <p:nvSpPr>
            <p:cNvPr id="10" name="Shape"/>
            <p:cNvSpPr/>
            <p:nvPr/>
          </p:nvSpPr>
          <p:spPr>
            <a:xfrm>
              <a:off x="2127665" y="1780580"/>
              <a:ext cx="1507331" cy="1243013"/>
            </a:xfrm>
            <a:prstGeom prst="rect">
              <a:avLst/>
            </a:prstGeom>
            <a:solidFill>
              <a:srgbClr val="1A0D0D"/>
            </a:solidFill>
            <a:ln/>
          </p:spPr>
        </p:sp>
        <p:sp>
          <p:nvSpPr>
            <p:cNvPr id="11" name="Shape"/>
            <p:cNvSpPr/>
            <p:nvPr/>
          </p:nvSpPr>
          <p:spPr>
            <a:xfrm>
              <a:off x="2227678" y="1900238"/>
              <a:ext cx="1307306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928"/>
                </a:lnSpc>
                <a:spcAft>
                  <a:spcPts val="338"/>
                </a:spcAft>
                <a:buNone/>
              </a:pPr>
              <a:r>
                <a:rPr lang="en-US" sz="620" b="1" spc="56" kern="0" dirty="0">
                  <a:solidFill>
                    <a:srgbClr val="FFA65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🔥 HOT</a:t>
              </a:r>
              <a:endParaRPr lang="en-US" sz="620" dirty="0"/>
            </a:p>
          </p:txBody>
        </p:sp>
        <p:sp>
          <p:nvSpPr>
            <p:cNvPr id="12" name="Shape"/>
            <p:cNvSpPr/>
            <p:nvPr/>
          </p:nvSpPr>
          <p:spPr>
            <a:xfrm>
              <a:off x="2227678" y="2060972"/>
              <a:ext cx="1307306" cy="16430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1266"/>
                </a:lnSpc>
                <a:spcAft>
                  <a:spcPts val="338"/>
                </a:spcAft>
                <a:buNone/>
              </a:pPr>
              <a:r>
                <a:rPr lang="en-US" sz="840" b="1" dirty="0">
                  <a:solidFill>
                    <a:srgbClr val="E6EDF3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Huffman Decode</a:t>
              </a:r>
              <a:endParaRPr lang="en-US" sz="840" dirty="0"/>
            </a:p>
          </p:txBody>
        </p:sp>
        <p:sp>
          <p:nvSpPr>
            <p:cNvPr id="13" name="Shape"/>
            <p:cNvSpPr/>
            <p:nvPr/>
          </p:nvSpPr>
          <p:spPr>
            <a:xfrm>
              <a:off x="2227678" y="2266355"/>
              <a:ext cx="1307306" cy="4714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780"/>
                </a:lnSpc>
                <a:buNone/>
              </a:pPr>
              <a:r>
                <a:rPr lang="en-US" sz="52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find_next_symbol</a:t>
              </a:r>
              <a:pPr algn="ctr" indent="0" marL="0">
                <a:buNone/>
              </a:pPr>
              <a:endParaRPr lang="en-US" sz="520" dirty="0"/>
            </a:p>
            <a:p>
              <a:pPr algn="ctr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linear scan of</a:t>
              </a:r>
              <a:pPr algn="ctr" indent="0" marL="0">
                <a:buNone/>
              </a:pPr>
              <a:endParaRPr lang="en-US" sz="520" dirty="0"/>
            </a:p>
            <a:p>
              <a:pPr algn="ctr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code table</a:t>
              </a:r>
              <a:pPr algn="ctr" indent="0" marL="0">
                <a:buNone/>
              </a:pPr>
              <a:endParaRPr lang="en-US" sz="520" dirty="0"/>
            </a:p>
            <a:p>
              <a:pPr algn="ctr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per symbol</a:t>
              </a:r>
              <a:endParaRPr lang="en-US" sz="520" dirty="0"/>
            </a:p>
          </p:txBody>
        </p:sp>
        <p:sp>
          <p:nvSpPr>
            <p:cNvPr id="14" name="Shape"/>
            <p:cNvSpPr/>
            <p:nvPr/>
          </p:nvSpPr>
          <p:spPr>
            <a:xfrm>
              <a:off x="2227678" y="2794992"/>
              <a:ext cx="1307306" cy="10715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844"/>
                </a:lnSpc>
                <a:spcBef>
                  <a:spcPts val="450"/>
                </a:spcBef>
                <a:buNone/>
              </a:pPr>
              <a:r>
                <a:rPr lang="en-US" sz="560" b="1" dirty="0">
                  <a:solidFill>
                    <a:srgbClr val="FFA65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15.85% of runtime</a:t>
              </a:r>
              <a:endParaRPr lang="en-US" sz="560" dirty="0"/>
            </a:p>
          </p:txBody>
        </p:sp>
        <p:pic>
          <p:nvPicPr>
            <p:cNvPr id="40" name="Shape" descr="preencoded.png">    </p:cNvPr>
            <p:cNvPicPr>
              <a:picLocks noChangeAspect="1"/>
            </p:cNvPicPr>
            <p:nvPr/>
          </p:nvPicPr>
          <p:blipFill>
            <a:blip r:embed="rId6"> </a:blip>
            <a:stretch>
              <a:fillRect/>
            </a:stretch>
          </p:blipFill>
          <p:spPr>
            <a:xfrm>
              <a:off x="2127665" y="1780580"/>
              <a:ext cx="1507331" cy="1243013"/>
            </a:xfrm>
            <a:prstGeom prst="rect">
              <a:avLst/>
            </a:prstGeom>
          </p:spPr>
        </p:pic>
      </p:grpSp>
      <p:sp>
        <p:nvSpPr>
          <p:cNvPr id="15" name="Text 12"/>
          <p:cNvSpPr/>
          <p:nvPr/>
        </p:nvSpPr>
        <p:spPr>
          <a:xfrm>
            <a:off x="3637397" y="1780580"/>
            <a:ext cx="171450" cy="1243013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0" dirty="0">
                <a:solidFill>
                  <a:srgbClr val="58A6FF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→</a:t>
            </a:r>
            <a:endParaRPr lang="en-US" sz="1010" dirty="0"/>
          </a:p>
        </p:txBody>
      </p:sp>
      <p:grpSp>
        <p:nvGrpSpPr>
          <p:cNvPr id="44" name="Group g62"/>
          <p:cNvGrpSpPr/>
          <p:nvPr/>
        </p:nvGrpSpPr>
        <p:grpSpPr>
          <a:xfrm>
            <a:off x="3811191" y="1780580"/>
            <a:ext cx="1507331" cy="1243013"/>
            <a:chOff x="3811191" y="1780580"/>
            <a:chExt cx="1507331" cy="1243013"/>
          </a:xfrm>
        </p:grpSpPr>
        <p:sp>
          <p:nvSpPr>
            <p:cNvPr id="16" name="Shape"/>
            <p:cNvSpPr/>
            <p:nvPr/>
          </p:nvSpPr>
          <p:spPr>
            <a:xfrm>
              <a:off x="3811191" y="1780580"/>
              <a:ext cx="1507331" cy="1243013"/>
            </a:xfrm>
            <a:prstGeom prst="rect">
              <a:avLst/>
            </a:prstGeom>
            <a:solidFill>
              <a:srgbClr val="1A0D0D"/>
            </a:solidFill>
            <a:ln/>
          </p:spPr>
        </p:sp>
        <p:sp>
          <p:nvSpPr>
            <p:cNvPr id="17" name="Shape"/>
            <p:cNvSpPr/>
            <p:nvPr/>
          </p:nvSpPr>
          <p:spPr>
            <a:xfrm>
              <a:off x="3911203" y="1900238"/>
              <a:ext cx="1307306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928"/>
                </a:lnSpc>
                <a:spcAft>
                  <a:spcPts val="338"/>
                </a:spcAft>
                <a:buNone/>
              </a:pPr>
              <a:r>
                <a:rPr lang="en-US" sz="620" b="1" spc="56" kern="0" dirty="0">
                  <a:solidFill>
                    <a:srgbClr val="FFA65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🔥 HOT</a:t>
              </a:r>
              <a:endParaRPr lang="en-US" sz="620" dirty="0"/>
            </a:p>
          </p:txBody>
        </p:sp>
        <p:sp>
          <p:nvSpPr>
            <p:cNvPr id="18" name="Shape"/>
            <p:cNvSpPr/>
            <p:nvPr/>
          </p:nvSpPr>
          <p:spPr>
            <a:xfrm>
              <a:off x="3911203" y="2060972"/>
              <a:ext cx="1307306" cy="16430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1266"/>
                </a:lnSpc>
                <a:spcAft>
                  <a:spcPts val="338"/>
                </a:spcAft>
                <a:buNone/>
              </a:pPr>
              <a:r>
                <a:rPr lang="en-US" sz="840" b="1" dirty="0">
                  <a:solidFill>
                    <a:srgbClr val="E6EDF3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Move-To-Front</a:t>
              </a:r>
              <a:endParaRPr lang="en-US" sz="840" dirty="0"/>
            </a:p>
          </p:txBody>
        </p:sp>
        <p:sp>
          <p:nvSpPr>
            <p:cNvPr id="19" name="Shape"/>
            <p:cNvSpPr/>
            <p:nvPr/>
          </p:nvSpPr>
          <p:spPr>
            <a:xfrm>
              <a:off x="3911203" y="2266355"/>
              <a:ext cx="1307306" cy="4714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780"/>
                </a:lnSpc>
                <a:buNone/>
              </a:pPr>
              <a:r>
                <a:rPr lang="en-US" sz="52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move_to_front</a:t>
              </a:r>
              <a:pPr algn="ctr" indent="0" marL="0">
                <a:buNone/>
              </a:pPr>
              <a:endParaRPr lang="en-US" sz="520" dirty="0"/>
            </a:p>
            <a:p>
              <a:pPr algn="ctr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builds 4 new</a:t>
              </a:r>
              <a:pPr algn="ctr" indent="0" marL="0">
                <a:buNone/>
              </a:pPr>
              <a:endParaRPr lang="en-US" sz="520" dirty="0"/>
            </a:p>
            <a:p>
              <a:pPr algn="ctr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lists per</a:t>
              </a:r>
              <a:pPr algn="ctr" indent="0" marL="0">
                <a:buNone/>
              </a:pPr>
              <a:endParaRPr lang="en-US" sz="520" dirty="0"/>
            </a:p>
            <a:p>
              <a:pPr algn="ctr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symbol</a:t>
              </a:r>
              <a:endParaRPr lang="en-US" sz="520" dirty="0"/>
            </a:p>
          </p:txBody>
        </p:sp>
        <p:sp>
          <p:nvSpPr>
            <p:cNvPr id="20" name="Shape"/>
            <p:cNvSpPr/>
            <p:nvPr/>
          </p:nvSpPr>
          <p:spPr>
            <a:xfrm>
              <a:off x="3911203" y="2794992"/>
              <a:ext cx="1307306" cy="10715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844"/>
                </a:lnSpc>
                <a:spcBef>
                  <a:spcPts val="450"/>
                </a:spcBef>
                <a:buNone/>
              </a:pPr>
              <a:r>
                <a:rPr lang="en-US" sz="560" b="1" dirty="0">
                  <a:solidFill>
                    <a:srgbClr val="FFA65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dominant alloc churn</a:t>
              </a:r>
              <a:endParaRPr lang="en-US" sz="560" dirty="0"/>
            </a:p>
          </p:txBody>
        </p:sp>
        <p:pic>
          <p:nvPicPr>
            <p:cNvPr id="41" name="Shape" descr="preencoded.png">    </p:cNvPr>
            <p:cNvPicPr>
              <a:picLocks noChangeAspect="1"/>
            </p:cNvPicPr>
            <p:nvPr/>
          </p:nvPicPr>
          <p:blipFill>
            <a:blip r:embed="rId8"> </a:blip>
            <a:stretch>
              <a:fillRect/>
            </a:stretch>
          </p:blipFill>
          <p:spPr>
            <a:xfrm>
              <a:off x="3811191" y="1780580"/>
              <a:ext cx="1507331" cy="1243013"/>
            </a:xfrm>
            <a:prstGeom prst="rect">
              <a:avLst/>
            </a:prstGeom>
          </p:spPr>
        </p:pic>
      </p:grpSp>
      <p:sp>
        <p:nvSpPr>
          <p:cNvPr id="21" name="Text 18"/>
          <p:cNvSpPr/>
          <p:nvPr/>
        </p:nvSpPr>
        <p:spPr>
          <a:xfrm>
            <a:off x="5320866" y="1780580"/>
            <a:ext cx="171450" cy="1243013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0" dirty="0">
                <a:solidFill>
                  <a:srgbClr val="58A6FF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→</a:t>
            </a:r>
            <a:endParaRPr lang="en-US" sz="1010" dirty="0"/>
          </a:p>
        </p:txBody>
      </p:sp>
      <p:grpSp>
        <p:nvGrpSpPr>
          <p:cNvPr id="45" name="Group g63"/>
          <p:cNvGrpSpPr/>
          <p:nvPr/>
        </p:nvGrpSpPr>
        <p:grpSpPr>
          <a:xfrm>
            <a:off x="5494716" y="1780580"/>
            <a:ext cx="1521619" cy="1243013"/>
            <a:chOff x="5494716" y="1780580"/>
            <a:chExt cx="1521619" cy="1243013"/>
          </a:xfrm>
        </p:grpSpPr>
        <p:sp>
          <p:nvSpPr>
            <p:cNvPr id="22" name="Shape"/>
            <p:cNvSpPr/>
            <p:nvPr/>
          </p:nvSpPr>
          <p:spPr>
            <a:xfrm>
              <a:off x="5494716" y="1780580"/>
              <a:ext cx="1521619" cy="1243013"/>
            </a:xfrm>
            <a:prstGeom prst="rect">
              <a:avLst/>
            </a:prstGeom>
            <a:solidFill>
              <a:srgbClr val="161B22"/>
            </a:solidFill>
            <a:ln w="7144">
              <a:solidFill>
                <a:srgbClr val="30363D"/>
              </a:solidFill>
              <a:prstDash val="solid"/>
            </a:ln>
          </p:spPr>
        </p:sp>
        <p:sp>
          <p:nvSpPr>
            <p:cNvPr id="23" name="Shape"/>
            <p:cNvSpPr/>
            <p:nvPr/>
          </p:nvSpPr>
          <p:spPr>
            <a:xfrm>
              <a:off x="5601872" y="1900238"/>
              <a:ext cx="1307306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928"/>
                </a:lnSpc>
                <a:spcAft>
                  <a:spcPts val="338"/>
                </a:spcAft>
                <a:buNone/>
              </a:pPr>
              <a:r>
                <a:rPr lang="en-US" sz="620" b="1" spc="56" kern="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COOL</a:t>
              </a:r>
              <a:endParaRPr lang="en-US" sz="620" dirty="0"/>
            </a:p>
          </p:txBody>
        </p:sp>
        <p:sp>
          <p:nvSpPr>
            <p:cNvPr id="24" name="Shape"/>
            <p:cNvSpPr/>
            <p:nvPr/>
          </p:nvSpPr>
          <p:spPr>
            <a:xfrm>
              <a:off x="5601872" y="2060972"/>
              <a:ext cx="1307306" cy="16430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1266"/>
                </a:lnSpc>
                <a:spcAft>
                  <a:spcPts val="338"/>
                </a:spcAft>
                <a:buNone/>
              </a:pPr>
              <a:r>
                <a:rPr lang="en-US" sz="840" b="1" dirty="0">
                  <a:solidFill>
                    <a:srgbClr val="E6EDF3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RLE Decode</a:t>
              </a:r>
              <a:endParaRPr lang="en-US" sz="840" dirty="0"/>
            </a:p>
          </p:txBody>
        </p:sp>
        <p:sp>
          <p:nvSpPr>
            <p:cNvPr id="25" name="Shape"/>
            <p:cNvSpPr/>
            <p:nvPr/>
          </p:nvSpPr>
          <p:spPr>
            <a:xfrm>
              <a:off x="5601872" y="2266355"/>
              <a:ext cx="1307306" cy="4714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Run-length</a:t>
              </a:r>
              <a:pPr algn="ctr" indent="0" marL="0">
                <a:buNone/>
              </a:pPr>
              <a:endParaRPr lang="en-US" sz="620" dirty="0"/>
            </a:p>
            <a:p>
              <a:pPr algn="ctr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expansion</a:t>
              </a:r>
              <a:pPr algn="ctr" indent="0" marL="0">
                <a:buNone/>
              </a:pPr>
              <a:endParaRPr lang="en-US" sz="620" dirty="0"/>
            </a:p>
            <a:p>
              <a:pPr algn="ctr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once per</a:t>
              </a:r>
              <a:pPr algn="ctr" indent="0" marL="0">
                <a:buNone/>
              </a:pPr>
              <a:endParaRPr lang="en-US" sz="620" dirty="0"/>
            </a:p>
            <a:p>
              <a:pPr algn="ctr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block</a:t>
              </a:r>
              <a:endParaRPr lang="en-US" sz="620" dirty="0"/>
            </a:p>
          </p:txBody>
        </p:sp>
        <p:sp>
          <p:nvSpPr>
            <p:cNvPr id="26" name="Shape"/>
            <p:cNvSpPr/>
            <p:nvPr/>
          </p:nvSpPr>
          <p:spPr>
            <a:xfrm>
              <a:off x="5601872" y="2794992"/>
              <a:ext cx="1307306" cy="10715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844"/>
                </a:lnSpc>
                <a:spcBef>
                  <a:spcPts val="450"/>
                </a:spcBef>
                <a:buNone/>
              </a:pPr>
              <a:r>
                <a:rPr lang="en-US" sz="560" b="1" dirty="0">
                  <a:solidFill>
                    <a:srgbClr val="484F58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not dominant</a:t>
              </a:r>
              <a:endParaRPr lang="en-US" sz="560" dirty="0"/>
            </a:p>
          </p:txBody>
        </p:sp>
      </p:grpSp>
      <p:sp>
        <p:nvSpPr>
          <p:cNvPr id="27" name="Text 24"/>
          <p:cNvSpPr/>
          <p:nvPr/>
        </p:nvSpPr>
        <p:spPr>
          <a:xfrm>
            <a:off x="7018734" y="1780580"/>
            <a:ext cx="171450" cy="1243013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0" dirty="0">
                <a:solidFill>
                  <a:srgbClr val="58A6FF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→</a:t>
            </a:r>
            <a:endParaRPr lang="en-US" sz="1010" dirty="0"/>
          </a:p>
        </p:txBody>
      </p:sp>
      <p:grpSp>
        <p:nvGrpSpPr>
          <p:cNvPr id="46" name="Group g64"/>
          <p:cNvGrpSpPr/>
          <p:nvPr/>
        </p:nvGrpSpPr>
        <p:grpSpPr>
          <a:xfrm>
            <a:off x="7192528" y="1780580"/>
            <a:ext cx="1521619" cy="1243013"/>
            <a:chOff x="7192528" y="1780580"/>
            <a:chExt cx="1521619" cy="1243013"/>
          </a:xfrm>
        </p:grpSpPr>
        <p:pic>
          <p:nvPicPr>
            <p:cNvPr id="28" name="Shape" descr="preencoded.png">    </p:cNvPr>
            <p:cNvPicPr>
              <a:picLocks noChangeAspect="1"/>
            </p:cNvPicPr>
            <p:nvPr/>
          </p:nvPicPr>
          <p:blipFill>
            <a:blip r:embed="rId4"> </a:blip>
            <a:stretch>
              <a:fillRect/>
            </a:stretch>
          </p:blipFill>
          <p:spPr>
            <a:xfrm>
              <a:off x="7192528" y="1780580"/>
              <a:ext cx="1521619" cy="1243013"/>
            </a:xfrm>
            <a:prstGeom prst="rect">
              <a:avLst/>
            </a:prstGeom>
          </p:spPr>
        </p:pic>
        <p:sp>
          <p:nvSpPr>
            <p:cNvPr id="29" name="Shape"/>
            <p:cNvSpPr/>
            <p:nvPr/>
          </p:nvSpPr>
          <p:spPr>
            <a:xfrm>
              <a:off x="7299685" y="1900238"/>
              <a:ext cx="1307306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928"/>
                </a:lnSpc>
                <a:spcAft>
                  <a:spcPts val="338"/>
                </a:spcAft>
                <a:buNone/>
              </a:pPr>
              <a:r>
                <a:rPr lang="en-US" sz="620" b="1" spc="56" kern="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COOL</a:t>
              </a:r>
              <a:endParaRPr lang="en-US" sz="620" dirty="0"/>
            </a:p>
          </p:txBody>
        </p:sp>
        <p:sp>
          <p:nvSpPr>
            <p:cNvPr id="30" name="Shape"/>
            <p:cNvSpPr/>
            <p:nvPr/>
          </p:nvSpPr>
          <p:spPr>
            <a:xfrm>
              <a:off x="7299685" y="2060972"/>
              <a:ext cx="1307306" cy="16430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1266"/>
                </a:lnSpc>
                <a:spcAft>
                  <a:spcPts val="338"/>
                </a:spcAft>
                <a:buNone/>
              </a:pPr>
              <a:r>
                <a:rPr lang="en-US" sz="840" b="1" dirty="0">
                  <a:solidFill>
                    <a:srgbClr val="E6EDF3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Inverse BWT</a:t>
              </a:r>
              <a:endParaRPr lang="en-US" sz="840" dirty="0"/>
            </a:p>
          </p:txBody>
        </p:sp>
        <p:sp>
          <p:nvSpPr>
            <p:cNvPr id="31" name="Shape"/>
            <p:cNvSpPr/>
            <p:nvPr/>
          </p:nvSpPr>
          <p:spPr>
            <a:xfrm>
              <a:off x="7299685" y="2266355"/>
              <a:ext cx="1307306" cy="4714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Burrows-Wheeler</a:t>
              </a:r>
              <a:pPr algn="ctr" indent="0" marL="0">
                <a:buNone/>
              </a:pPr>
              <a:endParaRPr lang="en-US" sz="620" dirty="0"/>
            </a:p>
            <a:p>
              <a:pPr algn="ctr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inverse transform</a:t>
              </a:r>
              <a:pPr algn="ctr" indent="0" marL="0">
                <a:buNone/>
              </a:pPr>
              <a:endParaRPr lang="en-US" sz="620" dirty="0"/>
            </a:p>
            <a:p>
              <a:pPr algn="ctr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once per</a:t>
              </a:r>
              <a:pPr algn="ctr" indent="0" marL="0">
                <a:buNone/>
              </a:pPr>
              <a:endParaRPr lang="en-US" sz="620" dirty="0"/>
            </a:p>
            <a:p>
              <a:pPr algn="ctr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block</a:t>
              </a:r>
              <a:endParaRPr lang="en-US" sz="620" dirty="0"/>
            </a:p>
          </p:txBody>
        </p:sp>
        <p:sp>
          <p:nvSpPr>
            <p:cNvPr id="32" name="Shape"/>
            <p:cNvSpPr/>
            <p:nvPr/>
          </p:nvSpPr>
          <p:spPr>
            <a:xfrm>
              <a:off x="7299685" y="2794992"/>
              <a:ext cx="1307306" cy="10715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844"/>
                </a:lnSpc>
                <a:spcBef>
                  <a:spcPts val="450"/>
                </a:spcBef>
                <a:buNone/>
              </a:pPr>
              <a:r>
                <a:rPr lang="en-US" sz="560" b="1" dirty="0">
                  <a:solidFill>
                    <a:srgbClr val="484F58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not dominant</a:t>
              </a:r>
              <a:endParaRPr lang="en-US" sz="560" dirty="0"/>
            </a:p>
          </p:txBody>
        </p:sp>
      </p:grpSp>
      <p:grpSp>
        <p:nvGrpSpPr>
          <p:cNvPr id="47" name="Group g65"/>
          <p:cNvGrpSpPr/>
          <p:nvPr/>
        </p:nvGrpSpPr>
        <p:grpSpPr>
          <a:xfrm>
            <a:off x="429797" y="3150394"/>
            <a:ext cx="5364956" cy="907256"/>
            <a:chOff x="429797" y="3150394"/>
            <a:chExt cx="5364956" cy="907256"/>
          </a:xfrm>
        </p:grpSpPr>
        <p:sp>
          <p:nvSpPr>
            <p:cNvPr id="33" name="Shape"/>
            <p:cNvSpPr/>
            <p:nvPr/>
          </p:nvSpPr>
          <p:spPr>
            <a:xfrm>
              <a:off x="429797" y="3150394"/>
              <a:ext cx="5364956" cy="907256"/>
            </a:xfrm>
            <a:prstGeom prst="roundRect">
              <a:avLst>
                <a:gd name="adj" fmla="val 7874"/>
              </a:avLst>
            </a:prstGeom>
            <a:solidFill>
              <a:srgbClr val="0D1A2E"/>
            </a:solidFill>
            <a:ln w="7144">
              <a:solidFill>
                <a:srgbClr val="58A6FF"/>
              </a:solidFill>
              <a:prstDash val="solid"/>
            </a:ln>
          </p:spPr>
        </p:sp>
        <p:sp>
          <p:nvSpPr>
            <p:cNvPr id="34" name="Shape"/>
            <p:cNvSpPr/>
            <p:nvPr/>
          </p:nvSpPr>
          <p:spPr>
            <a:xfrm>
              <a:off x="565528" y="3257550"/>
              <a:ext cx="5093494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spcAft>
                  <a:spcPts val="281"/>
                </a:spcAft>
                <a:buNone/>
              </a:pPr>
              <a:r>
                <a:rPr lang="en-US" sz="730" b="1" dirty="0">
                  <a:solidFill>
                    <a:srgbClr val="58A6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🎯 Hardware accelerator scope — TWO components</a:t>
              </a:r>
              <a:endParaRPr lang="en-US" sz="730" dirty="0"/>
            </a:p>
          </p:txBody>
        </p:sp>
        <p:sp>
          <p:nvSpPr>
            <p:cNvPr id="35" name="Shape"/>
            <p:cNvSpPr/>
            <p:nvPr/>
          </p:nvSpPr>
          <p:spPr>
            <a:xfrm>
              <a:off x="565528" y="3434358"/>
              <a:ext cx="5093494" cy="514350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en-US" sz="680" b="1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(A) Bit Reader + Huffman Decode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— </a:t>
              </a:r>
              <a:pPr algn="l" indent="0" marL="0">
                <a:buNone/>
              </a:pPr>
              <a:r>
                <a:rPr lang="en-US" sz="680" b="1" dirty="0">
                  <a:solidFill>
                    <a:srgbClr val="79C0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f = 43.55%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→ ~1.77× alone</a:t>
              </a:r>
              <a:pPr algn="l" indent="0" marL="0">
                <a:buNone/>
              </a:pPr>
              <a:endParaRPr lang="en-US" sz="680" dirty="0"/>
            </a:p>
            <a:p>
              <a:pPr algn="l" indent="0" marL="0">
                <a:lnSpc>
                  <a:spcPts val="1013"/>
                </a:lnSpc>
                <a:buNone/>
              </a:pPr>
              <a:r>
                <a:rPr lang="en-US" sz="680" b="1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(B) Move-To-Front (MTF) unit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— adds </a:t>
              </a:r>
              <a:pPr algn="l" indent="0" marL="0">
                <a:buNone/>
              </a:pPr>
              <a:r>
                <a:rPr lang="en-US" sz="680" b="1" dirty="0">
                  <a:solidFill>
                    <a:srgbClr val="79C0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~10.3%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→ combined f = ~53.8% → </a:t>
              </a:r>
              <a:pPr algn="l" indent="0" marL="0">
                <a:buNone/>
              </a:pPr>
              <a:r>
                <a:rPr lang="en-US" sz="680" b="1" dirty="0">
                  <a:solidFill>
                    <a:srgbClr val="3FB950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~2.16× overall</a:t>
              </a:r>
              <a:pPr algn="l" indent="0" marL="0">
                <a:buNone/>
              </a:pPr>
              <a:endParaRPr lang="en-US" sz="680" dirty="0"/>
            </a:p>
            <a:p>
              <a:pPr algn="l" indent="0" marL="0">
                <a:lnSpc>
                  <a:spcPts val="1013"/>
                </a:lnSpc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(A) and (B) chain on-chip — Huffman symbols feed directly into MTF index, CPU not in between.</a:t>
              </a:r>
              <a:pPr algn="l" indent="0" marL="0">
                <a:buNone/>
              </a:pPr>
              <a:endParaRPr lang="en-US" sz="680" dirty="0"/>
            </a:p>
            <a:p>
              <a:pPr algn="l" indent="0" marL="0">
                <a:lnSpc>
                  <a:spcPts val="1013"/>
                </a:lnSpc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RLE and inverse-BWT (~46%) stay in software — the next accelerator candidates.</a:t>
              </a:r>
              <a:endParaRPr lang="en-US" sz="680" dirty="0"/>
            </a:p>
          </p:txBody>
        </p:sp>
      </p:grpSp>
      <p:grpSp>
        <p:nvGrpSpPr>
          <p:cNvPr id="48" name="Group g66"/>
          <p:cNvGrpSpPr/>
          <p:nvPr/>
        </p:nvGrpSpPr>
        <p:grpSpPr>
          <a:xfrm>
            <a:off x="5894766" y="3150394"/>
            <a:ext cx="2821781" cy="907256"/>
            <a:chOff x="5894766" y="3150394"/>
            <a:chExt cx="2821781" cy="907256"/>
          </a:xfrm>
        </p:grpSpPr>
        <p:sp>
          <p:nvSpPr>
            <p:cNvPr id="36" name="Shape"/>
            <p:cNvSpPr/>
            <p:nvPr/>
          </p:nvSpPr>
          <p:spPr>
            <a:xfrm>
              <a:off x="5894766" y="3150394"/>
              <a:ext cx="2821781" cy="907256"/>
            </a:xfrm>
            <a:prstGeom prst="roundRect">
              <a:avLst>
                <a:gd name="adj" fmla="val 7874"/>
              </a:avLst>
            </a:prstGeom>
            <a:solidFill>
              <a:srgbClr val="0D2018"/>
            </a:solidFill>
            <a:ln w="7144">
              <a:solidFill>
                <a:srgbClr val="2A5C3A"/>
              </a:solidFill>
              <a:prstDash val="solid"/>
            </a:ln>
          </p:spPr>
        </p:sp>
        <p:sp>
          <p:nvSpPr>
            <p:cNvPr id="37" name="Shape"/>
            <p:cNvSpPr/>
            <p:nvPr/>
          </p:nvSpPr>
          <p:spPr>
            <a:xfrm>
              <a:off x="6030497" y="3259336"/>
              <a:ext cx="2550319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1013"/>
                </a:lnSpc>
                <a:spcAft>
                  <a:spcPts val="225"/>
                </a:spcAft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SW optimizations target</a:t>
              </a:r>
              <a:endParaRPr lang="en-US" sz="680" dirty="0"/>
            </a:p>
          </p:txBody>
        </p:sp>
        <p:sp>
          <p:nvSpPr>
            <p:cNvPr id="38" name="Shape"/>
            <p:cNvSpPr/>
            <p:nvPr/>
          </p:nvSpPr>
          <p:spPr>
            <a:xfrm>
              <a:off x="6030497" y="3416498"/>
              <a:ext cx="2550319" cy="20002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1575"/>
                </a:lnSpc>
                <a:buNone/>
              </a:pPr>
              <a:r>
                <a:rPr lang="en-US" sz="1580" b="1" dirty="0">
                  <a:solidFill>
                    <a:srgbClr val="3FB950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all 3</a:t>
              </a:r>
              <a:endParaRPr lang="en-US" sz="1580" dirty="0"/>
            </a:p>
          </p:txBody>
        </p:sp>
        <p:sp>
          <p:nvSpPr>
            <p:cNvPr id="39" name="Shape"/>
            <p:cNvSpPr/>
            <p:nvPr/>
          </p:nvSpPr>
          <p:spPr>
            <a:xfrm>
              <a:off x="6030497" y="3645098"/>
              <a:ext cx="2550319" cy="2357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928"/>
                </a:lnSpc>
                <a:spcBef>
                  <a:spcPts val="225"/>
                </a:spcBef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hot stages fixed</a:t>
              </a:r>
              <a:pPr algn="ctr" indent="0" marL="0">
                <a:buNone/>
              </a:pPr>
              <a:endParaRPr lang="en-US" sz="620" dirty="0"/>
            </a:p>
            <a:p>
              <a:pPr algn="ctr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in software first</a:t>
              </a:r>
              <a:endParaRPr lang="en-US" sz="620" dirty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73435"/>
            <a:ext cx="822960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80" b="1" spc="101" kern="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THREE TARGETED FIXES — OUTPUT BYTE-IDENTICAL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457200" y="1044885"/>
            <a:ext cx="8229600" cy="364331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2869"/>
              </a:lnSpc>
              <a:buNone/>
            </a:pPr>
            <a:r>
              <a:rPr lang="en-US" sz="1910" b="1" spc="-28" kern="0" dirty="0">
                <a:solidFill>
                  <a:srgbClr val="E6EDF3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pyflate — </a:t>
            </a:r>
            <a:pPr algn="l" indent="0" marL="0">
              <a:buNone/>
            </a:pPr>
            <a:r>
              <a:rPr lang="en-US" sz="1910" b="1" spc="-28" kern="0" dirty="0">
                <a:solidFill>
                  <a:srgbClr val="58A6FF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Optimizations</a:t>
            </a:r>
            <a:endParaRPr lang="en-US" sz="1910" dirty="0"/>
          </a:p>
        </p:txBody>
      </p:sp>
      <p:grpSp>
        <p:nvGrpSpPr>
          <p:cNvPr id="31" name="Group g67"/>
          <p:cNvGrpSpPr/>
          <p:nvPr/>
        </p:nvGrpSpPr>
        <p:grpSpPr>
          <a:xfrm>
            <a:off x="458372" y="1525191"/>
            <a:ext cx="2664619" cy="2228850"/>
            <a:chOff x="458372" y="1525191"/>
            <a:chExt cx="2664619" cy="2228850"/>
          </a:xfrm>
        </p:grpSpPr>
        <p:sp>
          <p:nvSpPr>
            <p:cNvPr id="4" name="Shape"/>
            <p:cNvSpPr/>
            <p:nvPr/>
          </p:nvSpPr>
          <p:spPr>
            <a:xfrm>
              <a:off x="458372" y="1525191"/>
              <a:ext cx="2664619" cy="2228850"/>
            </a:xfrm>
            <a:prstGeom prst="roundRect">
              <a:avLst>
                <a:gd name="adj" fmla="val 3846"/>
              </a:avLst>
            </a:prstGeom>
            <a:solidFill>
              <a:srgbClr val="0D1A2E"/>
            </a:solidFill>
            <a:ln w="7144">
              <a:solidFill>
                <a:srgbClr val="1A3A5C"/>
              </a:solidFill>
              <a:prstDash val="solid"/>
            </a:ln>
          </p:spPr>
        </p:sp>
        <p:sp>
          <p:nvSpPr>
            <p:cNvPr id="5" name="Shape"/>
            <p:cNvSpPr/>
            <p:nvPr/>
          </p:nvSpPr>
          <p:spPr>
            <a:xfrm>
              <a:off x="594103" y="1644960"/>
              <a:ext cx="2393156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spcAft>
                  <a:spcPts val="281"/>
                </a:spcAft>
                <a:buNone/>
              </a:pPr>
              <a:r>
                <a:rPr lang="en-US" sz="680" b="1" spc="101" kern="0" dirty="0">
                  <a:solidFill>
                    <a:srgbClr val="58A6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OPT-2 — BIGGEST WIN ⭐</a:t>
              </a:r>
              <a:endParaRPr lang="en-US" sz="680" dirty="0"/>
            </a:p>
          </p:txBody>
        </p:sp>
        <p:sp>
          <p:nvSpPr>
            <p:cNvPr id="6" name="Shape"/>
            <p:cNvSpPr/>
            <p:nvPr/>
          </p:nvSpPr>
          <p:spPr>
            <a:xfrm>
              <a:off x="594103" y="1807480"/>
              <a:ext cx="2393156" cy="16430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266"/>
                </a:lnSpc>
                <a:spcAft>
                  <a:spcPts val="450"/>
                </a:spcAft>
                <a:buNone/>
              </a:pPr>
              <a:r>
                <a:rPr lang="en-US" sz="840" b="1" dirty="0">
                  <a:solidFill>
                    <a:srgbClr val="E6EDF3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In-place Move-To-Front</a:t>
              </a:r>
              <a:endParaRPr lang="en-US" sz="840" dirty="0"/>
            </a:p>
          </p:txBody>
        </p:sp>
        <p:sp>
          <p:nvSpPr>
            <p:cNvPr id="10" name="Shape"/>
            <p:cNvSpPr/>
            <p:nvPr/>
          </p:nvSpPr>
          <p:spPr>
            <a:xfrm>
              <a:off x="594103" y="3284674"/>
              <a:ext cx="2393156" cy="207169"/>
            </a:xfrm>
            <a:prstGeom prst="roundRect">
              <a:avLst>
                <a:gd name="adj" fmla="val 17241"/>
              </a:avLst>
            </a:prstGeom>
            <a:solidFill>
              <a:srgbClr val="0D2018"/>
            </a:solidFill>
            <a:ln w="7144">
              <a:solidFill>
                <a:srgbClr val="2A5C3A"/>
              </a:solidFill>
              <a:prstDash val="solid"/>
            </a:ln>
          </p:spPr>
          <p:txBody>
            <a:bodyPr wrap="square" lIns="35719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buNone/>
              </a:pPr>
              <a:r>
                <a:rPr lang="en-US" sz="620" b="1" dirty="0">
                  <a:solidFill>
                    <a:srgbClr val="3FB950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0 allocations instead of 4 per symbol</a:t>
              </a:r>
              <a:endParaRPr lang="en-US" sz="620" dirty="0"/>
            </a:p>
          </p:txBody>
        </p:sp>
        <p:grpSp>
          <p:nvGrpSpPr>
            <p:cNvPr id="32" name="Group g67/g68"/>
            <p:cNvGrpSpPr/>
            <p:nvPr/>
          </p:nvGrpSpPr>
          <p:grpSpPr>
            <a:xfrm>
              <a:off x="594103" y="2028155"/>
              <a:ext cx="2393156" cy="721519"/>
              <a:chOff x="594103" y="2028155"/>
              <a:chExt cx="2393156" cy="721519"/>
            </a:xfrm>
          </p:grpSpPr>
          <p:sp>
            <p:nvSpPr>
              <p:cNvPr id="7" name="Shape"/>
              <p:cNvSpPr/>
              <p:nvPr/>
            </p:nvSpPr>
            <p:spPr>
              <a:xfrm>
                <a:off x="594103" y="2028155"/>
                <a:ext cx="2393156" cy="721519"/>
              </a:xfrm>
              <a:prstGeom prst="roundRect">
                <a:avLst>
                  <a:gd name="adj" fmla="val 7921"/>
                </a:avLst>
              </a:prstGeom>
              <a:solidFill>
                <a:srgbClr val="161B22"/>
              </a:solidFill>
              <a:ln w="7144">
                <a:solidFill>
                  <a:srgbClr val="30363D"/>
                </a:solidFill>
                <a:prstDash val="solid"/>
              </a:ln>
            </p:spPr>
          </p:sp>
          <p:sp>
            <p:nvSpPr>
              <p:cNvPr id="8" name="Shape"/>
              <p:cNvSpPr/>
              <p:nvPr/>
            </p:nvSpPr>
            <p:spPr>
              <a:xfrm>
                <a:off x="686972" y="2350294"/>
                <a:ext cx="2207419" cy="242888"/>
              </a:xfrm>
              <a:prstGeom prst="rect">
                <a:avLst/>
              </a:prstGeom>
              <a:ln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l" indent="0" marL="0">
                  <a:lnSpc>
                    <a:spcPts val="959"/>
                  </a:lnSpc>
                  <a:buNone/>
                </a:pPr>
                <a:r>
                  <a:rPr lang="en-US" sz="620" dirty="0">
                    <a:solidFill>
                      <a:srgbClr val="C9D1D9"/>
                    </a:solidFill>
                    <a:latin typeface="SF Mono" pitchFamily="34" charset="0"/>
                    <a:ea typeface="SF Mono" pitchFamily="34" charset="-122"/>
                    <a:cs typeface="SF Mono" pitchFamily="34" charset="-120"/>
                  </a:rPr>
                  <a:t># AFTER: in-place, zero new lists v = l[c]; del l[c]; l.insert(0, v)</a:t>
                </a:r>
                <a:endParaRPr lang="en-US" sz="620" dirty="0"/>
              </a:p>
            </p:txBody>
          </p:sp>
          <p:sp>
            <p:nvSpPr>
              <p:cNvPr id="28" name="Shape"/>
              <p:cNvSpPr/>
              <p:nvPr/>
            </p:nvSpPr>
            <p:spPr>
              <a:xfrm>
                <a:off x="685800" y="2112876"/>
                <a:ext cx="1651657" cy="218554"/>
              </a:xfrm>
              <a:prstGeom prst="rect">
                <a:avLst/>
              </a:prstGeom>
              <a:noFill/>
              <a:ln/>
            </p:spPr>
            <p:txBody>
              <a:bodyPr wrap="none" lIns="42863" tIns="0" rIns="0" bIns="0" rtlCol="0" anchor="ctr">
                <a:spAutoFit/>
              </a:bodyPr>
              <a:lstStyle/>
              <a:p>
                <a:pPr algn="l" indent="0" marL="0">
                  <a:lnSpc>
                    <a:spcPts val="990"/>
                  </a:lnSpc>
                  <a:buNone/>
                </a:pPr>
                <a:r>
                  <a:rPr lang="en-US" sz="620" dirty="0">
                    <a:solidFill>
                      <a:srgbClr val="C9D1D9"/>
                    </a:solidFill>
                    <a:latin typeface="SF Mono" pitchFamily="34" charset="0"/>
                    <a:ea typeface="SF Mono" pitchFamily="34" charset="-122"/>
                    <a:cs typeface="SF Mono" pitchFamily="34" charset="-120"/>
                  </a:rPr>
                  <a:t># BEFORE: 4 new lists per symbol l[:] = l[c:c+1] + l[0:c] + l[c+1:]</a:t>
                </a:r>
                <a:endParaRPr lang="en-US" sz="620" dirty="0"/>
              </a:p>
            </p:txBody>
          </p:sp>
        </p:grpSp>
        <p:grpSp>
          <p:nvGrpSpPr>
            <p:cNvPr id="33" name="Group g67/g69"/>
            <p:cNvGrpSpPr/>
            <p:nvPr/>
          </p:nvGrpSpPr>
          <p:grpSpPr>
            <a:xfrm>
              <a:off x="594103" y="2836404"/>
              <a:ext cx="2393156" cy="407194"/>
              <a:chOff x="594103" y="2836404"/>
              <a:chExt cx="2393156" cy="407194"/>
            </a:xfrm>
          </p:grpSpPr>
          <p:sp>
            <p:nvSpPr>
              <p:cNvPr id="9" name="Shape"/>
              <p:cNvSpPr/>
              <p:nvPr/>
            </p:nvSpPr>
            <p:spPr>
              <a:xfrm>
                <a:off x="594103" y="2836404"/>
                <a:ext cx="2393156" cy="407194"/>
              </a:xfrm>
              <a:prstGeom prst="roundRect">
                <a:avLst>
                  <a:gd name="adj" fmla="val 8772"/>
                </a:avLst>
              </a:prstGeom>
              <a:solidFill>
                <a:srgbClr val="1A0D0D"/>
              </a:solidFill>
              <a:ln w="7144">
                <a:solidFill>
                  <a:srgbClr val="5C2A2A"/>
                </a:solidFill>
                <a:prstDash val="solid"/>
              </a:ln>
            </p:spPr>
            <p:txBody>
              <a:bodyPr wrap="square" lIns="35719" tIns="0" rIns="0" bIns="0" rtlCol="0" anchor="ctr">
                <a:spAutoFit/>
              </a:bodyPr>
              <a:lstStyle/>
              <a:p>
                <a:pPr algn="l" indent="0" marL="0">
                  <a:lnSpc>
                    <a:spcPts val="844"/>
                  </a:lnSpc>
                  <a:buNone/>
                </a:pPr>
                <a:r>
                  <a:rPr lang="en-US" sz="560" dirty="0">
                    <a:solidFill>
                      <a:srgbClr val="8B949E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Example: </a:t>
                </a:r>
                <a:pPr algn="l" indent="0" marL="0">
                  <a:buNone/>
                </a:pPr>
                <a:r>
                  <a:rPr lang="en-US" sz="470" dirty="0">
                    <a:solidFill>
                      <a:srgbClr val="79C0FF"/>
                    </a:solidFill>
                    <a:highlight>
                      <a:srgbClr val="161B22"/>
                    </a:highlight>
                    <a:latin typeface="SF Mono" pitchFamily="34" charset="0"/>
                    <a:ea typeface="SF Mono" pitchFamily="34" charset="-122"/>
                    <a:cs typeface="SF Mono" pitchFamily="34" charset="-120"/>
                  </a:rPr>
                  <a:t>['a','b','c','d'] </a:t>
                </a:r>
                <a:pPr algn="l" indent="0" marL="0">
                  <a:buNone/>
                </a:pPr>
                <a:r>
                  <a:rPr lang="en-US" sz="560" dirty="0">
                    <a:solidFill>
                      <a:srgbClr val="8B949E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, idx=2 → output </a:t>
                </a:r>
                <a:pPr algn="l" indent="0" marL="0">
                  <a:buNone/>
                </a:pPr>
                <a:r>
                  <a:rPr lang="en-US" sz="470" dirty="0">
                    <a:solidFill>
                      <a:srgbClr val="79C0FF"/>
                    </a:solidFill>
                    <a:highlight>
                      <a:srgbClr val="161B22"/>
                    </a:highlight>
                    <a:latin typeface="SF Mono" pitchFamily="34" charset="0"/>
                    <a:ea typeface="SF Mono" pitchFamily="34" charset="-122"/>
                    <a:cs typeface="SF Mono" pitchFamily="34" charset="-120"/>
                  </a:rPr>
                  <a:t>'c' </a:t>
                </a:r>
                <a:pPr algn="l" indent="0" marL="0">
                  <a:buNone/>
                </a:pPr>
                <a:r>
                  <a:rPr lang="en-US" sz="560" dirty="0">
                    <a:solidFill>
                      <a:srgbClr val="8B949E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, list → </a:t>
                </a:r>
                <a:pPr algn="l" indent="0" marL="0">
                  <a:buNone/>
                </a:pPr>
                <a:r>
                  <a:rPr lang="en-US" sz="470" dirty="0">
                    <a:solidFill>
                      <a:srgbClr val="79C0FF"/>
                    </a:solidFill>
                    <a:highlight>
                      <a:srgbClr val="161B22"/>
                    </a:highlight>
                    <a:latin typeface="SF Mono" pitchFamily="34" charset="0"/>
                    <a:ea typeface="SF Mono" pitchFamily="34" charset="-122"/>
                    <a:cs typeface="SF Mono" pitchFamily="34" charset="-120"/>
                  </a:rPr>
                  <a:t>['c','a','b','d']</a:t>
                </a:r>
                <a:pPr algn="l" indent="0" marL="0">
                  <a:buNone/>
                </a:pPr>
                <a:endParaRPr lang="en-US" sz="560" dirty="0"/>
              </a:p>
              <a:p>
                <a:pPr algn="l" indent="0" marL="0">
                  <a:lnSpc>
                    <a:spcPts val="844"/>
                  </a:lnSpc>
                  <a:spcAft>
                    <a:spcPts val="338"/>
                  </a:spcAft>
                  <a:buNone/>
                </a:pPr>
                <a:r>
                  <a:rPr lang="en-US" sz="560" dirty="0">
                    <a:solidFill>
                      <a:srgbClr val="8B949E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Before: 4 new list objects allocated. After: 0.</a:t>
                </a:r>
                <a:endParaRPr lang="en-US" sz="560" dirty="0"/>
              </a:p>
            </p:txBody>
          </p:sp>
        </p:grpSp>
      </p:grpSp>
      <p:grpSp>
        <p:nvGrpSpPr>
          <p:cNvPr id="34" name="Group g70"/>
          <p:cNvGrpSpPr/>
          <p:nvPr/>
        </p:nvGrpSpPr>
        <p:grpSpPr>
          <a:xfrm>
            <a:off x="3239691" y="1525191"/>
            <a:ext cx="2664619" cy="2228850"/>
            <a:chOff x="3239691" y="1525191"/>
            <a:chExt cx="2664619" cy="2228850"/>
          </a:xfrm>
        </p:grpSpPr>
        <p:sp>
          <p:nvSpPr>
            <p:cNvPr id="11" name="Shape"/>
            <p:cNvSpPr/>
            <p:nvPr/>
          </p:nvSpPr>
          <p:spPr>
            <a:xfrm>
              <a:off x="3239691" y="1525191"/>
              <a:ext cx="2664619" cy="2228850"/>
            </a:xfrm>
            <a:prstGeom prst="roundRect">
              <a:avLst>
                <a:gd name="adj" fmla="val 3846"/>
              </a:avLst>
            </a:prstGeom>
            <a:solidFill>
              <a:srgbClr val="0D1A2E"/>
            </a:solidFill>
            <a:ln w="7144">
              <a:solidFill>
                <a:srgbClr val="1A3A5C"/>
              </a:solidFill>
              <a:prstDash val="solid"/>
            </a:ln>
          </p:spPr>
        </p:sp>
        <p:sp>
          <p:nvSpPr>
            <p:cNvPr id="12" name="Shape"/>
            <p:cNvSpPr/>
            <p:nvPr/>
          </p:nvSpPr>
          <p:spPr>
            <a:xfrm>
              <a:off x="3375422" y="1644960"/>
              <a:ext cx="2393156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spcAft>
                  <a:spcPts val="281"/>
                </a:spcAft>
                <a:buNone/>
              </a:pPr>
              <a:r>
                <a:rPr lang="en-US" sz="680" b="1" spc="101" kern="0" dirty="0">
                  <a:solidFill>
                    <a:srgbClr val="58A6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OPT-1</a:t>
              </a:r>
              <a:endParaRPr lang="en-US" sz="680" dirty="0"/>
            </a:p>
          </p:txBody>
        </p:sp>
        <p:sp>
          <p:nvSpPr>
            <p:cNvPr id="13" name="Shape"/>
            <p:cNvSpPr/>
            <p:nvPr/>
          </p:nvSpPr>
          <p:spPr>
            <a:xfrm>
              <a:off x="3375422" y="1807480"/>
              <a:ext cx="2393156" cy="16430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266"/>
                </a:lnSpc>
                <a:spcAft>
                  <a:spcPts val="450"/>
                </a:spcAft>
                <a:buNone/>
              </a:pPr>
              <a:r>
                <a:rPr lang="en-US" sz="840" b="1" dirty="0">
                  <a:solidFill>
                    <a:srgbClr val="E6EDF3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Buffered Bit Reader</a:t>
              </a:r>
              <a:endParaRPr lang="en-US" sz="840" dirty="0"/>
            </a:p>
          </p:txBody>
        </p:sp>
        <p:sp>
          <p:nvSpPr>
            <p:cNvPr id="17" name="Shape"/>
            <p:cNvSpPr/>
            <p:nvPr/>
          </p:nvSpPr>
          <p:spPr>
            <a:xfrm>
              <a:off x="3375422" y="3424982"/>
              <a:ext cx="2393156" cy="207169"/>
            </a:xfrm>
            <a:prstGeom prst="roundRect">
              <a:avLst>
                <a:gd name="adj" fmla="val 17241"/>
              </a:avLst>
            </a:prstGeom>
            <a:solidFill>
              <a:srgbClr val="0D2018"/>
            </a:solidFill>
            <a:ln w="7144">
              <a:solidFill>
                <a:srgbClr val="2A5C3A"/>
              </a:solidFill>
              <a:prstDash val="solid"/>
            </a:ln>
          </p:spPr>
          <p:txBody>
            <a:bodyPr wrap="square" lIns="35719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buNone/>
              </a:pPr>
              <a:r>
                <a:rPr lang="en-US" sz="620" b="1" dirty="0">
                  <a:solidFill>
                    <a:srgbClr val="3FB950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Array index instead of a file call per byte</a:t>
              </a:r>
              <a:endParaRPr lang="en-US" sz="620" dirty="0"/>
            </a:p>
          </p:txBody>
        </p:sp>
        <p:grpSp>
          <p:nvGrpSpPr>
            <p:cNvPr id="35" name="Group g70/g71"/>
            <p:cNvGrpSpPr/>
            <p:nvPr/>
          </p:nvGrpSpPr>
          <p:grpSpPr>
            <a:xfrm>
              <a:off x="3375422" y="2026872"/>
              <a:ext cx="2393156" cy="971550"/>
              <a:chOff x="3375422" y="2026872"/>
              <a:chExt cx="2393156" cy="971550"/>
            </a:xfrm>
          </p:grpSpPr>
          <p:sp>
            <p:nvSpPr>
              <p:cNvPr id="14" name="Shape"/>
              <p:cNvSpPr/>
              <p:nvPr/>
            </p:nvSpPr>
            <p:spPr>
              <a:xfrm>
                <a:off x="3375422" y="2026872"/>
                <a:ext cx="2393156" cy="971550"/>
              </a:xfrm>
              <a:prstGeom prst="roundRect">
                <a:avLst>
                  <a:gd name="adj" fmla="val 5882"/>
                </a:avLst>
              </a:prstGeom>
              <a:solidFill>
                <a:srgbClr val="161B22"/>
              </a:solidFill>
              <a:ln w="7144">
                <a:solidFill>
                  <a:srgbClr val="30363D"/>
                </a:solidFill>
                <a:prstDash val="solid"/>
              </a:ln>
            </p:spPr>
          </p:sp>
          <p:sp>
            <p:nvSpPr>
              <p:cNvPr id="15" name="Shape"/>
              <p:cNvSpPr/>
              <p:nvPr/>
            </p:nvSpPr>
            <p:spPr>
              <a:xfrm>
                <a:off x="3468291" y="2476147"/>
                <a:ext cx="2207419" cy="364331"/>
              </a:xfrm>
              <a:prstGeom prst="rect">
                <a:avLst/>
              </a:prstGeom>
              <a:ln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l" indent="0" marL="0">
                  <a:lnSpc>
                    <a:spcPts val="959"/>
                  </a:lnSpc>
                  <a:buNone/>
                </a:pPr>
                <a:r>
                  <a:rPr lang="en-US" sz="620" dirty="0">
                    <a:solidFill>
                      <a:srgbClr val="C9D1D9"/>
                    </a:solidFill>
                    <a:latin typeface="SF Mono" pitchFamily="34" charset="0"/>
                    <a:ea typeface="SF Mono" pitchFamily="34" charset="-122"/>
                    <a:cs typeface="SF Mono" pitchFamily="34" charset="-120"/>
                  </a:rPr>
                  <a:t># AFTER: index preloaded buffer byte = self.data[self.pos] self.pos += 1</a:t>
                </a:r>
                <a:endParaRPr lang="en-US" sz="620" dirty="0"/>
              </a:p>
            </p:txBody>
          </p:sp>
          <p:sp>
            <p:nvSpPr>
              <p:cNvPr id="29" name="Shape"/>
              <p:cNvSpPr/>
              <p:nvPr/>
            </p:nvSpPr>
            <p:spPr>
              <a:xfrm>
                <a:off x="3467063" y="2112876"/>
                <a:ext cx="1360215" cy="344239"/>
              </a:xfrm>
              <a:prstGeom prst="rect">
                <a:avLst/>
              </a:prstGeom>
              <a:noFill/>
              <a:ln/>
            </p:spPr>
            <p:txBody>
              <a:bodyPr wrap="none" lIns="42863" tIns="0" rIns="0" bIns="0" rtlCol="0" anchor="ctr">
                <a:spAutoFit/>
              </a:bodyPr>
              <a:lstStyle/>
              <a:p>
                <a:pPr algn="l" indent="0" marL="0">
                  <a:lnSpc>
                    <a:spcPts val="990"/>
                  </a:lnSpc>
                  <a:buNone/>
                </a:pPr>
                <a:r>
                  <a:rPr lang="en-US" sz="620" dirty="0">
                    <a:solidFill>
                      <a:srgbClr val="C9D1D9"/>
                    </a:solidFill>
                    <a:latin typeface="SF Mono" pitchFamily="34" charset="0"/>
                    <a:ea typeface="SF Mono" pitchFamily="34" charset="-122"/>
                    <a:cs typeface="SF Mono" pitchFamily="34" charset="-120"/>
                  </a:rPr>
                  <a:t># BEFORE: file call PER byte c = self.f.read(1) byte = ord(c)</a:t>
                </a:r>
                <a:endParaRPr lang="en-US" sz="620" dirty="0"/>
              </a:p>
            </p:txBody>
          </p:sp>
        </p:grpSp>
        <p:grpSp>
          <p:nvGrpSpPr>
            <p:cNvPr id="36" name="Group g70/g72"/>
            <p:cNvGrpSpPr/>
            <p:nvPr/>
          </p:nvGrpSpPr>
          <p:grpSpPr>
            <a:xfrm>
              <a:off x="3375422" y="3083868"/>
              <a:ext cx="2393156" cy="300038"/>
              <a:chOff x="3375422" y="3083868"/>
              <a:chExt cx="2393156" cy="300038"/>
            </a:xfrm>
          </p:grpSpPr>
          <p:sp>
            <p:nvSpPr>
              <p:cNvPr id="16" name="Shape"/>
              <p:cNvSpPr/>
              <p:nvPr/>
            </p:nvSpPr>
            <p:spPr>
              <a:xfrm>
                <a:off x="3375422" y="3083868"/>
                <a:ext cx="2393156" cy="300038"/>
              </a:xfrm>
              <a:prstGeom prst="roundRect">
                <a:avLst>
                  <a:gd name="adj" fmla="val 11905"/>
                </a:avLst>
              </a:prstGeom>
              <a:solidFill>
                <a:srgbClr val="1A0D0D"/>
              </a:solidFill>
              <a:ln w="7144">
                <a:solidFill>
                  <a:srgbClr val="5C2A2A"/>
                </a:solidFill>
                <a:prstDash val="solid"/>
              </a:ln>
            </p:spPr>
            <p:txBody>
              <a:bodyPr wrap="square" lIns="35719" tIns="0" rIns="0" bIns="0" rtlCol="0" anchor="ctr">
                <a:spAutoFit/>
              </a:bodyPr>
              <a:lstStyle/>
              <a:p>
                <a:pPr algn="l" indent="0" marL="0">
                  <a:lnSpc>
                    <a:spcPts val="844"/>
                  </a:lnSpc>
                  <a:buNone/>
                </a:pPr>
                <a:r>
                  <a:rPr lang="en-US" sz="560" dirty="0">
                    <a:solidFill>
                      <a:srgbClr val="8B949E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Example: bytes A B C → Before: </a:t>
                </a:r>
                <a:pPr algn="l" indent="0" marL="0">
                  <a:buNone/>
                </a:pPr>
                <a:r>
                  <a:rPr lang="en-US" sz="470" dirty="0">
                    <a:solidFill>
                      <a:srgbClr val="79C0FF"/>
                    </a:solidFill>
                    <a:highlight>
                      <a:srgbClr val="161B22"/>
                    </a:highlight>
                    <a:latin typeface="SF Mono" pitchFamily="34" charset="0"/>
                    <a:ea typeface="SF Mono" pitchFamily="34" charset="-122"/>
                    <a:cs typeface="SF Mono" pitchFamily="34" charset="-120"/>
                  </a:rPr>
                  <a:t>f.read(1) </a:t>
                </a:r>
                <a:pPr algn="l" indent="0" marL="0">
                  <a:buNone/>
                </a:pPr>
                <a:r>
                  <a:rPr lang="en-US" sz="560" dirty="0">
                    <a:solidFill>
                      <a:srgbClr val="8B949E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+ </a:t>
                </a:r>
                <a:pPr algn="l" indent="0" marL="0">
                  <a:buNone/>
                </a:pPr>
                <a:r>
                  <a:rPr lang="en-US" sz="470" dirty="0">
                    <a:solidFill>
                      <a:srgbClr val="79C0FF"/>
                    </a:solidFill>
                    <a:highlight>
                      <a:srgbClr val="161B22"/>
                    </a:highlight>
                    <a:latin typeface="SF Mono" pitchFamily="34" charset="0"/>
                    <a:ea typeface="SF Mono" pitchFamily="34" charset="-122"/>
                    <a:cs typeface="SF Mono" pitchFamily="34" charset="-120"/>
                  </a:rPr>
                  <a:t>ord() </a:t>
                </a:r>
                <a:pPr algn="l" indent="0" marL="0">
                  <a:buNone/>
                </a:pPr>
                <a:r>
                  <a:rPr lang="en-US" sz="560" dirty="0">
                    <a:solidFill>
                      <a:srgbClr val="8B949E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 per byte. After: </a:t>
                </a:r>
                <a:pPr algn="l" indent="0" marL="0">
                  <a:buNone/>
                </a:pPr>
                <a:r>
                  <a:rPr lang="en-US" sz="470" dirty="0">
                    <a:solidFill>
                      <a:srgbClr val="79C0FF"/>
                    </a:solidFill>
                    <a:highlight>
                      <a:srgbClr val="161B22"/>
                    </a:highlight>
                    <a:latin typeface="SF Mono" pitchFamily="34" charset="0"/>
                    <a:ea typeface="SF Mono" pitchFamily="34" charset="-122"/>
                    <a:cs typeface="SF Mono" pitchFamily="34" charset="-120"/>
                  </a:rPr>
                  <a:t>data[0] </a:t>
                </a:r>
                <a:pPr algn="l" indent="0" marL="0">
                  <a:buNone/>
                </a:pPr>
                <a:r>
                  <a:rPr lang="en-US" sz="560" dirty="0">
                    <a:solidFill>
                      <a:srgbClr val="8B949E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, </a:t>
                </a:r>
                <a:pPr algn="l" indent="0" marL="0">
                  <a:buNone/>
                </a:pPr>
                <a:r>
                  <a:rPr lang="en-US" sz="470" dirty="0">
                    <a:solidFill>
                      <a:srgbClr val="79C0FF"/>
                    </a:solidFill>
                    <a:highlight>
                      <a:srgbClr val="161B22"/>
                    </a:highlight>
                    <a:latin typeface="SF Mono" pitchFamily="34" charset="0"/>
                    <a:ea typeface="SF Mono" pitchFamily="34" charset="-122"/>
                    <a:cs typeface="SF Mono" pitchFamily="34" charset="-120"/>
                  </a:rPr>
                  <a:t>data[1] </a:t>
                </a:r>
                <a:pPr algn="l" indent="0" marL="0">
                  <a:buNone/>
                </a:pPr>
                <a:r>
                  <a:rPr lang="en-US" sz="560" dirty="0">
                    <a:solidFill>
                      <a:srgbClr val="8B949E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, </a:t>
                </a:r>
                <a:pPr algn="l" indent="0" marL="0">
                  <a:buNone/>
                </a:pPr>
                <a:r>
                  <a:rPr lang="en-US" sz="470" dirty="0">
                    <a:solidFill>
                      <a:srgbClr val="79C0FF"/>
                    </a:solidFill>
                    <a:highlight>
                      <a:srgbClr val="161B22"/>
                    </a:highlight>
                    <a:latin typeface="SF Mono" pitchFamily="34" charset="0"/>
                    <a:ea typeface="SF Mono" pitchFamily="34" charset="-122"/>
                    <a:cs typeface="SF Mono" pitchFamily="34" charset="-120"/>
                  </a:rPr>
                  <a:t>data[2] </a:t>
                </a:r>
                <a:pPr algn="l" indent="0" marL="0">
                  <a:spcAft>
                    <a:spcPts val="338"/>
                  </a:spcAft>
                  <a:buNone/>
                </a:pPr>
                <a:r>
                  <a:rPr lang="en-US" sz="560" dirty="0">
                    <a:solidFill>
                      <a:srgbClr val="8B949E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.</a:t>
                </a:r>
                <a:endParaRPr lang="en-US" sz="560" dirty="0"/>
              </a:p>
            </p:txBody>
          </p:sp>
        </p:grpSp>
      </p:grpSp>
      <p:grpSp>
        <p:nvGrpSpPr>
          <p:cNvPr id="37" name="Group g73"/>
          <p:cNvGrpSpPr/>
          <p:nvPr/>
        </p:nvGrpSpPr>
        <p:grpSpPr>
          <a:xfrm>
            <a:off x="6021009" y="1525191"/>
            <a:ext cx="2664619" cy="2228850"/>
            <a:chOff x="6021009" y="1525191"/>
            <a:chExt cx="2664619" cy="2228850"/>
          </a:xfrm>
        </p:grpSpPr>
        <p:sp>
          <p:nvSpPr>
            <p:cNvPr id="18" name="Shape"/>
            <p:cNvSpPr/>
            <p:nvPr/>
          </p:nvSpPr>
          <p:spPr>
            <a:xfrm>
              <a:off x="6021009" y="1525191"/>
              <a:ext cx="2664619" cy="2228850"/>
            </a:xfrm>
            <a:prstGeom prst="roundRect">
              <a:avLst>
                <a:gd name="adj" fmla="val 3846"/>
              </a:avLst>
            </a:prstGeom>
            <a:solidFill>
              <a:srgbClr val="0D1A2E"/>
            </a:solidFill>
            <a:ln w="7144">
              <a:solidFill>
                <a:srgbClr val="1A3A5C"/>
              </a:solidFill>
              <a:prstDash val="solid"/>
            </a:ln>
          </p:spPr>
        </p:sp>
        <p:sp>
          <p:nvSpPr>
            <p:cNvPr id="19" name="Shape"/>
            <p:cNvSpPr/>
            <p:nvPr/>
          </p:nvSpPr>
          <p:spPr>
            <a:xfrm>
              <a:off x="6156740" y="1644960"/>
              <a:ext cx="2393156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spcAft>
                  <a:spcPts val="281"/>
                </a:spcAft>
                <a:buNone/>
              </a:pPr>
              <a:r>
                <a:rPr lang="en-US" sz="680" b="1" spc="101" kern="0" dirty="0">
                  <a:solidFill>
                    <a:srgbClr val="58A6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OPT-3</a:t>
              </a:r>
              <a:endParaRPr lang="en-US" sz="680" dirty="0"/>
            </a:p>
          </p:txBody>
        </p:sp>
        <p:sp>
          <p:nvSpPr>
            <p:cNvPr id="20" name="Shape"/>
            <p:cNvSpPr/>
            <p:nvPr/>
          </p:nvSpPr>
          <p:spPr>
            <a:xfrm>
              <a:off x="6156740" y="1807480"/>
              <a:ext cx="2393156" cy="16430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266"/>
                </a:lnSpc>
                <a:spcAft>
                  <a:spcPts val="450"/>
                </a:spcAft>
                <a:buNone/>
              </a:pPr>
              <a:r>
                <a:rPr lang="en-US" sz="840" b="1" dirty="0">
                  <a:solidFill>
                    <a:srgbClr val="E6EDF3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Table-driven Huffman</a:t>
              </a:r>
              <a:endParaRPr lang="en-US" sz="840" dirty="0"/>
            </a:p>
          </p:txBody>
        </p:sp>
        <p:sp>
          <p:nvSpPr>
            <p:cNvPr id="24" name="Shape"/>
            <p:cNvSpPr/>
            <p:nvPr/>
          </p:nvSpPr>
          <p:spPr>
            <a:xfrm>
              <a:off x="6155959" y="3428888"/>
              <a:ext cx="1100138" cy="207169"/>
            </a:xfrm>
            <a:prstGeom prst="roundRect">
              <a:avLst>
                <a:gd name="adj" fmla="val 17241"/>
              </a:avLst>
            </a:prstGeom>
            <a:solidFill>
              <a:srgbClr val="1A0D0D"/>
            </a:solidFill>
            <a:ln w="7144">
              <a:solidFill>
                <a:srgbClr val="5C2A2A"/>
              </a:solidFill>
              <a:prstDash val="solid"/>
            </a:ln>
          </p:spPr>
          <p:txBody>
            <a:bodyPr wrap="square" lIns="0" tIns="0" rIns="0" bIns="0" rtlCol="0" anchor="ctr">
              <a:spAutoFit/>
            </a:bodyPr>
            <a:lstStyle/>
            <a:p>
              <a:pPr algn="ctr" indent="0" marL="0">
                <a:lnSpc>
                  <a:spcPts val="928"/>
                </a:lnSpc>
                <a:buNone/>
              </a:pPr>
              <a:r>
                <a:rPr lang="en-US" sz="620" b="1" dirty="0">
                  <a:solidFill>
                    <a:srgbClr val="F8514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O(N) scan</a:t>
              </a:r>
              <a:endParaRPr lang="en-US" sz="620" dirty="0"/>
            </a:p>
          </p:txBody>
        </p:sp>
        <p:sp>
          <p:nvSpPr>
            <p:cNvPr id="25" name="Shape"/>
            <p:cNvSpPr/>
            <p:nvPr/>
          </p:nvSpPr>
          <p:spPr>
            <a:xfrm>
              <a:off x="7299685" y="3446748"/>
              <a:ext cx="107156" cy="171450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350"/>
                </a:lnSpc>
                <a:buNone/>
              </a:pPr>
              <a:r>
                <a:rPr lang="en-US" sz="900" b="1" dirty="0">
                  <a:solidFill>
                    <a:srgbClr val="3FB950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→</a:t>
              </a:r>
              <a:endParaRPr lang="en-US" sz="900" dirty="0"/>
            </a:p>
          </p:txBody>
        </p:sp>
        <p:sp>
          <p:nvSpPr>
            <p:cNvPr id="26" name="Shape"/>
            <p:cNvSpPr/>
            <p:nvPr/>
          </p:nvSpPr>
          <p:spPr>
            <a:xfrm>
              <a:off x="7450485" y="3428888"/>
              <a:ext cx="1100138" cy="207169"/>
            </a:xfrm>
            <a:prstGeom prst="roundRect">
              <a:avLst>
                <a:gd name="adj" fmla="val 17241"/>
              </a:avLst>
            </a:prstGeom>
            <a:solidFill>
              <a:srgbClr val="0D2018"/>
            </a:solidFill>
            <a:ln w="7144">
              <a:solidFill>
                <a:srgbClr val="2A5C3A"/>
              </a:solidFill>
              <a:prstDash val="solid"/>
            </a:ln>
          </p:spPr>
          <p:txBody>
            <a:bodyPr wrap="square" lIns="0" tIns="0" rIns="0" bIns="0" rtlCol="0" anchor="ctr">
              <a:spAutoFit/>
            </a:bodyPr>
            <a:lstStyle/>
            <a:p>
              <a:pPr algn="ctr" indent="0" marL="0">
                <a:lnSpc>
                  <a:spcPts val="928"/>
                </a:lnSpc>
                <a:buNone/>
              </a:pPr>
              <a:r>
                <a:rPr lang="en-US" sz="620" b="1" dirty="0">
                  <a:solidFill>
                    <a:srgbClr val="3FB950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O(1) lookup</a:t>
              </a:r>
              <a:endParaRPr lang="en-US" sz="620" dirty="0"/>
            </a:p>
          </p:txBody>
        </p:sp>
        <p:grpSp>
          <p:nvGrpSpPr>
            <p:cNvPr id="38" name="Group g73/g74"/>
            <p:cNvGrpSpPr/>
            <p:nvPr/>
          </p:nvGrpSpPr>
          <p:grpSpPr>
            <a:xfrm>
              <a:off x="6156740" y="2028825"/>
              <a:ext cx="2393156" cy="971550"/>
              <a:chOff x="6156740" y="2028825"/>
              <a:chExt cx="2393156" cy="971550"/>
            </a:xfrm>
          </p:grpSpPr>
          <p:sp>
            <p:nvSpPr>
              <p:cNvPr id="21" name="Shape"/>
              <p:cNvSpPr/>
              <p:nvPr/>
            </p:nvSpPr>
            <p:spPr>
              <a:xfrm>
                <a:off x="6156740" y="2028825"/>
                <a:ext cx="2393156" cy="971550"/>
              </a:xfrm>
              <a:prstGeom prst="roundRect">
                <a:avLst>
                  <a:gd name="adj" fmla="val 5882"/>
                </a:avLst>
              </a:prstGeom>
              <a:solidFill>
                <a:srgbClr val="161B22"/>
              </a:solidFill>
              <a:ln w="7144">
                <a:solidFill>
                  <a:srgbClr val="30363D"/>
                </a:solidFill>
                <a:prstDash val="solid"/>
              </a:ln>
            </p:spPr>
          </p:sp>
          <p:sp>
            <p:nvSpPr>
              <p:cNvPr id="22" name="Shape"/>
              <p:cNvSpPr/>
              <p:nvPr/>
            </p:nvSpPr>
            <p:spPr>
              <a:xfrm>
                <a:off x="6249609" y="2601664"/>
                <a:ext cx="2207419" cy="242888"/>
              </a:xfrm>
              <a:prstGeom prst="rect">
                <a:avLst/>
              </a:prstGeom>
              <a:ln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l" indent="0" marL="0">
                  <a:lnSpc>
                    <a:spcPts val="959"/>
                  </a:lnSpc>
                  <a:buNone/>
                </a:pPr>
                <a:r>
                  <a:rPr lang="en-US" sz="620" dirty="0">
                    <a:solidFill>
                      <a:srgbClr val="C9D1D9"/>
                    </a:solidFill>
                    <a:latin typeface="SF Mono" pitchFamily="34" charset="0"/>
                    <a:ea typeface="SF Mono" pitchFamily="34" charset="-122"/>
                    <a:cs typeface="SF Mono" pitchFamily="34" charset="-120"/>
                  </a:rPr>
                  <a:t># AFTER: O(1) lookup sym, length = self.lookup[peek]</a:t>
                </a:r>
                <a:endParaRPr lang="en-US" sz="620" dirty="0"/>
              </a:p>
            </p:txBody>
          </p:sp>
          <p:sp>
            <p:nvSpPr>
              <p:cNvPr id="30" name="Shape"/>
              <p:cNvSpPr/>
              <p:nvPr/>
            </p:nvSpPr>
            <p:spPr>
              <a:xfrm>
                <a:off x="6248437" y="2112876"/>
                <a:ext cx="1457325" cy="469925"/>
              </a:xfrm>
              <a:prstGeom prst="rect">
                <a:avLst/>
              </a:prstGeom>
              <a:noFill/>
              <a:ln/>
            </p:spPr>
            <p:txBody>
              <a:bodyPr wrap="none" lIns="42863" tIns="0" rIns="0" bIns="0" rtlCol="0" anchor="ctr">
                <a:spAutoFit/>
              </a:bodyPr>
              <a:lstStyle/>
              <a:p>
                <a:pPr algn="l" indent="0" marL="0">
                  <a:lnSpc>
                    <a:spcPts val="990"/>
                  </a:lnSpc>
                  <a:buNone/>
                </a:pPr>
                <a:r>
                  <a:rPr lang="en-US" sz="620" dirty="0">
                    <a:solidFill>
                      <a:srgbClr val="C9D1D9"/>
                    </a:solidFill>
                    <a:latin typeface="SF Mono" pitchFamily="34" charset="0"/>
                    <a:ea typeface="SF Mono" pitchFamily="34" charset="-122"/>
                    <a:cs typeface="SF Mono" pitchFamily="34" charset="-120"/>
                  </a:rPr>
                  <a:t># BEFORE: O(N) scan per symbol for entry in self.table: if self.snoopbits(entry.len) == entry.code: ...</a:t>
                </a:r>
                <a:endParaRPr lang="en-US" sz="620" dirty="0"/>
              </a:p>
            </p:txBody>
          </p:sp>
        </p:grpSp>
        <p:grpSp>
          <p:nvGrpSpPr>
            <p:cNvPr id="39" name="Group g73/g75"/>
            <p:cNvGrpSpPr/>
            <p:nvPr/>
          </p:nvGrpSpPr>
          <p:grpSpPr>
            <a:xfrm>
              <a:off x="6156740" y="3087774"/>
              <a:ext cx="2393156" cy="300038"/>
              <a:chOff x="6156740" y="3087774"/>
              <a:chExt cx="2393156" cy="300038"/>
            </a:xfrm>
          </p:grpSpPr>
          <p:sp>
            <p:nvSpPr>
              <p:cNvPr id="23" name="Shape"/>
              <p:cNvSpPr/>
              <p:nvPr/>
            </p:nvSpPr>
            <p:spPr>
              <a:xfrm>
                <a:off x="6156740" y="3087774"/>
                <a:ext cx="2393156" cy="300038"/>
              </a:xfrm>
              <a:prstGeom prst="roundRect">
                <a:avLst>
                  <a:gd name="adj" fmla="val 11905"/>
                </a:avLst>
              </a:prstGeom>
              <a:solidFill>
                <a:srgbClr val="1A0D0D"/>
              </a:solidFill>
              <a:ln w="7144">
                <a:solidFill>
                  <a:srgbClr val="5C2A2A"/>
                </a:solidFill>
                <a:prstDash val="solid"/>
              </a:ln>
            </p:spPr>
            <p:txBody>
              <a:bodyPr wrap="square" lIns="35719" tIns="0" rIns="0" bIns="0" rtlCol="0" anchor="ctr">
                <a:spAutoFit/>
              </a:bodyPr>
              <a:lstStyle/>
              <a:p>
                <a:pPr algn="l" indent="0" marL="0">
                  <a:lnSpc>
                    <a:spcPts val="844"/>
                  </a:lnSpc>
                  <a:buNone/>
                </a:pPr>
                <a:r>
                  <a:rPr lang="en-US" sz="560" dirty="0">
                    <a:solidFill>
                      <a:srgbClr val="8B949E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Example: codes 0→A, 10→B, 11→C. Peek 2 bits= </a:t>
                </a:r>
                <a:pPr algn="l" indent="0" marL="0">
                  <a:buNone/>
                </a:pPr>
                <a:r>
                  <a:rPr lang="en-US" sz="470" dirty="0">
                    <a:solidFill>
                      <a:srgbClr val="79C0FF"/>
                    </a:solidFill>
                    <a:highlight>
                      <a:srgbClr val="161B22"/>
                    </a:highlight>
                    <a:latin typeface="SF Mono" pitchFamily="34" charset="0"/>
                    <a:ea typeface="SF Mono" pitchFamily="34" charset="-122"/>
                    <a:cs typeface="SF Mono" pitchFamily="34" charset="-120"/>
                  </a:rPr>
                  <a:t>10 </a:t>
                </a:r>
                <a:pPr algn="l" indent="0" marL="0">
                  <a:buNone/>
                </a:pPr>
                <a:r>
                  <a:rPr lang="en-US" sz="560" dirty="0">
                    <a:solidFill>
                      <a:srgbClr val="8B949E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 → </a:t>
                </a:r>
                <a:pPr algn="l" indent="0" marL="0">
                  <a:buNone/>
                </a:pPr>
                <a:r>
                  <a:rPr lang="en-US" sz="470" dirty="0">
                    <a:solidFill>
                      <a:srgbClr val="79C0FF"/>
                    </a:solidFill>
                    <a:highlight>
                      <a:srgbClr val="161B22"/>
                    </a:highlight>
                    <a:latin typeface="SF Mono" pitchFamily="34" charset="0"/>
                    <a:ea typeface="SF Mono" pitchFamily="34" charset="-122"/>
                    <a:cs typeface="SF Mono" pitchFamily="34" charset="-120"/>
                  </a:rPr>
                  <a:t>lookup[2]=(B,2) </a:t>
                </a:r>
                <a:pPr algn="l" indent="0" marL="0">
                  <a:spcAft>
                    <a:spcPts val="338"/>
                  </a:spcAft>
                  <a:buNone/>
                </a:pPr>
                <a:r>
                  <a:rPr lang="en-US" sz="560" dirty="0">
                    <a:solidFill>
                      <a:srgbClr val="8B949E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. Before: scan all entries.</a:t>
                </a:r>
                <a:endParaRPr lang="en-US" sz="560" dirty="0"/>
              </a:p>
            </p:txBody>
          </p:sp>
        </p:grpSp>
      </p:grpSp>
      <p:sp>
        <p:nvSpPr>
          <p:cNvPr id="27" name="Text 25"/>
          <p:cNvSpPr/>
          <p:nvPr/>
        </p:nvSpPr>
        <p:spPr>
          <a:xfrm>
            <a:off x="457200" y="3841440"/>
            <a:ext cx="8229600" cy="428625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lIns="64294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Bef>
                <a:spcPts val="675"/>
              </a:spcBef>
              <a:buNone/>
            </a:pPr>
            <a:r>
              <a:rPr lang="en-US" sz="68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All three fixes are applied to the VM-installed pyperformance source. Algorithm and every other line of the decoder (BWT, RLE, block structure) is byte-for-byte unchanged. Correctness verified by MD5 on both sides.</a:t>
            </a:r>
            <a:endParaRPr lang="en-US" sz="6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5188" y="1316236"/>
            <a:ext cx="1250156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013"/>
              </a:lnSpc>
              <a:spcAft>
                <a:spcPts val="788"/>
              </a:spcAft>
              <a:buNone/>
            </a:pPr>
            <a:r>
              <a:rPr lang="en-US" sz="680" b="1" spc="101" kern="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WALL-CLOCK SPEEDUP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997223" y="1544836"/>
            <a:ext cx="2085975" cy="785813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6188"/>
              </a:lnSpc>
              <a:buNone/>
            </a:pPr>
            <a:r>
              <a:rPr lang="en-US" sz="6190" b="1" spc="-225" kern="0" dirty="0">
                <a:solidFill>
                  <a:srgbClr val="79C0FF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~33%</a:t>
            </a:r>
            <a:endParaRPr lang="en-US" sz="6190" dirty="0"/>
          </a:p>
        </p:txBody>
      </p:sp>
      <p:sp>
        <p:nvSpPr>
          <p:cNvPr id="4" name="Text 2"/>
          <p:cNvSpPr/>
          <p:nvPr/>
        </p:nvSpPr>
        <p:spPr>
          <a:xfrm>
            <a:off x="1168729" y="2373511"/>
            <a:ext cx="1743075" cy="192881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519"/>
              </a:lnSpc>
              <a:spcBef>
                <a:spcPts val="338"/>
              </a:spcBef>
              <a:buNone/>
            </a:pPr>
            <a:r>
              <a:rPr lang="en-US" sz="101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1.50× · 17.6 s → 11.7 s (n=60)</a:t>
            </a:r>
            <a:endParaRPr lang="en-US" sz="1010" dirty="0"/>
          </a:p>
        </p:txBody>
      </p:sp>
      <p:grpSp>
        <p:nvGrpSpPr>
          <p:cNvPr id="18" name="Group g76"/>
          <p:cNvGrpSpPr/>
          <p:nvPr/>
        </p:nvGrpSpPr>
        <p:grpSpPr>
          <a:xfrm>
            <a:off x="1061517" y="2709267"/>
            <a:ext cx="1957388" cy="600075"/>
            <a:chOff x="1061517" y="2709267"/>
            <a:chExt cx="1957388" cy="600075"/>
          </a:xfrm>
        </p:grpSpPr>
        <p:sp>
          <p:nvSpPr>
            <p:cNvPr id="5" name="Shape"/>
            <p:cNvSpPr/>
            <p:nvPr/>
          </p:nvSpPr>
          <p:spPr>
            <a:xfrm>
              <a:off x="1061517" y="2709267"/>
              <a:ext cx="1957388" cy="600075"/>
            </a:xfrm>
            <a:prstGeom prst="roundRect">
              <a:avLst>
                <a:gd name="adj" fmla="val 14286"/>
              </a:avLst>
            </a:prstGeom>
            <a:solidFill>
              <a:srgbClr val="0D1A2E"/>
            </a:solidFill>
            <a:ln w="7144">
              <a:solidFill>
                <a:srgbClr val="1A3A5C"/>
              </a:solidFill>
              <a:prstDash val="solid"/>
            </a:ln>
          </p:spPr>
        </p:sp>
        <p:sp>
          <p:nvSpPr>
            <p:cNvPr id="6" name="Shape"/>
            <p:cNvSpPr/>
            <p:nvPr/>
          </p:nvSpPr>
          <p:spPr>
            <a:xfrm>
              <a:off x="1240110" y="2816423"/>
              <a:ext cx="1600200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1013"/>
                </a:lnSpc>
                <a:spcAft>
                  <a:spcPts val="169"/>
                </a:spcAft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vs. 7% threshold</a:t>
              </a:r>
              <a:endParaRPr lang="en-US" sz="680" dirty="0"/>
            </a:p>
          </p:txBody>
        </p:sp>
        <p:sp>
          <p:nvSpPr>
            <p:cNvPr id="7" name="Shape"/>
            <p:cNvSpPr/>
            <p:nvPr/>
          </p:nvSpPr>
          <p:spPr>
            <a:xfrm>
              <a:off x="1240110" y="2966442"/>
              <a:ext cx="1600200" cy="2357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1856"/>
                </a:lnSpc>
                <a:buNone/>
              </a:pPr>
              <a:r>
                <a:rPr lang="en-US" sz="1240" b="1" dirty="0">
                  <a:solidFill>
                    <a:srgbClr val="79C0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4.75× above target ✓</a:t>
              </a:r>
              <a:endParaRPr lang="en-US" sz="1240" dirty="0"/>
            </a:p>
          </p:txBody>
        </p:sp>
      </p:grpSp>
      <p:grpSp>
        <p:nvGrpSpPr>
          <p:cNvPr id="19" name="Group g77"/>
          <p:cNvGrpSpPr/>
          <p:nvPr/>
        </p:nvGrpSpPr>
        <p:grpSpPr>
          <a:xfrm>
            <a:off x="929413" y="3407569"/>
            <a:ext cx="2221706" cy="421481"/>
            <a:chOff x="929413" y="3407569"/>
            <a:chExt cx="2221706" cy="421481"/>
          </a:xfrm>
        </p:grpSpPr>
        <p:sp>
          <p:nvSpPr>
            <p:cNvPr id="8" name="Shape"/>
            <p:cNvSpPr/>
            <p:nvPr/>
          </p:nvSpPr>
          <p:spPr>
            <a:xfrm>
              <a:off x="929413" y="3407569"/>
              <a:ext cx="2221706" cy="421481"/>
            </a:xfrm>
            <a:prstGeom prst="roundRect">
              <a:avLst>
                <a:gd name="adj" fmla="val 13559"/>
              </a:avLst>
            </a:prstGeom>
            <a:solidFill>
              <a:srgbClr val="0D2018"/>
            </a:solidFill>
            <a:ln w="7144">
              <a:solidFill>
                <a:srgbClr val="2A5C3A"/>
              </a:solidFill>
              <a:prstDash val="solid"/>
            </a:ln>
          </p:spPr>
        </p:sp>
        <p:sp>
          <p:nvSpPr>
            <p:cNvPr id="9" name="Shape"/>
            <p:cNvSpPr/>
            <p:nvPr/>
          </p:nvSpPr>
          <p:spPr>
            <a:xfrm>
              <a:off x="1050857" y="3487936"/>
              <a:ext cx="1978819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1013"/>
                </a:lnSpc>
                <a:buNone/>
              </a:pPr>
              <a:r>
                <a:rPr lang="en-US" sz="680" b="1" dirty="0">
                  <a:solidFill>
                    <a:srgbClr val="3FB950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MD5: afa004a630fe072901b1d9628b960974</a:t>
              </a:r>
              <a:endParaRPr lang="en-US" sz="680" dirty="0"/>
            </a:p>
          </p:txBody>
        </p:sp>
        <p:sp>
          <p:nvSpPr>
            <p:cNvPr id="10" name="Shape"/>
            <p:cNvSpPr/>
            <p:nvPr/>
          </p:nvSpPr>
          <p:spPr>
            <a:xfrm>
              <a:off x="1050857" y="3629025"/>
              <a:ext cx="1978819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928"/>
                </a:lnSpc>
                <a:spcBef>
                  <a:spcPts val="113"/>
                </a:spcBef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399,360 bytes · byte-identical ✓</a:t>
              </a:r>
              <a:endParaRPr lang="en-US" sz="620" dirty="0"/>
            </a:p>
          </p:txBody>
        </p:sp>
      </p:grpSp>
      <p:sp>
        <p:nvSpPr>
          <p:cNvPr id="11" name="Text 9"/>
          <p:cNvSpPr/>
          <p:nvPr/>
        </p:nvSpPr>
        <p:spPr>
          <a:xfrm>
            <a:off x="3936932" y="1387673"/>
            <a:ext cx="4750594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Aft>
                <a:spcPts val="225"/>
              </a:spcAft>
              <a:buNone/>
            </a:pPr>
            <a:r>
              <a:rPr lang="en-US" sz="680" b="1" spc="84" kern="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OPTIMIZATION SUMMARY</a:t>
            </a:r>
            <a:endParaRPr lang="en-US" sz="68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6932" y="1628775"/>
          <a:ext cx="4750594" cy="914400"/>
        </p:xfrm>
        <a:graphic>
          <a:graphicData uri="http://schemas.openxmlformats.org/drawingml/2006/table">
            <a:tbl>
              <a:tblPr/>
              <a:tblGrid>
                <a:gridCol w="1064865"/>
                <a:gridCol w="1242343"/>
                <a:gridCol w="124234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7"/>
                        </a:lnSpc>
                        <a:buNone/>
                      </a:pPr>
                      <a:r>
                        <a:rPr lang="en-US" sz="730" b="1" spc="45" kern="0" dirty="0">
                          <a:solidFill>
                            <a:srgbClr val="58A6FF"/>
                          </a:solidFill>
                          <a:highlight>
                            <a:srgbClr val="0D1117"/>
                          </a:highlight>
                          <a:latin typeface="SF Pro Semibold" pitchFamily="34" charset="0"/>
                          <a:ea typeface="SF Pro Semibold" pitchFamily="34" charset="-122"/>
                          <a:cs typeface="SF Pro Semibold" pitchFamily="34" charset="-120"/>
                        </a:rPr>
                        <a:t>FIX</a:t>
                      </a:r>
                      <a:endParaRPr lang="en-US" sz="730" dirty="0">
                        <a:latin typeface="SF Pro Semibold" charset="0"/>
                        <a:ea typeface="SF Pro Semibold" charset="0"/>
                        <a:cs typeface="SF Pro Semibold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7"/>
                        </a:lnSpc>
                        <a:buNone/>
                      </a:pPr>
                      <a:r>
                        <a:rPr lang="en-US" sz="730" b="1" spc="45" kern="0" dirty="0">
                          <a:solidFill>
                            <a:srgbClr val="58A6FF"/>
                          </a:solidFill>
                          <a:highlight>
                            <a:srgbClr val="0D1117"/>
                          </a:highlight>
                          <a:latin typeface="SF Pro Semibold" pitchFamily="34" charset="0"/>
                          <a:ea typeface="SF Pro Semibold" pitchFamily="34" charset="-122"/>
                          <a:cs typeface="SF Pro Semibold" pitchFamily="34" charset="-120"/>
                        </a:rPr>
                        <a:t>BEFORE</a:t>
                      </a:r>
                      <a:endParaRPr lang="en-US" sz="730" dirty="0">
                        <a:latin typeface="SF Pro Semibold" charset="0"/>
                        <a:ea typeface="SF Pro Semibold" charset="0"/>
                        <a:cs typeface="SF Pro Semibold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7"/>
                        </a:lnSpc>
                        <a:buNone/>
                      </a:pPr>
                      <a:r>
                        <a:rPr lang="en-US" sz="730" b="1" spc="45" kern="0" dirty="0">
                          <a:solidFill>
                            <a:srgbClr val="79C0FF"/>
                          </a:solidFill>
                          <a:highlight>
                            <a:srgbClr val="0D1A2E"/>
                          </a:highlight>
                          <a:latin typeface="SF Pro Semibold" pitchFamily="34" charset="0"/>
                          <a:ea typeface="SF Pro Semibold" pitchFamily="34" charset="-122"/>
                          <a:cs typeface="SF Pro Semibold" pitchFamily="34" charset="-120"/>
                        </a:rPr>
                        <a:t>AFTER</a:t>
                      </a:r>
                      <a:endParaRPr lang="en-US" sz="730" dirty="0">
                        <a:latin typeface="SF Pro Semibold" charset="0"/>
                        <a:ea typeface="SF Pro Semibold" charset="0"/>
                        <a:cs typeface="SF Pro Semibold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dirty="0">
                          <a:solidFill>
                            <a:srgbClr val="8B949E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MTF (OPT-2)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F85149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4 new lists / symbol</a:t>
                      </a: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3FB950"/>
                          </a:solidFill>
                          <a:highlight>
                            <a:srgbClr val="0D1A2E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0 new lists</a:t>
                      </a: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dirty="0">
                          <a:solidFill>
                            <a:srgbClr val="8B949E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Bit reader (OPT-1)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F85149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file call / byte</a:t>
                      </a: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3FB950"/>
                          </a:solidFill>
                          <a:highlight>
                            <a:srgbClr val="0D1A2E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buffer index</a:t>
                      </a: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dirty="0">
                          <a:solidFill>
                            <a:srgbClr val="8B949E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Huffman (OPT-3)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F85149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O(N) linear scan</a:t>
                      </a: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3FB950"/>
                          </a:solidFill>
                          <a:highlight>
                            <a:srgbClr val="0D1A2E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O(1) table lookup</a:t>
                      </a: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dirty="0">
                          <a:solidFill>
                            <a:srgbClr val="8B949E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Speedup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dirty="0">
                          <a:solidFill>
                            <a:srgbClr val="C9D1D9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1.00×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519"/>
                        </a:lnSpc>
                        <a:buNone/>
                      </a:pPr>
                      <a:r>
                        <a:rPr lang="en-US" sz="1010" b="1" dirty="0">
                          <a:solidFill>
                            <a:srgbClr val="79C0FF"/>
                          </a:solidFill>
                          <a:highlight>
                            <a:srgbClr val="0D1F3A"/>
                          </a:highlight>
                          <a:latin typeface="SF Pro Heavy" pitchFamily="34" charset="0"/>
                          <a:ea typeface="SF Pro Heavy" pitchFamily="34" charset="-122"/>
                          <a:cs typeface="SF Pro Heavy" pitchFamily="34" charset="-120"/>
                        </a:rPr>
                        <a:t>1.50×</a:t>
                      </a:r>
                      <a:endParaRPr lang="en-US" sz="1010" dirty="0">
                        <a:latin typeface="SF Pro Heavy" charset="0"/>
                        <a:ea typeface="SF Pro Heavy" charset="0"/>
                        <a:cs typeface="SF Pro Heavy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dirty="0">
                          <a:solidFill>
                            <a:srgbClr val="8B949E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Wall-clock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C9D1D9"/>
                          </a:solidFill>
                          <a:highlight>
                            <a:srgbClr val="0D1117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17.6 s ± 1.3 s</a:t>
                      </a:r>
                      <a:endParaRPr lang="en-US" sz="68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79C0FF"/>
                          </a:solidFill>
                          <a:highlight>
                            <a:srgbClr val="0D1A2E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11.7 s ± 0.9 s</a:t>
                      </a:r>
                      <a:endParaRPr lang="en-US" sz="68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3936932" y="3327202"/>
            <a:ext cx="4750594" cy="428625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lIns="5715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80" b="1" dirty="0">
                <a:solidFill>
                  <a:srgbClr val="C9D1D9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Combined with nbody:</a:t>
            </a:r>
            <a:pPr algn="l"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 two benchmarks each independently past 7% → the project's "≥7% on ≥2 benchmarks" criterion is met.</a:t>
            </a:r>
            <a:endParaRPr lang="en-US" sz="6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72790"/>
            <a:ext cx="514350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Aft>
                <a:spcPts val="450"/>
              </a:spcAft>
              <a:buNone/>
            </a:pPr>
            <a:r>
              <a:rPr lang="en-US" sz="680" b="1" spc="101" kern="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PART 4 — HARDWARE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457200" y="1258863"/>
            <a:ext cx="5143500" cy="314325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2481"/>
              </a:lnSpc>
              <a:buNone/>
            </a:pPr>
            <a:r>
              <a:rPr lang="en-US" sz="2360" b="1" spc="-56" kern="0" dirty="0">
                <a:solidFill>
                  <a:srgbClr val="E6EDF3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Co-design </a:t>
            </a:r>
            <a:pPr algn="l" indent="0" marL="0">
              <a:buNone/>
            </a:pPr>
            <a:r>
              <a:rPr lang="en-US" sz="2360" b="1" spc="-56" kern="0" dirty="0">
                <a:solidFill>
                  <a:srgbClr val="58A6FF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Rule</a:t>
            </a:r>
            <a:endParaRPr lang="en-US" sz="2360" dirty="0"/>
          </a:p>
        </p:txBody>
      </p:sp>
      <p:sp>
        <p:nvSpPr>
          <p:cNvPr id="4" name="Shape 2"/>
          <p:cNvSpPr/>
          <p:nvPr/>
        </p:nvSpPr>
        <p:spPr>
          <a:xfrm>
            <a:off x="457200" y="1687823"/>
            <a:ext cx="314325" cy="21431"/>
          </a:xfrm>
          <a:prstGeom prst="roundRect">
            <a:avLst>
              <a:gd name="adj" fmla="val 50001"/>
            </a:avLst>
          </a:prstGeom>
          <a:solidFill>
            <a:srgbClr val="58A6FF"/>
          </a:solidFill>
          <a:ln/>
        </p:spPr>
      </p:sp>
      <p:grpSp>
        <p:nvGrpSpPr>
          <p:cNvPr id="24" name="Group g84"/>
          <p:cNvGrpSpPr/>
          <p:nvPr/>
        </p:nvGrpSpPr>
        <p:grpSpPr>
          <a:xfrm>
            <a:off x="455972" y="1836055"/>
            <a:ext cx="1650206" cy="1314450"/>
            <a:chOff x="455972" y="1836055"/>
            <a:chExt cx="1650206" cy="1314450"/>
          </a:xfrm>
        </p:grpSpPr>
        <p:sp>
          <p:nvSpPr>
            <p:cNvPr id="5" name="Shape"/>
            <p:cNvSpPr/>
            <p:nvPr/>
          </p:nvSpPr>
          <p:spPr>
            <a:xfrm>
              <a:off x="455972" y="1836055"/>
              <a:ext cx="1650206" cy="1314450"/>
            </a:xfrm>
            <a:prstGeom prst="roundRect">
              <a:avLst>
                <a:gd name="adj" fmla="val 6522"/>
              </a:avLst>
            </a:prstGeom>
            <a:solidFill>
              <a:srgbClr val="0D1A2E">
                <a:alpha val="90000"/>
              </a:srgbClr>
            </a:solidFill>
            <a:ln w="7144">
              <a:solidFill>
                <a:srgbClr val="58A6FF">
                  <a:alpha val="35000"/>
                </a:srgbClr>
              </a:solidFill>
              <a:prstDash val="solid"/>
            </a:ln>
          </p:spPr>
        </p:sp>
        <p:sp>
          <p:nvSpPr>
            <p:cNvPr id="6" name="Shape"/>
            <p:cNvSpPr/>
            <p:nvPr/>
          </p:nvSpPr>
          <p:spPr>
            <a:xfrm>
              <a:off x="1216726" y="1959285"/>
              <a:ext cx="128588" cy="30003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2363"/>
                </a:lnSpc>
                <a:spcAft>
                  <a:spcPts val="450"/>
                </a:spcAft>
                <a:buNone/>
              </a:pPr>
              <a:r>
                <a:rPr lang="en-US" sz="158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🔒</a:t>
              </a:r>
              <a:endParaRPr lang="en-US" sz="1580" dirty="0"/>
            </a:p>
          </p:txBody>
        </p:sp>
        <p:sp>
          <p:nvSpPr>
            <p:cNvPr id="7" name="Shape"/>
            <p:cNvSpPr/>
            <p:nvPr/>
          </p:nvSpPr>
          <p:spPr>
            <a:xfrm>
              <a:off x="688144" y="2314687"/>
              <a:ext cx="1185863" cy="16430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1266"/>
                </a:lnSpc>
                <a:spcAft>
                  <a:spcPts val="281"/>
                </a:spcAft>
                <a:buNone/>
              </a:pPr>
              <a:r>
                <a:rPr lang="en-US" sz="840" b="1" dirty="0">
                  <a:solidFill>
                    <a:srgbClr val="E6EDF3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Don't break user code</a:t>
              </a:r>
              <a:endParaRPr lang="en-US" sz="840" dirty="0"/>
            </a:p>
          </p:txBody>
        </p:sp>
        <p:sp>
          <p:nvSpPr>
            <p:cNvPr id="8" name="Shape"/>
            <p:cNvSpPr/>
            <p:nvPr/>
          </p:nvSpPr>
          <p:spPr>
            <a:xfrm>
              <a:off x="591703" y="2512926"/>
              <a:ext cx="1378744" cy="514350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ctr" indent="0" marL="0">
                <a:lnSpc>
                  <a:spcPts val="1013"/>
                </a:lnSpc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Python API unchanged. Same function signatures. The accelerator is an implementation detail.</a:t>
              </a:r>
              <a:endParaRPr lang="en-US" sz="680" dirty="0"/>
            </a:p>
          </p:txBody>
        </p:sp>
      </p:grpSp>
      <p:grpSp>
        <p:nvGrpSpPr>
          <p:cNvPr id="25" name="Group g85"/>
          <p:cNvGrpSpPr/>
          <p:nvPr/>
        </p:nvGrpSpPr>
        <p:grpSpPr>
          <a:xfrm>
            <a:off x="2203791" y="1836055"/>
            <a:ext cx="1650206" cy="1314450"/>
            <a:chOff x="2203791" y="1836055"/>
            <a:chExt cx="1650206" cy="1314450"/>
          </a:xfrm>
        </p:grpSpPr>
        <p:sp>
          <p:nvSpPr>
            <p:cNvPr id="9" name="Shape"/>
            <p:cNvSpPr/>
            <p:nvPr/>
          </p:nvSpPr>
          <p:spPr>
            <a:xfrm>
              <a:off x="2203791" y="1836055"/>
              <a:ext cx="1650206" cy="1314450"/>
            </a:xfrm>
            <a:prstGeom prst="roundRect">
              <a:avLst>
                <a:gd name="adj" fmla="val 6522"/>
              </a:avLst>
            </a:prstGeom>
            <a:solidFill>
              <a:srgbClr val="0D1A2E">
                <a:alpha val="90000"/>
              </a:srgbClr>
            </a:solidFill>
            <a:ln w="7144">
              <a:solidFill>
                <a:srgbClr val="58A6FF">
                  <a:alpha val="35000"/>
                </a:srgbClr>
              </a:solidFill>
              <a:prstDash val="solid"/>
            </a:ln>
          </p:spPr>
        </p:sp>
        <p:sp>
          <p:nvSpPr>
            <p:cNvPr id="10" name="Shape"/>
            <p:cNvSpPr/>
            <p:nvPr/>
          </p:nvSpPr>
          <p:spPr>
            <a:xfrm>
              <a:off x="2932454" y="1959285"/>
              <a:ext cx="192881" cy="30003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2363"/>
                </a:lnSpc>
                <a:spcAft>
                  <a:spcPts val="450"/>
                </a:spcAft>
                <a:buNone/>
              </a:pPr>
              <a:r>
                <a:rPr lang="en-US" sz="158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↔️</a:t>
              </a:r>
              <a:endParaRPr lang="en-US" sz="1580" dirty="0"/>
            </a:p>
          </p:txBody>
        </p:sp>
        <p:sp>
          <p:nvSpPr>
            <p:cNvPr id="11" name="Shape"/>
            <p:cNvSpPr/>
            <p:nvPr/>
          </p:nvSpPr>
          <p:spPr>
            <a:xfrm>
              <a:off x="2507400" y="2314687"/>
              <a:ext cx="1042988" cy="16430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1266"/>
                </a:lnSpc>
                <a:spcAft>
                  <a:spcPts val="281"/>
                </a:spcAft>
                <a:buNone/>
              </a:pPr>
              <a:r>
                <a:rPr lang="en-US" sz="840" b="1" dirty="0">
                  <a:solidFill>
                    <a:srgbClr val="E6EDF3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Keep the public API</a:t>
              </a:r>
              <a:endParaRPr lang="en-US" sz="840" dirty="0"/>
            </a:p>
          </p:txBody>
        </p:sp>
        <p:sp>
          <p:nvSpPr>
            <p:cNvPr id="12" name="Shape"/>
            <p:cNvSpPr/>
            <p:nvPr/>
          </p:nvSpPr>
          <p:spPr>
            <a:xfrm>
              <a:off x="2339522" y="2512926"/>
              <a:ext cx="1378744" cy="385763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ctr" indent="0" marL="0">
                <a:lnSpc>
                  <a:spcPts val="1013"/>
                </a:lnSpc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Same names, same argument types, same return values. A drop-in replacement.</a:t>
              </a:r>
              <a:endParaRPr lang="en-US" sz="680" dirty="0"/>
            </a:p>
          </p:txBody>
        </p:sp>
      </p:grpSp>
      <p:grpSp>
        <p:nvGrpSpPr>
          <p:cNvPr id="26" name="Group g86"/>
          <p:cNvGrpSpPr/>
          <p:nvPr/>
        </p:nvGrpSpPr>
        <p:grpSpPr>
          <a:xfrm>
            <a:off x="3951666" y="1836055"/>
            <a:ext cx="1650206" cy="1314450"/>
            <a:chOff x="3951666" y="1836055"/>
            <a:chExt cx="1650206" cy="1314450"/>
          </a:xfrm>
        </p:grpSpPr>
        <p:sp>
          <p:nvSpPr>
            <p:cNvPr id="13" name="Shape"/>
            <p:cNvSpPr/>
            <p:nvPr/>
          </p:nvSpPr>
          <p:spPr>
            <a:xfrm>
              <a:off x="3951666" y="1836055"/>
              <a:ext cx="1650206" cy="1314450"/>
            </a:xfrm>
            <a:prstGeom prst="roundRect">
              <a:avLst>
                <a:gd name="adj" fmla="val 6522"/>
              </a:avLst>
            </a:prstGeom>
            <a:solidFill>
              <a:srgbClr val="0D1A2E">
                <a:alpha val="90000"/>
              </a:srgbClr>
            </a:solidFill>
            <a:ln w="7144">
              <a:solidFill>
                <a:srgbClr val="58A6FF">
                  <a:alpha val="35000"/>
                </a:srgbClr>
              </a:solidFill>
              <a:prstDash val="solid"/>
            </a:ln>
          </p:spPr>
        </p:sp>
        <p:sp>
          <p:nvSpPr>
            <p:cNvPr id="14" name="Shape"/>
            <p:cNvSpPr/>
            <p:nvPr/>
          </p:nvSpPr>
          <p:spPr>
            <a:xfrm>
              <a:off x="4673185" y="1959285"/>
              <a:ext cx="207169" cy="30003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2363"/>
                </a:lnSpc>
                <a:spcAft>
                  <a:spcPts val="450"/>
                </a:spcAft>
                <a:buNone/>
              </a:pPr>
              <a:r>
                <a:rPr lang="en-US" sz="158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💻</a:t>
              </a:r>
              <a:endParaRPr lang="en-US" sz="1580" dirty="0"/>
            </a:p>
          </p:txBody>
        </p:sp>
        <p:sp>
          <p:nvSpPr>
            <p:cNvPr id="15" name="Shape"/>
            <p:cNvSpPr/>
            <p:nvPr/>
          </p:nvSpPr>
          <p:spPr>
            <a:xfrm>
              <a:off x="4294566" y="2314687"/>
              <a:ext cx="964406" cy="16430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1266"/>
                </a:lnSpc>
                <a:spcAft>
                  <a:spcPts val="281"/>
                </a:spcAft>
                <a:buNone/>
              </a:pPr>
              <a:r>
                <a:rPr lang="en-US" sz="840" b="1" dirty="0">
                  <a:solidFill>
                    <a:srgbClr val="E6EDF3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CPU fallback path</a:t>
              </a:r>
              <a:endParaRPr lang="en-US" sz="840" dirty="0"/>
            </a:p>
          </p:txBody>
        </p:sp>
        <p:sp>
          <p:nvSpPr>
            <p:cNvPr id="16" name="Shape"/>
            <p:cNvSpPr/>
            <p:nvPr/>
          </p:nvSpPr>
          <p:spPr>
            <a:xfrm>
              <a:off x="4087397" y="2512926"/>
              <a:ext cx="1378744" cy="257175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ctr" indent="0" marL="0">
                <a:lnSpc>
                  <a:spcPts val="1013"/>
                </a:lnSpc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If HW absent → fall back to the optimized SW path transparently.</a:t>
              </a:r>
              <a:endParaRPr lang="en-US" sz="680" dirty="0"/>
            </a:p>
          </p:txBody>
        </p:sp>
      </p:grpSp>
      <p:grpSp>
        <p:nvGrpSpPr>
          <p:cNvPr id="27" name="Group g87"/>
          <p:cNvGrpSpPr/>
          <p:nvPr/>
        </p:nvGrpSpPr>
        <p:grpSpPr>
          <a:xfrm>
            <a:off x="457200" y="3263243"/>
            <a:ext cx="2521744" cy="807244"/>
            <a:chOff x="457200" y="3263243"/>
            <a:chExt cx="2521744" cy="807244"/>
          </a:xfrm>
        </p:grpSpPr>
        <p:sp>
          <p:nvSpPr>
            <p:cNvPr id="17" name="Shape"/>
            <p:cNvSpPr/>
            <p:nvPr/>
          </p:nvSpPr>
          <p:spPr>
            <a:xfrm>
              <a:off x="457200" y="3263243"/>
              <a:ext cx="2521744" cy="807244"/>
            </a:xfrm>
            <a:prstGeom prst="roundRect">
              <a:avLst>
                <a:gd name="adj" fmla="val 8850"/>
              </a:avLst>
            </a:prstGeom>
            <a:solidFill>
              <a:srgbClr val="161B22">
                <a:alpha val="88000"/>
              </a:srgbClr>
            </a:solidFill>
            <a:ln w="7144">
              <a:solidFill>
                <a:srgbClr val="30363D"/>
              </a:solidFill>
              <a:prstDash val="solid"/>
            </a:ln>
          </p:spPr>
        </p:sp>
        <p:sp>
          <p:nvSpPr>
            <p:cNvPr id="18" name="Shape"/>
            <p:cNvSpPr/>
            <p:nvPr/>
          </p:nvSpPr>
          <p:spPr>
            <a:xfrm>
              <a:off x="592931" y="3368390"/>
              <a:ext cx="2250281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spcAft>
                  <a:spcPts val="338"/>
                </a:spcAft>
                <a:buNone/>
              </a:pPr>
              <a:r>
                <a:rPr lang="en-US" sz="730" b="1" dirty="0">
                  <a:solidFill>
                    <a:srgbClr val="79C0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What we accelerate (pyflate · 2 components)</a:t>
              </a:r>
              <a:endParaRPr lang="en-US" sz="730" dirty="0"/>
            </a:p>
          </p:txBody>
        </p:sp>
        <p:sp>
          <p:nvSpPr>
            <p:cNvPr id="19" name="Shape"/>
            <p:cNvSpPr/>
            <p:nvPr/>
          </p:nvSpPr>
          <p:spPr>
            <a:xfrm>
              <a:off x="592931" y="3550779"/>
              <a:ext cx="2250281" cy="41433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80"/>
                </a:lnSpc>
                <a:buNone/>
              </a:pPr>
              <a:r>
                <a:rPr lang="en-US" sz="680" b="1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(A)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Bit reader + Huffman decode — f=43.55%</a:t>
              </a:r>
              <a:pPr algn="l" indent="0" marL="0">
                <a:buNone/>
              </a:pPr>
              <a:endParaRPr lang="en-US" sz="680" dirty="0"/>
            </a:p>
            <a:p>
              <a:pPr algn="l" indent="0" marL="0">
                <a:lnSpc>
                  <a:spcPts val="1080"/>
                </a:lnSpc>
                <a:buNone/>
              </a:pPr>
              <a:r>
                <a:rPr lang="en-US" sz="680" b="1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(B)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Move-To-Front (MTF) unit — adds ~10.3%</a:t>
              </a:r>
              <a:pPr algn="l" indent="0" marL="0">
                <a:buNone/>
              </a:pPr>
              <a:endParaRPr lang="en-US" sz="680" dirty="0"/>
            </a:p>
            <a:p>
              <a:pPr algn="l" indent="0" marL="0">
                <a:lnSpc>
                  <a:spcPts val="1080"/>
                </a:lnSpc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Combined: ~53.8% → </a:t>
              </a:r>
              <a:pPr algn="l" indent="0" marL="0">
                <a:buNone/>
              </a:pPr>
              <a:r>
                <a:rPr lang="en-US" sz="680" b="1" dirty="0">
                  <a:solidFill>
                    <a:srgbClr val="3FB950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~2.16× overall (Amdahl est.)</a:t>
              </a:r>
              <a:endParaRPr lang="en-US" sz="680" dirty="0"/>
            </a:p>
          </p:txBody>
        </p:sp>
      </p:grpSp>
      <p:grpSp>
        <p:nvGrpSpPr>
          <p:cNvPr id="28" name="Group g88"/>
          <p:cNvGrpSpPr/>
          <p:nvPr/>
        </p:nvGrpSpPr>
        <p:grpSpPr>
          <a:xfrm>
            <a:off x="3078956" y="3263243"/>
            <a:ext cx="2521744" cy="807244"/>
            <a:chOff x="3078956" y="3263243"/>
            <a:chExt cx="2521744" cy="807244"/>
          </a:xfrm>
        </p:grpSpPr>
        <p:sp>
          <p:nvSpPr>
            <p:cNvPr id="20" name="Shape"/>
            <p:cNvSpPr/>
            <p:nvPr/>
          </p:nvSpPr>
          <p:spPr>
            <a:xfrm>
              <a:off x="3078956" y="3263243"/>
              <a:ext cx="2521744" cy="807244"/>
            </a:xfrm>
            <a:prstGeom prst="roundRect">
              <a:avLst>
                <a:gd name="adj" fmla="val 8850"/>
              </a:avLst>
            </a:prstGeom>
            <a:solidFill>
              <a:srgbClr val="161B22">
                <a:alpha val="88000"/>
              </a:srgbClr>
            </a:solidFill>
            <a:ln w="7144">
              <a:solidFill>
                <a:srgbClr val="30363D"/>
              </a:solidFill>
              <a:prstDash val="solid"/>
            </a:ln>
          </p:spPr>
        </p:sp>
        <p:sp>
          <p:nvSpPr>
            <p:cNvPr id="21" name="Shape"/>
            <p:cNvSpPr/>
            <p:nvPr/>
          </p:nvSpPr>
          <p:spPr>
            <a:xfrm>
              <a:off x="3214688" y="3368390"/>
              <a:ext cx="2250281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spcAft>
                  <a:spcPts val="338"/>
                </a:spcAft>
                <a:buNone/>
              </a:pPr>
              <a:r>
                <a:rPr lang="en-US" sz="730" b="1" dirty="0">
                  <a:solidFill>
                    <a:srgbClr val="79C0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HW/SW interface</a:t>
              </a:r>
              <a:endParaRPr lang="en-US" sz="730" dirty="0"/>
            </a:p>
          </p:txBody>
        </p:sp>
        <p:sp>
          <p:nvSpPr>
            <p:cNvPr id="22" name="Shape"/>
            <p:cNvSpPr/>
            <p:nvPr/>
          </p:nvSpPr>
          <p:spPr>
            <a:xfrm>
              <a:off x="3214688" y="3550555"/>
              <a:ext cx="2250281" cy="135731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58A6FF"/>
                  </a:solidFill>
                  <a:highlight>
                    <a:srgbClr val="0D1A2E"/>
                  </a:highlight>
                  <a:latin typeface="monospace" pitchFamily="34" charset="0"/>
                  <a:ea typeface="monospace" pitchFamily="34" charset="-122"/>
                  <a:cs typeface="monospace" pitchFamily="34" charset="-120"/>
                </a:rPr>
                <a:t>AXI4-Lite 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 control registers (MMIO)</a:t>
              </a:r>
              <a:endParaRPr lang="en-US" sz="620" dirty="0"/>
            </a:p>
          </p:txBody>
        </p:sp>
        <p:sp>
          <p:nvSpPr>
            <p:cNvPr id="23" name="Shape"/>
            <p:cNvSpPr/>
            <p:nvPr/>
          </p:nvSpPr>
          <p:spPr>
            <a:xfrm>
              <a:off x="3214688" y="3718433"/>
              <a:ext cx="2250281" cy="135731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79C0FF"/>
                  </a:solidFill>
                  <a:highlight>
                    <a:srgbClr val="0D1A2E"/>
                  </a:highlight>
                  <a:latin typeface="monospace" pitchFamily="34" charset="0"/>
                  <a:ea typeface="monospace" pitchFamily="34" charset="-122"/>
                  <a:cs typeface="monospace" pitchFamily="34" charset="-120"/>
                </a:rPr>
                <a:t>AXI4-Stream 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 byte-in / symbol-out DMA</a:t>
              </a:r>
              <a:endParaRPr lang="en-US" sz="620" dirty="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5689" y="861938"/>
            <a:ext cx="3407569" cy="321469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2531"/>
              </a:lnSpc>
              <a:buNone/>
            </a:pPr>
            <a:r>
              <a:rPr lang="en-US" sz="1690" b="1" spc="-28" kern="0" dirty="0">
                <a:solidFill>
                  <a:srgbClr val="E6EDF3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pyflate — </a:t>
            </a:r>
            <a:pPr algn="l" indent="0" marL="0">
              <a:buNone/>
            </a:pPr>
            <a:r>
              <a:rPr lang="en-US" sz="1690" b="1" spc="-28" kern="0" dirty="0">
                <a:solidFill>
                  <a:srgbClr val="58A6FF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Accelerator Block Diagram</a:t>
            </a:r>
            <a:endParaRPr lang="en-US" sz="1690" dirty="0"/>
          </a:p>
        </p:txBody>
      </p:sp>
      <p:sp>
        <p:nvSpPr>
          <p:cNvPr id="3" name="Text 1"/>
          <p:cNvSpPr/>
          <p:nvPr/>
        </p:nvSpPr>
        <p:spPr>
          <a:xfrm>
            <a:off x="4039679" y="1004813"/>
            <a:ext cx="3214688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80" b="1" spc="101" kern="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SYSTEMVERILOG · INTEGER-ONLY · FULLY SYNTHESIZABLE</a:t>
            </a:r>
            <a:endParaRPr lang="en-US" sz="680" dirty="0"/>
          </a:p>
        </p:txBody>
      </p:sp>
      <p:grpSp>
        <p:nvGrpSpPr>
          <p:cNvPr id="55" name="Group g89"/>
          <p:cNvGrpSpPr/>
          <p:nvPr/>
        </p:nvGrpSpPr>
        <p:grpSpPr>
          <a:xfrm>
            <a:off x="514350" y="1283419"/>
            <a:ext cx="8115300" cy="2336006"/>
            <a:chOff x="514350" y="1283419"/>
            <a:chExt cx="8115300" cy="2336006"/>
          </a:xfrm>
        </p:grpSpPr>
        <p:sp>
          <p:nvSpPr>
            <p:cNvPr id="4" name="Shape"/>
            <p:cNvSpPr/>
            <p:nvPr/>
          </p:nvSpPr>
          <p:spPr>
            <a:xfrm>
              <a:off x="514350" y="1283419"/>
              <a:ext cx="8115300" cy="2336006"/>
            </a:xfrm>
            <a:prstGeom prst="roundRect">
              <a:avLst>
                <a:gd name="adj" fmla="val 4281"/>
              </a:avLst>
            </a:prstGeom>
            <a:solidFill>
              <a:srgbClr val="0A0F1A"/>
            </a:solidFill>
            <a:ln w="7144">
              <a:solidFill>
                <a:srgbClr val="1A3A5C"/>
              </a:solidFill>
              <a:prstDash val="solid"/>
            </a:ln>
          </p:spPr>
        </p:sp>
        <p:sp>
          <p:nvSpPr>
            <p:cNvPr id="5" name="Shape"/>
            <p:cNvSpPr/>
            <p:nvPr/>
          </p:nvSpPr>
          <p:spPr>
            <a:xfrm>
              <a:off x="678656" y="1419151"/>
              <a:ext cx="7786688" cy="10715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844"/>
                </a:lnSpc>
                <a:spcAft>
                  <a:spcPts val="788"/>
                </a:spcAft>
                <a:buNone/>
              </a:pPr>
              <a:r>
                <a:rPr lang="en-US" sz="560" b="1" spc="113" kern="0" dirty="0">
                  <a:solidFill>
                    <a:srgbClr val="484F58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HUFFMAN_ACCEL + MTF_UNIT — CHAINED ON-CHIP</a:t>
              </a:r>
              <a:endParaRPr lang="en-US" sz="560" dirty="0"/>
            </a:p>
          </p:txBody>
        </p:sp>
        <p:sp>
          <p:nvSpPr>
            <p:cNvPr id="6" name="Shape"/>
            <p:cNvSpPr/>
            <p:nvPr/>
          </p:nvSpPr>
          <p:spPr>
            <a:xfrm>
              <a:off x="2793541" y="1753121"/>
              <a:ext cx="378619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buNone/>
              </a:pPr>
              <a:r>
                <a:rPr lang="en-US" sz="620" b="1" dirty="0">
                  <a:solidFill>
                    <a:srgbClr val="58A6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AXI4-Lite</a:t>
              </a:r>
              <a:endParaRPr lang="en-US" sz="620" dirty="0"/>
            </a:p>
          </p:txBody>
        </p:sp>
        <p:sp>
          <p:nvSpPr>
            <p:cNvPr id="7" name="Shape"/>
            <p:cNvSpPr/>
            <p:nvPr/>
          </p:nvSpPr>
          <p:spPr>
            <a:xfrm>
              <a:off x="2917720" y="1872779"/>
              <a:ext cx="257175" cy="10715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844"/>
                </a:lnSpc>
                <a:buNone/>
              </a:pPr>
              <a:r>
                <a:rPr lang="en-US" sz="560" dirty="0">
                  <a:solidFill>
                    <a:srgbClr val="484F58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(MMIO)</a:t>
              </a:r>
              <a:endParaRPr lang="en-US" sz="560" dirty="0"/>
            </a:p>
          </p:txBody>
        </p:sp>
        <p:sp>
          <p:nvSpPr>
            <p:cNvPr id="8" name="Shape"/>
            <p:cNvSpPr/>
            <p:nvPr/>
          </p:nvSpPr>
          <p:spPr>
            <a:xfrm>
              <a:off x="3243765" y="1760265"/>
              <a:ext cx="121444" cy="214313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688"/>
                </a:lnSpc>
                <a:buNone/>
              </a:pPr>
              <a:r>
                <a:rPr lang="en-US" sz="1130" dirty="0">
                  <a:solidFill>
                    <a:srgbClr val="58A6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⇄</a:t>
              </a:r>
              <a:endParaRPr lang="en-US" sz="1130" dirty="0"/>
            </a:p>
          </p:txBody>
        </p:sp>
        <p:sp>
          <p:nvSpPr>
            <p:cNvPr id="18" name="Shape"/>
            <p:cNvSpPr/>
            <p:nvPr/>
          </p:nvSpPr>
          <p:spPr>
            <a:xfrm>
              <a:off x="4564856" y="2151385"/>
              <a:ext cx="14288" cy="100012"/>
            </a:xfrm>
            <a:prstGeom prst="rect">
              <a:avLst/>
            </a:prstGeom>
            <a:solidFill>
              <a:srgbClr val="2A5C3A"/>
            </a:solidFill>
            <a:ln/>
          </p:spPr>
        </p:sp>
        <p:sp>
          <p:nvSpPr>
            <p:cNvPr id="19" name="Shape"/>
            <p:cNvSpPr/>
            <p:nvPr/>
          </p:nvSpPr>
          <p:spPr>
            <a:xfrm>
              <a:off x="4221956" y="2251397"/>
              <a:ext cx="700088" cy="10715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844"/>
                </a:lnSpc>
                <a:buNone/>
              </a:pPr>
              <a:r>
                <a:rPr lang="en-US" sz="560" dirty="0">
                  <a:solidFill>
                    <a:srgbClr val="484F58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load tables / MTF init</a:t>
              </a:r>
              <a:endParaRPr lang="en-US" sz="560" dirty="0"/>
            </a:p>
          </p:txBody>
        </p:sp>
        <p:sp>
          <p:nvSpPr>
            <p:cNvPr id="20" name="Shape"/>
            <p:cNvSpPr/>
            <p:nvPr/>
          </p:nvSpPr>
          <p:spPr>
            <a:xfrm>
              <a:off x="4564856" y="2358554"/>
              <a:ext cx="14288" cy="71438"/>
            </a:xfrm>
            <a:prstGeom prst="rect">
              <a:avLst/>
            </a:prstGeom>
            <a:solidFill>
              <a:srgbClr val="2A5C3A"/>
            </a:solidFill>
            <a:ln/>
          </p:spPr>
        </p:sp>
        <p:sp>
          <p:nvSpPr>
            <p:cNvPr id="21" name="Shape"/>
            <p:cNvSpPr/>
            <p:nvPr/>
          </p:nvSpPr>
          <p:spPr>
            <a:xfrm>
              <a:off x="4532709" y="2429991"/>
              <a:ext cx="78581" cy="100012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788"/>
                </a:lnSpc>
                <a:buNone/>
              </a:pPr>
              <a:r>
                <a:rPr lang="en-US" sz="790" dirty="0">
                  <a:solidFill>
                    <a:srgbClr val="2A5C3A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▼</a:t>
              </a:r>
              <a:endParaRPr lang="en-US" sz="790" dirty="0"/>
            </a:p>
          </p:txBody>
        </p:sp>
        <p:sp>
          <p:nvSpPr>
            <p:cNvPr id="22" name="Shape"/>
            <p:cNvSpPr/>
            <p:nvPr/>
          </p:nvSpPr>
          <p:spPr>
            <a:xfrm>
              <a:off x="1796095" y="2760390"/>
              <a:ext cx="471488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buNone/>
              </a:pPr>
              <a:r>
                <a:rPr lang="en-US" sz="620" b="1" dirty="0">
                  <a:solidFill>
                    <a:srgbClr val="79C0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byte stream</a:t>
              </a:r>
              <a:endParaRPr lang="en-US" sz="620" dirty="0"/>
            </a:p>
          </p:txBody>
        </p:sp>
        <p:sp>
          <p:nvSpPr>
            <p:cNvPr id="23" name="Shape"/>
            <p:cNvSpPr/>
            <p:nvPr/>
          </p:nvSpPr>
          <p:spPr>
            <a:xfrm>
              <a:off x="1970001" y="2880047"/>
              <a:ext cx="300038" cy="10715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844"/>
                </a:lnSpc>
                <a:buNone/>
              </a:pPr>
              <a:r>
                <a:rPr lang="en-US" sz="560" dirty="0">
                  <a:solidFill>
                    <a:srgbClr val="484F58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(DMA in)</a:t>
              </a:r>
              <a:endParaRPr lang="en-US" sz="560" dirty="0"/>
            </a:p>
          </p:txBody>
        </p:sp>
        <p:sp>
          <p:nvSpPr>
            <p:cNvPr id="24" name="Shape"/>
            <p:cNvSpPr/>
            <p:nvPr/>
          </p:nvSpPr>
          <p:spPr>
            <a:xfrm>
              <a:off x="2324733" y="2778249"/>
              <a:ext cx="185738" cy="192881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519"/>
                </a:lnSpc>
                <a:buNone/>
              </a:pPr>
              <a:r>
                <a:rPr lang="en-US" sz="1010" dirty="0">
                  <a:solidFill>
                    <a:srgbClr val="79C0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⟹</a:t>
              </a:r>
              <a:endParaRPr lang="en-US" sz="1010" dirty="0"/>
            </a:p>
          </p:txBody>
        </p:sp>
        <p:sp>
          <p:nvSpPr>
            <p:cNvPr id="28" name="Shape"/>
            <p:cNvSpPr/>
            <p:nvPr/>
          </p:nvSpPr>
          <p:spPr>
            <a:xfrm>
              <a:off x="3581419" y="2738958"/>
              <a:ext cx="257175" cy="100012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759"/>
                </a:lnSpc>
                <a:buNone/>
              </a:pPr>
              <a:r>
                <a:rPr lang="en-US" sz="510" dirty="0">
                  <a:solidFill>
                    <a:srgbClr val="484F58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bit_valid</a:t>
              </a:r>
              <a:endParaRPr lang="en-US" sz="510" dirty="0"/>
            </a:p>
          </p:txBody>
        </p:sp>
        <p:sp>
          <p:nvSpPr>
            <p:cNvPr id="29" name="Shape"/>
            <p:cNvSpPr/>
            <p:nvPr/>
          </p:nvSpPr>
          <p:spPr>
            <a:xfrm>
              <a:off x="3627797" y="2837185"/>
              <a:ext cx="164306" cy="171450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350"/>
                </a:lnSpc>
                <a:buNone/>
              </a:pPr>
              <a:r>
                <a:rPr lang="en-US" sz="900" dirty="0">
                  <a:solidFill>
                    <a:srgbClr val="58A6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⟹</a:t>
              </a:r>
              <a:endParaRPr lang="en-US" sz="900" dirty="0"/>
            </a:p>
          </p:txBody>
        </p:sp>
        <p:sp>
          <p:nvSpPr>
            <p:cNvPr id="33" name="Shape"/>
            <p:cNvSpPr/>
            <p:nvPr/>
          </p:nvSpPr>
          <p:spPr>
            <a:xfrm>
              <a:off x="5108563" y="2738958"/>
              <a:ext cx="307181" cy="100012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759"/>
                </a:lnSpc>
                <a:buNone/>
              </a:pPr>
              <a:r>
                <a:rPr lang="en-US" sz="510" dirty="0">
                  <a:solidFill>
                    <a:srgbClr val="484F58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sym index</a:t>
              </a:r>
              <a:endParaRPr lang="en-US" sz="510" dirty="0"/>
            </a:p>
          </p:txBody>
        </p:sp>
        <p:sp>
          <p:nvSpPr>
            <p:cNvPr id="34" name="Shape"/>
            <p:cNvSpPr/>
            <p:nvPr/>
          </p:nvSpPr>
          <p:spPr>
            <a:xfrm>
              <a:off x="5180000" y="2837185"/>
              <a:ext cx="164306" cy="171450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350"/>
                </a:lnSpc>
                <a:buNone/>
              </a:pPr>
              <a:r>
                <a:rPr lang="en-US" sz="900" dirty="0">
                  <a:solidFill>
                    <a:srgbClr val="FFA65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⟹</a:t>
              </a:r>
              <a:endParaRPr lang="en-US" sz="900" dirty="0"/>
            </a:p>
          </p:txBody>
        </p:sp>
        <p:sp>
          <p:nvSpPr>
            <p:cNvPr id="38" name="Shape"/>
            <p:cNvSpPr/>
            <p:nvPr/>
          </p:nvSpPr>
          <p:spPr>
            <a:xfrm>
              <a:off x="6541387" y="2738958"/>
              <a:ext cx="342900" cy="100012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759"/>
                </a:lnSpc>
                <a:buNone/>
              </a:pPr>
              <a:r>
                <a:rPr lang="en-US" sz="510" dirty="0">
                  <a:solidFill>
                    <a:srgbClr val="484F58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osym_valid</a:t>
              </a:r>
              <a:endParaRPr lang="en-US" sz="510" dirty="0"/>
            </a:p>
          </p:txBody>
        </p:sp>
        <p:sp>
          <p:nvSpPr>
            <p:cNvPr id="39" name="Shape"/>
            <p:cNvSpPr/>
            <p:nvPr/>
          </p:nvSpPr>
          <p:spPr>
            <a:xfrm>
              <a:off x="6630628" y="2837185"/>
              <a:ext cx="164306" cy="171450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350"/>
                </a:lnSpc>
                <a:buNone/>
              </a:pPr>
              <a:r>
                <a:rPr lang="en-US" sz="900" dirty="0">
                  <a:solidFill>
                    <a:srgbClr val="3FB950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⟹</a:t>
              </a:r>
              <a:endParaRPr lang="en-US" sz="900" dirty="0"/>
            </a:p>
          </p:txBody>
        </p:sp>
        <p:sp>
          <p:nvSpPr>
            <p:cNvPr id="40" name="Shape"/>
            <p:cNvSpPr/>
            <p:nvPr/>
          </p:nvSpPr>
          <p:spPr>
            <a:xfrm>
              <a:off x="6925754" y="2760390"/>
              <a:ext cx="521494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buNone/>
              </a:pPr>
              <a:r>
                <a:rPr lang="en-US" sz="620" b="1" dirty="0">
                  <a:solidFill>
                    <a:srgbClr val="3FB950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MTF symbols</a:t>
              </a:r>
              <a:endParaRPr lang="en-US" sz="620" dirty="0"/>
            </a:p>
          </p:txBody>
        </p:sp>
        <p:sp>
          <p:nvSpPr>
            <p:cNvPr id="41" name="Shape"/>
            <p:cNvSpPr/>
            <p:nvPr/>
          </p:nvSpPr>
          <p:spPr>
            <a:xfrm>
              <a:off x="6924247" y="2880047"/>
              <a:ext cx="350044" cy="10715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844"/>
                </a:lnSpc>
                <a:buNone/>
              </a:pPr>
              <a:r>
                <a:rPr lang="en-US" sz="560" dirty="0">
                  <a:solidFill>
                    <a:srgbClr val="484F58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(DMA out)</a:t>
              </a:r>
              <a:endParaRPr lang="en-US" sz="560" dirty="0"/>
            </a:p>
          </p:txBody>
        </p:sp>
        <p:grpSp>
          <p:nvGrpSpPr>
            <p:cNvPr id="56" name="Group g89/g90"/>
            <p:cNvGrpSpPr/>
            <p:nvPr/>
          </p:nvGrpSpPr>
          <p:grpSpPr>
            <a:xfrm>
              <a:off x="3435251" y="1624533"/>
              <a:ext cx="3178969" cy="485775"/>
              <a:chOff x="3435251" y="1624533"/>
              <a:chExt cx="3178969" cy="485775"/>
            </a:xfrm>
          </p:grpSpPr>
          <p:sp>
            <p:nvSpPr>
              <p:cNvPr id="9" name="Shape"/>
              <p:cNvSpPr/>
              <p:nvPr/>
            </p:nvSpPr>
            <p:spPr>
              <a:xfrm>
                <a:off x="3435251" y="1624533"/>
                <a:ext cx="3178969" cy="485775"/>
              </a:xfrm>
              <a:prstGeom prst="roundRect">
                <a:avLst>
                  <a:gd name="adj" fmla="val 14706"/>
                </a:avLst>
              </a:prstGeom>
              <a:solidFill>
                <a:srgbClr val="0D2018"/>
              </a:solidFill>
              <a:ln w="7144">
                <a:solidFill>
                  <a:srgbClr val="2A5C3A"/>
                </a:solidFill>
                <a:prstDash val="solid"/>
              </a:ln>
            </p:spPr>
          </p:sp>
          <p:sp>
            <p:nvSpPr>
              <p:cNvPr id="10" name="Shape"/>
              <p:cNvSpPr/>
              <p:nvPr/>
            </p:nvSpPr>
            <p:spPr>
              <a:xfrm>
                <a:off x="3585270" y="1703115"/>
                <a:ext cx="2878931" cy="142875"/>
              </a:xfrm>
              <a:prstGeom prst="rect">
                <a:avLst/>
              </a:prstGeom>
              <a:ln/>
            </p:spPr>
            <p:txBody>
              <a:bodyPr wrap="none" lIns="0" tIns="0" rIns="0" bIns="0" rtlCol="0" anchor="ctr">
                <a:spAutoFit/>
              </a:bodyPr>
              <a:lstStyle/>
              <a:p>
                <a:pPr algn="ctr" indent="0" marL="0">
                  <a:lnSpc>
                    <a:spcPts val="1097"/>
                  </a:lnSpc>
                  <a:spcAft>
                    <a:spcPts val="281"/>
                  </a:spcAft>
                  <a:buNone/>
                </a:pPr>
                <a:r>
                  <a:rPr lang="en-US" sz="730" b="1" dirty="0">
                    <a:solidFill>
                      <a:srgbClr val="3FB950"/>
                    </a:solidFill>
                    <a:latin typeface="SF Pro Heavy" pitchFamily="34" charset="0"/>
                    <a:ea typeface="SF Pro Heavy" pitchFamily="34" charset="-122"/>
                    <a:cs typeface="SF Pro Heavy" pitchFamily="34" charset="-120"/>
                  </a:rPr>
                  <a:t>Control</a:t>
                </a:r>
                <a:endParaRPr lang="en-US" sz="730" dirty="0"/>
              </a:p>
            </p:txBody>
          </p:sp>
          <p:sp>
            <p:nvSpPr>
              <p:cNvPr id="11" name="Shape"/>
              <p:cNvSpPr/>
              <p:nvPr/>
            </p:nvSpPr>
            <p:spPr>
              <a:xfrm>
                <a:off x="3586163" y="1879922"/>
                <a:ext cx="300038" cy="150019"/>
              </a:xfrm>
              <a:prstGeom prst="roundRect">
                <a:avLst>
                  <a:gd name="adj" fmla="val 19048"/>
                </a:avLst>
              </a:prstGeom>
              <a:solidFill>
                <a:srgbClr val="0A1A10"/>
              </a:solidFill>
              <a:ln w="7144">
                <a:solidFill>
                  <a:srgbClr val="2A5C3A"/>
                </a:solidFill>
                <a:prstDash val="solid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indent="0" marL="0">
                  <a:lnSpc>
                    <a:spcPts val="844"/>
                  </a:lnSpc>
                  <a:buNone/>
                </a:pPr>
                <a:r>
                  <a:rPr lang="en-US" sz="560" dirty="0">
                    <a:solidFill>
                      <a:srgbClr val="3FB950"/>
                    </a:solidFill>
                    <a:latin typeface="monospace" pitchFamily="34" charset="0"/>
                    <a:ea typeface="monospace" pitchFamily="34" charset="-122"/>
                    <a:cs typeface="monospace" pitchFamily="34" charset="-120"/>
                  </a:rPr>
                  <a:t>CTRL</a:t>
                </a:r>
                <a:endParaRPr lang="en-US" sz="560" dirty="0"/>
              </a:p>
            </p:txBody>
          </p:sp>
          <p:sp>
            <p:nvSpPr>
              <p:cNvPr id="12" name="Shape"/>
              <p:cNvSpPr/>
              <p:nvPr/>
            </p:nvSpPr>
            <p:spPr>
              <a:xfrm>
                <a:off x="3944020" y="1879922"/>
                <a:ext cx="300038" cy="150019"/>
              </a:xfrm>
              <a:prstGeom prst="roundRect">
                <a:avLst>
                  <a:gd name="adj" fmla="val 19048"/>
                </a:avLst>
              </a:prstGeom>
              <a:solidFill>
                <a:srgbClr val="0A1A10"/>
              </a:solidFill>
              <a:ln w="7144">
                <a:solidFill>
                  <a:srgbClr val="2A5C3A"/>
                </a:solidFill>
                <a:prstDash val="solid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indent="0" marL="0">
                  <a:lnSpc>
                    <a:spcPts val="844"/>
                  </a:lnSpc>
                  <a:buNone/>
                </a:pPr>
                <a:r>
                  <a:rPr lang="en-US" sz="560" dirty="0">
                    <a:solidFill>
                      <a:srgbClr val="3FB950"/>
                    </a:solidFill>
                    <a:latin typeface="monospace" pitchFamily="34" charset="0"/>
                    <a:ea typeface="monospace" pitchFamily="34" charset="-122"/>
                    <a:cs typeface="monospace" pitchFamily="34" charset="-120"/>
                  </a:rPr>
                  <a:t>NSYM</a:t>
                </a:r>
                <a:endParaRPr lang="en-US" sz="560" dirty="0"/>
              </a:p>
            </p:txBody>
          </p:sp>
          <p:sp>
            <p:nvSpPr>
              <p:cNvPr id="13" name="Shape"/>
              <p:cNvSpPr/>
              <p:nvPr/>
            </p:nvSpPr>
            <p:spPr>
              <a:xfrm>
                <a:off x="4301989" y="1879922"/>
                <a:ext cx="385763" cy="150019"/>
              </a:xfrm>
              <a:prstGeom prst="roundRect">
                <a:avLst>
                  <a:gd name="adj" fmla="val 19048"/>
                </a:avLst>
              </a:prstGeom>
              <a:solidFill>
                <a:srgbClr val="0A1A10"/>
              </a:solidFill>
              <a:ln w="7144">
                <a:solidFill>
                  <a:srgbClr val="2A5C3A"/>
                </a:solidFill>
                <a:prstDash val="solid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indent="0" marL="0">
                  <a:lnSpc>
                    <a:spcPts val="844"/>
                  </a:lnSpc>
                  <a:buNone/>
                </a:pPr>
                <a:r>
                  <a:rPr lang="en-US" sz="560" dirty="0">
                    <a:solidFill>
                      <a:srgbClr val="3FB950"/>
                    </a:solidFill>
                    <a:latin typeface="monospace" pitchFamily="34" charset="0"/>
                    <a:ea typeface="monospace" pitchFamily="34" charset="-122"/>
                    <a:cs typeface="monospace" pitchFamily="34" charset="-120"/>
                  </a:rPr>
                  <a:t>STATUS</a:t>
                </a:r>
                <a:endParaRPr lang="en-US" sz="560" dirty="0"/>
              </a:p>
            </p:txBody>
          </p:sp>
          <p:sp>
            <p:nvSpPr>
              <p:cNvPr id="14" name="Shape"/>
              <p:cNvSpPr/>
              <p:nvPr/>
            </p:nvSpPr>
            <p:spPr>
              <a:xfrm>
                <a:off x="4745738" y="1879922"/>
                <a:ext cx="342900" cy="150019"/>
              </a:xfrm>
              <a:prstGeom prst="roundRect">
                <a:avLst>
                  <a:gd name="adj" fmla="val 19048"/>
                </a:avLst>
              </a:prstGeom>
              <a:solidFill>
                <a:srgbClr val="0A1A10"/>
              </a:solidFill>
              <a:ln w="7144">
                <a:solidFill>
                  <a:srgbClr val="2A5C3A"/>
                </a:solidFill>
                <a:prstDash val="solid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indent="0" marL="0">
                  <a:lnSpc>
                    <a:spcPts val="844"/>
                  </a:lnSpc>
                  <a:buNone/>
                </a:pPr>
                <a:r>
                  <a:rPr lang="en-US" sz="560" dirty="0">
                    <a:solidFill>
                      <a:srgbClr val="3FB950"/>
                    </a:solidFill>
                    <a:latin typeface="monospace" pitchFamily="34" charset="0"/>
                    <a:ea typeface="monospace" pitchFamily="34" charset="-122"/>
                    <a:cs typeface="monospace" pitchFamily="34" charset="-120"/>
                  </a:rPr>
                  <a:t>COUNT</a:t>
                </a:r>
                <a:endParaRPr lang="en-US" sz="560" dirty="0"/>
              </a:p>
            </p:txBody>
          </p:sp>
          <p:sp>
            <p:nvSpPr>
              <p:cNvPr id="15" name="Shape"/>
              <p:cNvSpPr/>
              <p:nvPr/>
            </p:nvSpPr>
            <p:spPr>
              <a:xfrm>
                <a:off x="5146737" y="1879922"/>
                <a:ext cx="428625" cy="150019"/>
              </a:xfrm>
              <a:prstGeom prst="roundRect">
                <a:avLst>
                  <a:gd name="adj" fmla="val 19048"/>
                </a:avLst>
              </a:prstGeom>
              <a:solidFill>
                <a:srgbClr val="0A1A10"/>
              </a:solidFill>
              <a:ln w="7144">
                <a:solidFill>
                  <a:srgbClr val="2A5C3A"/>
                </a:solidFill>
                <a:prstDash val="solid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indent="0" marL="0">
                  <a:lnSpc>
                    <a:spcPts val="844"/>
                  </a:lnSpc>
                  <a:buNone/>
                </a:pPr>
                <a:r>
                  <a:rPr lang="en-US" sz="560" dirty="0">
                    <a:solidFill>
                      <a:srgbClr val="3FB950"/>
                    </a:solidFill>
                    <a:latin typeface="monospace" pitchFamily="34" charset="0"/>
                    <a:ea typeface="monospace" pitchFamily="34" charset="-122"/>
                    <a:cs typeface="monospace" pitchFamily="34" charset="-120"/>
                  </a:rPr>
                  <a:t>TBL_CNT</a:t>
                </a:r>
                <a:endParaRPr lang="en-US" sz="560" dirty="0"/>
              </a:p>
            </p:txBody>
          </p:sp>
          <p:sp>
            <p:nvSpPr>
              <p:cNvPr id="16" name="Shape"/>
              <p:cNvSpPr/>
              <p:nvPr/>
            </p:nvSpPr>
            <p:spPr>
              <a:xfrm>
                <a:off x="5633628" y="1879922"/>
                <a:ext cx="428625" cy="150019"/>
              </a:xfrm>
              <a:prstGeom prst="roundRect">
                <a:avLst>
                  <a:gd name="adj" fmla="val 19048"/>
                </a:avLst>
              </a:prstGeom>
              <a:solidFill>
                <a:srgbClr val="0A1A10"/>
              </a:solidFill>
              <a:ln w="7144">
                <a:solidFill>
                  <a:srgbClr val="2A5C3A"/>
                </a:solidFill>
                <a:prstDash val="solid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indent="0" marL="0">
                  <a:lnSpc>
                    <a:spcPts val="844"/>
                  </a:lnSpc>
                  <a:buNone/>
                </a:pPr>
                <a:r>
                  <a:rPr lang="en-US" sz="560" dirty="0">
                    <a:solidFill>
                      <a:srgbClr val="3FB950"/>
                    </a:solidFill>
                    <a:latin typeface="monospace" pitchFamily="34" charset="0"/>
                    <a:ea typeface="monospace" pitchFamily="34" charset="-122"/>
                    <a:cs typeface="monospace" pitchFamily="34" charset="-120"/>
                  </a:rPr>
                  <a:t>TBL_SYM</a:t>
                </a:r>
                <a:endParaRPr lang="en-US" sz="560" dirty="0"/>
              </a:p>
            </p:txBody>
          </p:sp>
          <p:sp>
            <p:nvSpPr>
              <p:cNvPr id="17" name="Shape"/>
              <p:cNvSpPr/>
              <p:nvPr/>
            </p:nvSpPr>
            <p:spPr>
              <a:xfrm>
                <a:off x="6120352" y="1879922"/>
                <a:ext cx="342900" cy="150019"/>
              </a:xfrm>
              <a:prstGeom prst="roundRect">
                <a:avLst>
                  <a:gd name="adj" fmla="val 19048"/>
                </a:avLst>
              </a:prstGeom>
              <a:solidFill>
                <a:srgbClr val="0A1A10"/>
              </a:solidFill>
              <a:ln w="7144">
                <a:solidFill>
                  <a:srgbClr val="2A5C3A"/>
                </a:solidFill>
                <a:prstDash val="solid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indent="0" marL="0">
                  <a:lnSpc>
                    <a:spcPts val="844"/>
                  </a:lnSpc>
                  <a:buNone/>
                </a:pPr>
                <a:r>
                  <a:rPr lang="en-US" sz="560" dirty="0">
                    <a:solidFill>
                      <a:srgbClr val="FFA657"/>
                    </a:solidFill>
                    <a:latin typeface="monospace" pitchFamily="34" charset="0"/>
                    <a:ea typeface="monospace" pitchFamily="34" charset="-122"/>
                    <a:cs typeface="monospace" pitchFamily="34" charset="-120"/>
                  </a:rPr>
                  <a:t>MTF_N</a:t>
                </a:r>
                <a:endParaRPr lang="en-US" sz="560" dirty="0"/>
              </a:p>
            </p:txBody>
          </p:sp>
        </p:grpSp>
        <p:grpSp>
          <p:nvGrpSpPr>
            <p:cNvPr id="57" name="Group g89/g91"/>
            <p:cNvGrpSpPr/>
            <p:nvPr/>
          </p:nvGrpSpPr>
          <p:grpSpPr>
            <a:xfrm>
              <a:off x="2566950" y="2621087"/>
              <a:ext cx="971550" cy="507206"/>
              <a:chOff x="2566950" y="2621087"/>
              <a:chExt cx="971550" cy="507206"/>
            </a:xfrm>
          </p:grpSpPr>
          <p:sp>
            <p:nvSpPr>
              <p:cNvPr id="25" name="Shape"/>
              <p:cNvSpPr/>
              <p:nvPr/>
            </p:nvSpPr>
            <p:spPr>
              <a:xfrm>
                <a:off x="2566950" y="2621087"/>
                <a:ext cx="971550" cy="507206"/>
              </a:xfrm>
              <a:prstGeom prst="roundRect">
                <a:avLst>
                  <a:gd name="adj" fmla="val 14085"/>
                </a:avLst>
              </a:prstGeom>
              <a:solidFill>
                <a:srgbClr val="0D1F3A"/>
              </a:solidFill>
              <a:ln w="7144">
                <a:solidFill>
                  <a:srgbClr val="1A3A5C"/>
                </a:solidFill>
                <a:prstDash val="solid"/>
              </a:ln>
            </p:spPr>
          </p:sp>
          <p:sp>
            <p:nvSpPr>
              <p:cNvPr id="26" name="Shape"/>
              <p:cNvSpPr/>
              <p:nvPr/>
            </p:nvSpPr>
            <p:spPr>
              <a:xfrm>
                <a:off x="2659819" y="2699668"/>
                <a:ext cx="785813" cy="128588"/>
              </a:xfrm>
              <a:prstGeom prst="rect">
                <a:avLst/>
              </a:prstGeom>
              <a:ln/>
            </p:spPr>
            <p:txBody>
              <a:bodyPr wrap="none" lIns="0" tIns="0" rIns="0" bIns="0" rtlCol="0" anchor="ctr">
                <a:spAutoFit/>
              </a:bodyPr>
              <a:lstStyle/>
              <a:p>
                <a:pPr algn="ctr" indent="0" marL="0">
                  <a:lnSpc>
                    <a:spcPts val="1013"/>
                  </a:lnSpc>
                  <a:spcAft>
                    <a:spcPts val="225"/>
                  </a:spcAft>
                  <a:buNone/>
                </a:pPr>
                <a:r>
                  <a:rPr lang="en-US" sz="680" b="1" dirty="0">
                    <a:solidFill>
                      <a:srgbClr val="79C0FF"/>
                    </a:solidFill>
                    <a:latin typeface="SF Pro Heavy" pitchFamily="34" charset="0"/>
                    <a:ea typeface="SF Pro Heavy" pitchFamily="34" charset="-122"/>
                    <a:cs typeface="SF Pro Heavy" pitchFamily="34" charset="-120"/>
                  </a:rPr>
                  <a:t>bit_buffer</a:t>
                </a:r>
                <a:endParaRPr lang="en-US" sz="680" dirty="0"/>
              </a:p>
            </p:txBody>
          </p:sp>
          <p:sp>
            <p:nvSpPr>
              <p:cNvPr id="27" name="Shape"/>
              <p:cNvSpPr/>
              <p:nvPr/>
            </p:nvSpPr>
            <p:spPr>
              <a:xfrm>
                <a:off x="2659819" y="2856830"/>
                <a:ext cx="785813" cy="192881"/>
              </a:xfrm>
              <a:prstGeom prst="rect">
                <a:avLst/>
              </a:prstGeom>
              <a:ln/>
            </p:spPr>
            <p:txBody>
              <a:bodyPr wrap="none" lIns="0" tIns="0" rIns="0" bIns="0" rtlCol="0" anchor="ctr">
                <a:spAutoFit/>
              </a:bodyPr>
              <a:lstStyle/>
              <a:p>
                <a:pPr algn="ctr" indent="0" marL="0">
                  <a:lnSpc>
                    <a:spcPts val="759"/>
                  </a:lnSpc>
                  <a:buNone/>
                </a:pPr>
                <a:r>
                  <a:rPr lang="en-US" sz="510" dirty="0">
                    <a:solidFill>
                      <a:srgbClr val="8B949E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8-bit MSB-first</a:t>
                </a:r>
                <a:pPr algn="ctr" indent="0" marL="0">
                  <a:buNone/>
                </a:pPr>
                <a:endParaRPr lang="en-US" sz="510" dirty="0"/>
              </a:p>
              <a:p>
                <a:pPr algn="ctr" indent="0" marL="0">
                  <a:lnSpc>
                    <a:spcPts val="759"/>
                  </a:lnSpc>
                  <a:buNone/>
                </a:pPr>
                <a:r>
                  <a:rPr lang="en-US" sz="510" dirty="0">
                    <a:solidFill>
                      <a:srgbClr val="8B949E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1 bit/cycle out</a:t>
                </a:r>
                <a:endParaRPr lang="en-US" sz="510" dirty="0"/>
              </a:p>
            </p:txBody>
          </p:sp>
        </p:grpSp>
        <p:grpSp>
          <p:nvGrpSpPr>
            <p:cNvPr id="58" name="Group g89/g92"/>
            <p:cNvGrpSpPr/>
            <p:nvPr/>
          </p:nvGrpSpPr>
          <p:grpSpPr>
            <a:xfrm>
              <a:off x="3881512" y="2621087"/>
              <a:ext cx="1185863" cy="507206"/>
              <a:chOff x="3881512" y="2621087"/>
              <a:chExt cx="1185863" cy="507206"/>
            </a:xfrm>
          </p:grpSpPr>
          <p:sp>
            <p:nvSpPr>
              <p:cNvPr id="30" name="Shape"/>
              <p:cNvSpPr/>
              <p:nvPr/>
            </p:nvSpPr>
            <p:spPr>
              <a:xfrm>
                <a:off x="3881512" y="2621087"/>
                <a:ext cx="1185863" cy="507206"/>
              </a:xfrm>
              <a:prstGeom prst="roundRect">
                <a:avLst>
                  <a:gd name="adj" fmla="val 14085"/>
                </a:avLst>
              </a:prstGeom>
              <a:solidFill>
                <a:srgbClr val="0D1F3A"/>
              </a:solidFill>
              <a:ln w="7144">
                <a:solidFill>
                  <a:srgbClr val="1A3A5C"/>
                </a:solidFill>
                <a:prstDash val="solid"/>
              </a:ln>
            </p:spPr>
          </p:sp>
          <p:sp>
            <p:nvSpPr>
              <p:cNvPr id="31" name="Shape"/>
              <p:cNvSpPr/>
              <p:nvPr/>
            </p:nvSpPr>
            <p:spPr>
              <a:xfrm>
                <a:off x="3974381" y="2699668"/>
                <a:ext cx="1000125" cy="128588"/>
              </a:xfrm>
              <a:prstGeom prst="rect">
                <a:avLst/>
              </a:prstGeom>
              <a:ln/>
            </p:spPr>
            <p:txBody>
              <a:bodyPr wrap="none" lIns="0" tIns="0" rIns="0" bIns="0" rtlCol="0" anchor="ctr">
                <a:spAutoFit/>
              </a:bodyPr>
              <a:lstStyle/>
              <a:p>
                <a:pPr algn="ctr" indent="0" marL="0">
                  <a:lnSpc>
                    <a:spcPts val="1013"/>
                  </a:lnSpc>
                  <a:spcAft>
                    <a:spcPts val="225"/>
                  </a:spcAft>
                  <a:buNone/>
                </a:pPr>
                <a:r>
                  <a:rPr lang="en-US" sz="680" b="1" dirty="0">
                    <a:solidFill>
                      <a:srgbClr val="79C0FF"/>
                    </a:solidFill>
                    <a:latin typeface="SF Pro Heavy" pitchFamily="34" charset="0"/>
                    <a:ea typeface="SF Pro Heavy" pitchFamily="34" charset="-122"/>
                    <a:cs typeface="SF Pro Heavy" pitchFamily="34" charset="-120"/>
                  </a:rPr>
                  <a:t>huffman_decoder</a:t>
                </a:r>
                <a:endParaRPr lang="en-US" sz="680" dirty="0"/>
              </a:p>
            </p:txBody>
          </p:sp>
          <p:sp>
            <p:nvSpPr>
              <p:cNvPr id="32" name="Shape"/>
              <p:cNvSpPr/>
              <p:nvPr/>
            </p:nvSpPr>
            <p:spPr>
              <a:xfrm>
                <a:off x="3974381" y="2856830"/>
                <a:ext cx="1000125" cy="192881"/>
              </a:xfrm>
              <a:prstGeom prst="rect">
                <a:avLst/>
              </a:prstGeom>
              <a:ln/>
            </p:spPr>
            <p:txBody>
              <a:bodyPr wrap="none" lIns="0" tIns="0" rIns="0" bIns="0" rtlCol="0" anchor="ctr">
                <a:spAutoFit/>
              </a:bodyPr>
              <a:lstStyle/>
              <a:p>
                <a:pPr algn="ctr" indent="0" marL="0">
                  <a:lnSpc>
                    <a:spcPts val="759"/>
                  </a:lnSpc>
                  <a:buNone/>
                </a:pPr>
                <a:r>
                  <a:rPr lang="en-US" sz="510" dirty="0">
                    <a:solidFill>
                      <a:srgbClr val="8B949E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code/first/index FSM</a:t>
                </a:r>
                <a:pPr algn="ctr" indent="0" marL="0">
                  <a:buNone/>
                </a:pPr>
                <a:endParaRPr lang="en-US" sz="510" dirty="0"/>
              </a:p>
              <a:p>
                <a:pPr algn="ctr" indent="0" marL="0">
                  <a:lnSpc>
                    <a:spcPts val="759"/>
                  </a:lnSpc>
                  <a:buNone/>
                </a:pPr>
                <a:r>
                  <a:rPr lang="en-US" sz="510" dirty="0">
                    <a:solidFill>
                      <a:srgbClr val="8B949E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cnt[] + symbol[] RAMs</a:t>
                </a:r>
                <a:endParaRPr lang="en-US" sz="510" dirty="0"/>
              </a:p>
            </p:txBody>
          </p:sp>
        </p:grpSp>
        <p:grpSp>
          <p:nvGrpSpPr>
            <p:cNvPr id="59" name="Group g89/g93"/>
            <p:cNvGrpSpPr/>
            <p:nvPr/>
          </p:nvGrpSpPr>
          <p:grpSpPr>
            <a:xfrm>
              <a:off x="5456932" y="2571080"/>
              <a:ext cx="1042988" cy="607219"/>
              <a:chOff x="5456932" y="2571080"/>
              <a:chExt cx="1042988" cy="607219"/>
            </a:xfrm>
          </p:grpSpPr>
          <p:sp>
            <p:nvSpPr>
              <p:cNvPr id="35" name="Shape"/>
              <p:cNvSpPr/>
              <p:nvPr/>
            </p:nvSpPr>
            <p:spPr>
              <a:xfrm>
                <a:off x="5456932" y="2571080"/>
                <a:ext cx="1042988" cy="607219"/>
              </a:xfrm>
              <a:prstGeom prst="roundRect">
                <a:avLst>
                  <a:gd name="adj" fmla="val 11765"/>
                </a:avLst>
              </a:prstGeom>
              <a:solidFill>
                <a:srgbClr val="1A1200"/>
              </a:solidFill>
              <a:ln w="7144">
                <a:solidFill>
                  <a:srgbClr val="FFA657"/>
                </a:solidFill>
                <a:prstDash val="solid"/>
              </a:ln>
            </p:spPr>
          </p:sp>
          <p:sp>
            <p:nvSpPr>
              <p:cNvPr id="36" name="Shape"/>
              <p:cNvSpPr/>
              <p:nvPr/>
            </p:nvSpPr>
            <p:spPr>
              <a:xfrm>
                <a:off x="5549801" y="2651447"/>
                <a:ext cx="857250" cy="128588"/>
              </a:xfrm>
              <a:prstGeom prst="rect">
                <a:avLst/>
              </a:prstGeom>
              <a:ln/>
            </p:spPr>
            <p:txBody>
              <a:bodyPr wrap="none" lIns="0" tIns="0" rIns="0" bIns="0" rtlCol="0" anchor="ctr">
                <a:spAutoFit/>
              </a:bodyPr>
              <a:lstStyle/>
              <a:p>
                <a:pPr algn="ctr" indent="0" marL="0">
                  <a:lnSpc>
                    <a:spcPts val="1013"/>
                  </a:lnSpc>
                  <a:spcAft>
                    <a:spcPts val="225"/>
                  </a:spcAft>
                  <a:buNone/>
                </a:pPr>
                <a:r>
                  <a:rPr lang="en-US" sz="680" b="1" dirty="0">
                    <a:solidFill>
                      <a:srgbClr val="FFA657"/>
                    </a:solidFill>
                    <a:latin typeface="SF Pro Heavy" pitchFamily="34" charset="0"/>
                    <a:ea typeface="SF Pro Heavy" pitchFamily="34" charset="-122"/>
                    <a:cs typeface="SF Pro Heavy" pitchFamily="34" charset="-120"/>
                  </a:rPr>
                  <a:t>mtf_unit</a:t>
                </a:r>
                <a:endParaRPr lang="en-US" sz="680" dirty="0"/>
              </a:p>
            </p:txBody>
          </p:sp>
          <p:sp>
            <p:nvSpPr>
              <p:cNvPr id="37" name="Shape"/>
              <p:cNvSpPr/>
              <p:nvPr/>
            </p:nvSpPr>
            <p:spPr>
              <a:xfrm>
                <a:off x="5549801" y="2806824"/>
                <a:ext cx="857250" cy="292894"/>
              </a:xfrm>
              <a:prstGeom prst="rect">
                <a:avLst/>
              </a:prstGeom>
              <a:ln/>
            </p:spPr>
            <p:txBody>
              <a:bodyPr wrap="none" lIns="0" tIns="0" rIns="0" bIns="0" rtlCol="0" anchor="ctr">
                <a:spAutoFit/>
              </a:bodyPr>
              <a:lstStyle/>
              <a:p>
                <a:pPr algn="ctr" indent="0" marL="0">
                  <a:lnSpc>
                    <a:spcPts val="759"/>
                  </a:lnSpc>
                  <a:buNone/>
                </a:pPr>
                <a:r>
                  <a:rPr lang="en-US" sz="510" dirty="0">
                    <a:solidFill>
                      <a:srgbClr val="8B949E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N-entry reg file</a:t>
                </a:r>
                <a:pPr algn="ctr" indent="0" marL="0">
                  <a:buNone/>
                </a:pPr>
                <a:endParaRPr lang="en-US" sz="510" dirty="0"/>
              </a:p>
              <a:p>
                <a:pPr algn="ctr" indent="0" marL="0">
                  <a:lnSpc>
                    <a:spcPts val="759"/>
                  </a:lnSpc>
                  <a:buNone/>
                </a:pPr>
                <a:r>
                  <a:rPr lang="en-US" sz="510" dirty="0">
                    <a:solidFill>
                      <a:srgbClr val="8B949E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shift-to-front</a:t>
                </a:r>
                <a:pPr algn="ctr" indent="0" marL="0">
                  <a:buNone/>
                </a:pPr>
                <a:endParaRPr lang="en-US" sz="510" dirty="0"/>
              </a:p>
              <a:p>
                <a:pPr algn="ctr" indent="0" marL="0">
                  <a:lnSpc>
                    <a:spcPts val="759"/>
                  </a:lnSpc>
                  <a:buNone/>
                </a:pPr>
                <a:r>
                  <a:rPr lang="en-US" sz="510" dirty="0">
                    <a:solidFill>
                      <a:srgbClr val="8B949E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1 sym/clock</a:t>
                </a:r>
                <a:endParaRPr lang="en-US" sz="510" dirty="0"/>
              </a:p>
            </p:txBody>
          </p:sp>
        </p:grpSp>
        <p:grpSp>
          <p:nvGrpSpPr>
            <p:cNvPr id="60" name="Group g89/g94"/>
            <p:cNvGrpSpPr/>
            <p:nvPr/>
          </p:nvGrpSpPr>
          <p:grpSpPr>
            <a:xfrm>
              <a:off x="678656" y="3262238"/>
              <a:ext cx="7786688" cy="221456"/>
              <a:chOff x="678656" y="3262238"/>
              <a:chExt cx="7786688" cy="221456"/>
            </a:xfrm>
          </p:grpSpPr>
          <p:sp>
            <p:nvSpPr>
              <p:cNvPr id="42" name="Shape"/>
              <p:cNvSpPr/>
              <p:nvPr/>
            </p:nvSpPr>
            <p:spPr>
              <a:xfrm>
                <a:off x="678656" y="3262238"/>
                <a:ext cx="7786688" cy="221456"/>
              </a:xfrm>
              <a:prstGeom prst="roundRect">
                <a:avLst>
                  <a:gd name="adj" fmla="val 19355"/>
                </a:avLst>
              </a:prstGeom>
              <a:solidFill>
                <a:srgbClr val="0D1117"/>
              </a:solidFill>
              <a:ln w="7144">
                <a:solidFill>
                  <a:srgbClr val="30363D"/>
                </a:solidFill>
                <a:prstDash val="solid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indent="0" marL="0">
                  <a:lnSpc>
                    <a:spcPts val="844"/>
                  </a:lnSpc>
                  <a:buNone/>
                </a:pPr>
                <a:r>
                  <a:rPr lang="en-US" sz="560" b="1" dirty="0">
                    <a:solidFill>
                      <a:srgbClr val="58A6FF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(A)</a:t>
                </a:r>
                <a:pPr algn="ctr" indent="0" marL="0">
                  <a:buNone/>
                </a:pPr>
                <a:r>
                  <a:rPr lang="en-US" sz="560" dirty="0">
                    <a:solidFill>
                      <a:srgbClr val="8B949E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 Huffman: code|=bit → emit symbol[index+(code−first)]  ·  </a:t>
                </a:r>
                <a:pPr algn="ctr" indent="0" marL="0">
                  <a:buNone/>
                </a:pPr>
                <a:r>
                  <a:rPr lang="en-US" sz="560" b="1" dirty="0">
                    <a:solidFill>
                      <a:srgbClr val="FFA657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(B)</a:t>
                </a:r>
                <a:pPr algn="ctr" indent="0" marL="0">
                  <a:buNone/>
                </a:pPr>
                <a:r>
                  <a:rPr lang="en-US" sz="560" dirty="0">
                    <a:solidFill>
                      <a:srgbClr val="8B949E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 MTF: out=tbl[idx]; shift tbl[idx] to front  ·  chained on-chip, no CPU between</a:t>
                </a:r>
                <a:endParaRPr lang="en-US" sz="560" dirty="0"/>
              </a:p>
            </p:txBody>
          </p:sp>
        </p:grpSp>
      </p:grpSp>
      <p:grpSp>
        <p:nvGrpSpPr>
          <p:cNvPr id="61" name="Group g95"/>
          <p:cNvGrpSpPr/>
          <p:nvPr/>
        </p:nvGrpSpPr>
        <p:grpSpPr>
          <a:xfrm>
            <a:off x="512564" y="3704034"/>
            <a:ext cx="1978819" cy="578644"/>
            <a:chOff x="512564" y="3704034"/>
            <a:chExt cx="1978819" cy="578644"/>
          </a:xfrm>
        </p:grpSpPr>
        <p:sp>
          <p:nvSpPr>
            <p:cNvPr id="43" name="Shape"/>
            <p:cNvSpPr/>
            <p:nvPr/>
          </p:nvSpPr>
          <p:spPr>
            <a:xfrm>
              <a:off x="512564" y="3704034"/>
              <a:ext cx="1978819" cy="578644"/>
            </a:xfrm>
            <a:prstGeom prst="roundRect">
              <a:avLst>
                <a:gd name="adj" fmla="val 12346"/>
              </a:avLst>
            </a:prstGeom>
            <a:solidFill>
              <a:srgbClr val="0D1A2E"/>
            </a:solidFill>
            <a:ln w="7144">
              <a:solidFill>
                <a:srgbClr val="1A3A5C"/>
              </a:solidFill>
              <a:prstDash val="solid"/>
            </a:ln>
          </p:spPr>
        </p:sp>
        <p:sp>
          <p:nvSpPr>
            <p:cNvPr id="44" name="Shape"/>
            <p:cNvSpPr/>
            <p:nvPr/>
          </p:nvSpPr>
          <p:spPr>
            <a:xfrm>
              <a:off x="619720" y="3789090"/>
              <a:ext cx="1764506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spcAft>
                  <a:spcPts val="281"/>
                </a:spcAft>
                <a:buNone/>
              </a:pPr>
              <a:r>
                <a:rPr lang="en-US" sz="620" b="1" spc="28" kern="0" dirty="0">
                  <a:solidFill>
                    <a:srgbClr val="79C0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⚙️ Parameters</a:t>
              </a:r>
              <a:endParaRPr lang="en-US" sz="620" dirty="0"/>
            </a:p>
          </p:txBody>
        </p:sp>
        <p:sp>
          <p:nvSpPr>
            <p:cNvPr id="45" name="Shape"/>
            <p:cNvSpPr/>
            <p:nvPr/>
          </p:nvSpPr>
          <p:spPr>
            <a:xfrm>
              <a:off x="619720" y="3945136"/>
              <a:ext cx="1764506" cy="250031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90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MAXLEN = 15  ·  SYMW = 9</a:t>
              </a:r>
              <a:pPr algn="l" indent="0" marL="0">
                <a:buNone/>
              </a:pPr>
              <a:endParaRPr lang="en-US" sz="620" dirty="0"/>
            </a:p>
            <a:p>
              <a:pPr algn="l" indent="0" marL="0">
                <a:lnSpc>
                  <a:spcPts val="990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MAXSYM = 512  ·  integer-only</a:t>
              </a:r>
              <a:endParaRPr lang="en-US" sz="620" dirty="0"/>
            </a:p>
          </p:txBody>
        </p:sp>
      </p:grpSp>
      <p:grpSp>
        <p:nvGrpSpPr>
          <p:cNvPr id="62" name="Group g96"/>
          <p:cNvGrpSpPr/>
          <p:nvPr/>
        </p:nvGrpSpPr>
        <p:grpSpPr>
          <a:xfrm>
            <a:off x="2559248" y="3704034"/>
            <a:ext cx="1978819" cy="578644"/>
            <a:chOff x="2559248" y="3704034"/>
            <a:chExt cx="1978819" cy="578644"/>
          </a:xfrm>
        </p:grpSpPr>
        <p:sp>
          <p:nvSpPr>
            <p:cNvPr id="46" name="Shape"/>
            <p:cNvSpPr/>
            <p:nvPr/>
          </p:nvSpPr>
          <p:spPr>
            <a:xfrm>
              <a:off x="2559248" y="3704034"/>
              <a:ext cx="1978819" cy="578644"/>
            </a:xfrm>
            <a:prstGeom prst="roundRect">
              <a:avLst>
                <a:gd name="adj" fmla="val 12346"/>
              </a:avLst>
            </a:prstGeom>
            <a:solidFill>
              <a:srgbClr val="0D1A2E"/>
            </a:solidFill>
            <a:ln w="7144">
              <a:solidFill>
                <a:srgbClr val="1A3A5C"/>
              </a:solidFill>
              <a:prstDash val="solid"/>
            </a:ln>
          </p:spPr>
        </p:sp>
        <p:sp>
          <p:nvSpPr>
            <p:cNvPr id="47" name="Shape"/>
            <p:cNvSpPr/>
            <p:nvPr/>
          </p:nvSpPr>
          <p:spPr>
            <a:xfrm>
              <a:off x="2666405" y="3789090"/>
              <a:ext cx="1764506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spcAft>
                  <a:spcPts val="281"/>
                </a:spcAft>
                <a:buNone/>
              </a:pPr>
              <a:r>
                <a:rPr lang="en-US" sz="620" b="1" spc="28" kern="0" dirty="0">
                  <a:solidFill>
                    <a:srgbClr val="79C0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📐 Area</a:t>
              </a:r>
              <a:endParaRPr lang="en-US" sz="620" dirty="0"/>
            </a:p>
          </p:txBody>
        </p:sp>
        <p:sp>
          <p:nvSpPr>
            <p:cNvPr id="48" name="Shape"/>
            <p:cNvSpPr/>
            <p:nvPr/>
          </p:nvSpPr>
          <p:spPr>
            <a:xfrm>
              <a:off x="2666405" y="3945136"/>
              <a:ext cx="1764506" cy="250031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90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cnt RAM ~15×16b</a:t>
              </a:r>
              <a:pPr algn="l" indent="0" marL="0">
                <a:buNone/>
              </a:pPr>
              <a:endParaRPr lang="en-US" sz="620" dirty="0"/>
            </a:p>
            <a:p>
              <a:pPr algn="l" indent="0" marL="0">
                <a:lnSpc>
                  <a:spcPts val="990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symbol RAM ~512×9b · very small</a:t>
              </a:r>
              <a:endParaRPr lang="en-US" sz="620" dirty="0"/>
            </a:p>
          </p:txBody>
        </p:sp>
      </p:grpSp>
      <p:grpSp>
        <p:nvGrpSpPr>
          <p:cNvPr id="63" name="Group g97"/>
          <p:cNvGrpSpPr/>
          <p:nvPr/>
        </p:nvGrpSpPr>
        <p:grpSpPr>
          <a:xfrm>
            <a:off x="4605933" y="3704034"/>
            <a:ext cx="1978819" cy="578644"/>
            <a:chOff x="4605933" y="3704034"/>
            <a:chExt cx="1978819" cy="578644"/>
          </a:xfrm>
        </p:grpSpPr>
        <p:sp>
          <p:nvSpPr>
            <p:cNvPr id="49" name="Shape"/>
            <p:cNvSpPr/>
            <p:nvPr/>
          </p:nvSpPr>
          <p:spPr>
            <a:xfrm>
              <a:off x="4605933" y="3704034"/>
              <a:ext cx="1978819" cy="578644"/>
            </a:xfrm>
            <a:prstGeom prst="roundRect">
              <a:avLst>
                <a:gd name="adj" fmla="val 12346"/>
              </a:avLst>
            </a:prstGeom>
            <a:solidFill>
              <a:srgbClr val="0D1A2E"/>
            </a:solidFill>
            <a:ln w="7144">
              <a:solidFill>
                <a:srgbClr val="1A3A5C"/>
              </a:solidFill>
              <a:prstDash val="solid"/>
            </a:ln>
          </p:spPr>
        </p:sp>
        <p:sp>
          <p:nvSpPr>
            <p:cNvPr id="50" name="Shape"/>
            <p:cNvSpPr/>
            <p:nvPr/>
          </p:nvSpPr>
          <p:spPr>
            <a:xfrm>
              <a:off x="4713089" y="3789090"/>
              <a:ext cx="1764506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spcAft>
                  <a:spcPts val="281"/>
                </a:spcAft>
                <a:buNone/>
              </a:pPr>
              <a:r>
                <a:rPr lang="en-US" sz="620" b="1" spc="28" kern="0" dirty="0">
                  <a:solidFill>
                    <a:srgbClr val="79C0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⚡ Frequency</a:t>
              </a:r>
              <a:endParaRPr lang="en-US" sz="620" dirty="0"/>
            </a:p>
          </p:txBody>
        </p:sp>
        <p:sp>
          <p:nvSpPr>
            <p:cNvPr id="51" name="Shape"/>
            <p:cNvSpPr/>
            <p:nvPr/>
          </p:nvSpPr>
          <p:spPr>
            <a:xfrm>
              <a:off x="4713089" y="3945136"/>
              <a:ext cx="1764506" cy="250031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90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300–600 MHz target</a:t>
              </a:r>
              <a:pPr algn="l" indent="0" marL="0">
                <a:buNone/>
              </a:pPr>
              <a:endParaRPr lang="en-US" sz="620" dirty="0"/>
            </a:p>
            <a:p>
              <a:pPr algn="l" indent="0" marL="0">
                <a:lnSpc>
                  <a:spcPts val="990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integer critical path · high fmax</a:t>
              </a:r>
              <a:endParaRPr lang="en-US" sz="620" dirty="0"/>
            </a:p>
          </p:txBody>
        </p:sp>
      </p:grpSp>
      <p:grpSp>
        <p:nvGrpSpPr>
          <p:cNvPr id="64" name="Group g98"/>
          <p:cNvGrpSpPr/>
          <p:nvPr/>
        </p:nvGrpSpPr>
        <p:grpSpPr>
          <a:xfrm>
            <a:off x="6652617" y="3704034"/>
            <a:ext cx="1978819" cy="578644"/>
            <a:chOff x="6652617" y="3704034"/>
            <a:chExt cx="1978819" cy="578644"/>
          </a:xfrm>
        </p:grpSpPr>
        <p:sp>
          <p:nvSpPr>
            <p:cNvPr id="52" name="Shape"/>
            <p:cNvSpPr/>
            <p:nvPr/>
          </p:nvSpPr>
          <p:spPr>
            <a:xfrm>
              <a:off x="6652617" y="3704034"/>
              <a:ext cx="1978819" cy="578644"/>
            </a:xfrm>
            <a:prstGeom prst="roundRect">
              <a:avLst>
                <a:gd name="adj" fmla="val 12346"/>
              </a:avLst>
            </a:prstGeom>
            <a:solidFill>
              <a:srgbClr val="0D2018"/>
            </a:solidFill>
            <a:ln w="7144">
              <a:solidFill>
                <a:srgbClr val="2A5C3A"/>
              </a:solidFill>
              <a:prstDash val="solid"/>
            </a:ln>
          </p:spPr>
        </p:sp>
        <p:sp>
          <p:nvSpPr>
            <p:cNvPr id="53" name="Shape"/>
            <p:cNvSpPr/>
            <p:nvPr/>
          </p:nvSpPr>
          <p:spPr>
            <a:xfrm>
              <a:off x="6759773" y="3789090"/>
              <a:ext cx="1764506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spcAft>
                  <a:spcPts val="281"/>
                </a:spcAft>
                <a:buNone/>
              </a:pPr>
              <a:r>
                <a:rPr lang="en-US" sz="620" b="1" spc="28" kern="0" dirty="0">
                  <a:solidFill>
                    <a:srgbClr val="3FB950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🚀 Throughput</a:t>
              </a:r>
              <a:endParaRPr lang="en-US" sz="620" dirty="0"/>
            </a:p>
          </p:txBody>
        </p:sp>
        <p:sp>
          <p:nvSpPr>
            <p:cNvPr id="54" name="Shape"/>
            <p:cNvSpPr/>
            <p:nvPr/>
          </p:nvSpPr>
          <p:spPr>
            <a:xfrm>
              <a:off x="6759773" y="3945136"/>
              <a:ext cx="1764506" cy="250031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90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~1 bit/cycle</a:t>
              </a:r>
              <a:pPr algn="l" indent="0" marL="0">
                <a:buNone/>
              </a:pPr>
              <a:endParaRPr lang="en-US" sz="620" dirty="0"/>
            </a:p>
            <a:p>
              <a:pPr algn="l" indent="0" marL="0">
                <a:lnSpc>
                  <a:spcPts val="990"/>
                </a:lnSpc>
                <a:buNone/>
              </a:pPr>
              <a:r>
                <a:rPr lang="en-US" sz="620" b="1" dirty="0">
                  <a:solidFill>
                    <a:srgbClr val="3FB950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~60M symbols/s</a:t>
              </a:r>
              <a:pPr algn="l" indent="0" marL="0"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@ 500 MHz</a:t>
              </a:r>
              <a:endParaRPr lang="en-US" sz="620" dirty="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0759"/>
            <a:ext cx="822960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80" b="1" spc="101" kern="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INTEGRATION · TRADE-OFFS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457200" y="532209"/>
            <a:ext cx="8229600" cy="364331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2869"/>
              </a:lnSpc>
              <a:buNone/>
            </a:pPr>
            <a:r>
              <a:rPr lang="en-US" sz="1910" b="1" spc="-28" kern="0" dirty="0">
                <a:solidFill>
                  <a:srgbClr val="E6EDF3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HW/SW Interface &amp; </a:t>
            </a:r>
            <a:pPr algn="l" indent="0" marL="0">
              <a:buNone/>
            </a:pPr>
            <a:r>
              <a:rPr lang="en-US" sz="1910" b="1" spc="-28" kern="0" dirty="0">
                <a:solidFill>
                  <a:srgbClr val="58A6FF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Trade-offs</a:t>
            </a:r>
            <a:endParaRPr lang="en-US" sz="1910" dirty="0"/>
          </a:p>
        </p:txBody>
      </p:sp>
      <p:grpSp>
        <p:nvGrpSpPr>
          <p:cNvPr id="39" name="Group g99"/>
          <p:cNvGrpSpPr/>
          <p:nvPr/>
        </p:nvGrpSpPr>
        <p:grpSpPr>
          <a:xfrm>
            <a:off x="455916" y="996553"/>
            <a:ext cx="4557713" cy="3271838"/>
            <a:chOff x="455916" y="996553"/>
            <a:chExt cx="4557713" cy="3271838"/>
          </a:xfrm>
        </p:grpSpPr>
        <p:sp>
          <p:nvSpPr>
            <p:cNvPr id="4" name="Shape"/>
            <p:cNvSpPr/>
            <p:nvPr/>
          </p:nvSpPr>
          <p:spPr>
            <a:xfrm>
              <a:off x="455916" y="996553"/>
              <a:ext cx="4557713" cy="3271838"/>
            </a:xfrm>
            <a:prstGeom prst="roundRect">
              <a:avLst>
                <a:gd name="adj" fmla="val 2620"/>
              </a:avLst>
            </a:prstGeom>
            <a:solidFill>
              <a:srgbClr val="0D1A2E"/>
            </a:solidFill>
            <a:ln w="7144">
              <a:solidFill>
                <a:srgbClr val="1A3A5C"/>
              </a:solidFill>
              <a:prstDash val="solid"/>
            </a:ln>
          </p:spPr>
        </p:sp>
        <p:sp>
          <p:nvSpPr>
            <p:cNvPr id="5" name="Shape"/>
            <p:cNvSpPr/>
            <p:nvPr/>
          </p:nvSpPr>
          <p:spPr>
            <a:xfrm>
              <a:off x="605935" y="1132284"/>
              <a:ext cx="4257675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spcAft>
                  <a:spcPts val="563"/>
                </a:spcAft>
                <a:buNone/>
              </a:pPr>
              <a:r>
                <a:rPr lang="en-US" sz="680" b="1" spc="101" kern="0" dirty="0">
                  <a:solidFill>
                    <a:srgbClr val="58A6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SOFTWARE DRIVER FLOW</a:t>
              </a:r>
              <a:endParaRPr lang="en-US" sz="680" dirty="0"/>
            </a:p>
          </p:txBody>
        </p:sp>
        <p:sp>
          <p:nvSpPr>
            <p:cNvPr id="6" name="Shape"/>
            <p:cNvSpPr/>
            <p:nvPr/>
          </p:nvSpPr>
          <p:spPr>
            <a:xfrm>
              <a:off x="607219" y="1330523"/>
              <a:ext cx="142875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buNone/>
              </a:pPr>
              <a:r>
                <a:rPr lang="en-US" sz="730" b="1" dirty="0">
                  <a:solidFill>
                    <a:srgbClr val="58A6FF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1.</a:t>
              </a:r>
              <a:endParaRPr lang="en-US" sz="730" dirty="0"/>
            </a:p>
          </p:txBody>
        </p:sp>
        <p:sp>
          <p:nvSpPr>
            <p:cNvPr id="7" name="Shape"/>
            <p:cNvSpPr/>
            <p:nvPr/>
          </p:nvSpPr>
          <p:spPr>
            <a:xfrm>
              <a:off x="821085" y="1330523"/>
              <a:ext cx="3950494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buNone/>
              </a:pPr>
              <a:r>
                <a:rPr lang="en-US" sz="7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Load </a:t>
              </a:r>
              <a:pPr algn="l" indent="0" marL="0">
                <a:buNone/>
              </a:pPr>
              <a:r>
                <a:rPr lang="en-US" sz="61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cnt[] </a:t>
              </a:r>
              <a:pPr algn="l" indent="0" marL="0">
                <a:buNone/>
              </a:pPr>
              <a:r>
                <a:rPr lang="en-US" sz="7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/ </a:t>
              </a:r>
              <a:pPr algn="l" indent="0" marL="0">
                <a:buNone/>
              </a:pPr>
              <a:r>
                <a:rPr lang="en-US" sz="61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symbol[] </a:t>
              </a:r>
              <a:pPr algn="l" indent="0" marL="0">
                <a:buNone/>
              </a:pPr>
              <a:r>
                <a:rPr lang="en-US" sz="7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tables via MMIO (built from code lengths pyflate already parses)</a:t>
              </a:r>
              <a:endParaRPr lang="en-US" sz="730" dirty="0"/>
            </a:p>
          </p:txBody>
        </p:sp>
        <p:sp>
          <p:nvSpPr>
            <p:cNvPr id="8" name="Shape"/>
            <p:cNvSpPr/>
            <p:nvPr/>
          </p:nvSpPr>
          <p:spPr>
            <a:xfrm>
              <a:off x="607219" y="1512689"/>
              <a:ext cx="142875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buNone/>
              </a:pPr>
              <a:r>
                <a:rPr lang="en-US" sz="730" b="1" dirty="0">
                  <a:solidFill>
                    <a:srgbClr val="58A6FF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2.</a:t>
              </a:r>
              <a:endParaRPr lang="en-US" sz="730" dirty="0"/>
            </a:p>
          </p:txBody>
        </p:sp>
        <p:sp>
          <p:nvSpPr>
            <p:cNvPr id="9" name="Shape"/>
            <p:cNvSpPr/>
            <p:nvPr/>
          </p:nvSpPr>
          <p:spPr>
            <a:xfrm>
              <a:off x="820415" y="1512689"/>
              <a:ext cx="1421606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buNone/>
              </a:pPr>
              <a:r>
                <a:rPr lang="en-US" sz="7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Write </a:t>
              </a:r>
              <a:pPr algn="l" indent="0" marL="0">
                <a:buNone/>
              </a:pPr>
              <a:r>
                <a:rPr lang="en-US" sz="61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NSYM </a:t>
              </a:r>
              <a:pPr algn="l" indent="0" marL="0">
                <a:buNone/>
              </a:pPr>
              <a:r>
                <a:rPr lang="en-US" sz="7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, pulse </a:t>
              </a:r>
              <a:pPr algn="l" indent="0" marL="0">
                <a:buNone/>
              </a:pPr>
              <a:r>
                <a:rPr lang="en-US" sz="61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CTRL.start </a:t>
              </a:r>
              <a:endParaRPr lang="en-US" sz="730" dirty="0"/>
            </a:p>
          </p:txBody>
        </p:sp>
        <p:sp>
          <p:nvSpPr>
            <p:cNvPr id="10" name="Shape"/>
            <p:cNvSpPr/>
            <p:nvPr/>
          </p:nvSpPr>
          <p:spPr>
            <a:xfrm>
              <a:off x="607219" y="1694855"/>
              <a:ext cx="142875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buNone/>
              </a:pPr>
              <a:r>
                <a:rPr lang="en-US" sz="730" b="1" dirty="0">
                  <a:solidFill>
                    <a:srgbClr val="58A6FF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3.</a:t>
              </a:r>
              <a:endParaRPr lang="en-US" sz="730" dirty="0"/>
            </a:p>
          </p:txBody>
        </p:sp>
        <p:sp>
          <p:nvSpPr>
            <p:cNvPr id="11" name="Shape"/>
            <p:cNvSpPr/>
            <p:nvPr/>
          </p:nvSpPr>
          <p:spPr>
            <a:xfrm>
              <a:off x="821196" y="1694855"/>
              <a:ext cx="1928813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buNone/>
              </a:pPr>
              <a:r>
                <a:rPr lang="en-US" sz="7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DMA compressed bytes → </a:t>
              </a:r>
              <a:pPr algn="l" indent="0" marL="0">
                <a:buNone/>
              </a:pPr>
              <a:r>
                <a:rPr lang="en-US" sz="61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byte_in </a:t>
              </a:r>
              <a:pPr algn="l" indent="0" marL="0">
                <a:buNone/>
              </a:pPr>
              <a:r>
                <a:rPr lang="en-US" sz="7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stream</a:t>
              </a:r>
              <a:endParaRPr lang="en-US" sz="730" dirty="0"/>
            </a:p>
          </p:txBody>
        </p:sp>
        <p:sp>
          <p:nvSpPr>
            <p:cNvPr id="12" name="Shape"/>
            <p:cNvSpPr/>
            <p:nvPr/>
          </p:nvSpPr>
          <p:spPr>
            <a:xfrm>
              <a:off x="607219" y="1877020"/>
              <a:ext cx="142875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buNone/>
              </a:pPr>
              <a:r>
                <a:rPr lang="en-US" sz="730" b="1" dirty="0">
                  <a:solidFill>
                    <a:srgbClr val="58A6FF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4.</a:t>
              </a:r>
              <a:endParaRPr lang="en-US" sz="730" dirty="0"/>
            </a:p>
          </p:txBody>
        </p:sp>
        <p:sp>
          <p:nvSpPr>
            <p:cNvPr id="13" name="Shape"/>
            <p:cNvSpPr/>
            <p:nvPr/>
          </p:nvSpPr>
          <p:spPr>
            <a:xfrm>
              <a:off x="822424" y="1877020"/>
              <a:ext cx="1750219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buNone/>
              </a:pPr>
              <a:r>
                <a:rPr lang="en-US" sz="7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DMA decoded symbols ← </a:t>
              </a:r>
              <a:pPr algn="l" indent="0" marL="0">
                <a:buNone/>
              </a:pPr>
              <a:r>
                <a:rPr lang="en-US" sz="61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osym </a:t>
              </a:r>
              <a:pPr algn="l" indent="0" marL="0">
                <a:buNone/>
              </a:pPr>
              <a:r>
                <a:rPr lang="en-US" sz="7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stream</a:t>
              </a:r>
              <a:endParaRPr lang="en-US" sz="730" dirty="0"/>
            </a:p>
          </p:txBody>
        </p:sp>
        <p:sp>
          <p:nvSpPr>
            <p:cNvPr id="14" name="Shape"/>
            <p:cNvSpPr/>
            <p:nvPr/>
          </p:nvSpPr>
          <p:spPr>
            <a:xfrm>
              <a:off x="607219" y="2059186"/>
              <a:ext cx="142875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buNone/>
              </a:pPr>
              <a:r>
                <a:rPr lang="en-US" sz="730" b="1" dirty="0">
                  <a:solidFill>
                    <a:srgbClr val="58A6FF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5.</a:t>
              </a:r>
              <a:endParaRPr lang="en-US" sz="730" dirty="0"/>
            </a:p>
          </p:txBody>
        </p:sp>
        <p:sp>
          <p:nvSpPr>
            <p:cNvPr id="15" name="Shape"/>
            <p:cNvSpPr/>
            <p:nvPr/>
          </p:nvSpPr>
          <p:spPr>
            <a:xfrm>
              <a:off x="822927" y="2059186"/>
              <a:ext cx="2871788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buNone/>
              </a:pPr>
              <a:r>
                <a:rPr lang="en-US" sz="7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MTF / RLE / inverse BWT stay in SW (or become follow-on stages)</a:t>
              </a:r>
              <a:endParaRPr lang="en-US" sz="730" dirty="0"/>
            </a:p>
          </p:txBody>
        </p:sp>
        <p:sp>
          <p:nvSpPr>
            <p:cNvPr id="16" name="Shape"/>
            <p:cNvSpPr/>
            <p:nvPr/>
          </p:nvSpPr>
          <p:spPr>
            <a:xfrm>
              <a:off x="605935" y="2271713"/>
              <a:ext cx="4257675" cy="385763"/>
            </a:xfrm>
            <a:prstGeom prst="roundRect">
              <a:avLst>
                <a:gd name="adj" fmla="val 11111"/>
              </a:avLst>
            </a:prstGeom>
            <a:solidFill>
              <a:srgbClr val="0D2018"/>
            </a:solidFill>
            <a:ln w="7144">
              <a:solidFill>
                <a:srgbClr val="2A5C3A"/>
              </a:solidFill>
              <a:prstDash val="solid"/>
            </a:ln>
          </p:spPr>
          <p:txBody>
            <a:bodyPr wrap="square" lIns="42863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spcBef>
                  <a:spcPts val="563"/>
                </a:spcBef>
                <a:buNone/>
              </a:pPr>
              <a:r>
                <a:rPr lang="en-US" sz="680" dirty="0">
                  <a:solidFill>
                    <a:srgbClr val="3FB950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A CPython C-extension replaces pyflate's per-symbol decode loop. Public </a:t>
              </a:r>
              <a:pPr algn="l" indent="0" marL="0">
                <a:buNone/>
              </a:pPr>
              <a:r>
                <a:rPr lang="en-US" sz="57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pyflate.decompress() </a:t>
              </a:r>
              <a:pPr algn="l" indent="0" marL="0">
                <a:buNone/>
              </a:pPr>
              <a:r>
                <a:rPr lang="en-US" sz="680" dirty="0">
                  <a:solidFill>
                    <a:srgbClr val="3FB950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API unchanged.</a:t>
              </a:r>
              <a:endParaRPr lang="en-US" sz="680" dirty="0"/>
            </a:p>
          </p:txBody>
        </p:sp>
      </p:grpSp>
      <p:grpSp>
        <p:nvGrpSpPr>
          <p:cNvPr id="34" name="Group g100"/>
          <p:cNvGrpSpPr/>
          <p:nvPr/>
        </p:nvGrpSpPr>
        <p:grpSpPr>
          <a:xfrm>
            <a:off x="5142216" y="996553"/>
            <a:ext cx="3543300" cy="2078831"/>
            <a:chOff x="5142216" y="996553"/>
            <a:chExt cx="3543300" cy="2078831"/>
          </a:xfrm>
        </p:grpSpPr>
        <p:sp>
          <p:nvSpPr>
            <p:cNvPr id="17" name="Shape"/>
            <p:cNvSpPr/>
            <p:nvPr/>
          </p:nvSpPr>
          <p:spPr>
            <a:xfrm>
              <a:off x="5142216" y="996553"/>
              <a:ext cx="3543300" cy="2078831"/>
            </a:xfrm>
            <a:prstGeom prst="roundRect">
              <a:avLst>
                <a:gd name="adj" fmla="val 3436"/>
              </a:avLst>
            </a:prstGeom>
            <a:solidFill>
              <a:srgbClr val="0D1117"/>
            </a:solidFill>
            <a:ln w="7144">
              <a:solidFill>
                <a:srgbClr val="30363D"/>
              </a:solidFill>
              <a:prstDash val="solid"/>
            </a:ln>
          </p:spPr>
        </p:sp>
        <p:sp>
          <p:nvSpPr>
            <p:cNvPr id="18" name="Shape"/>
            <p:cNvSpPr/>
            <p:nvPr/>
          </p:nvSpPr>
          <p:spPr>
            <a:xfrm>
              <a:off x="5263660" y="1103709"/>
              <a:ext cx="3300413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spcAft>
                  <a:spcPts val="450"/>
                </a:spcAft>
                <a:buNone/>
              </a:pPr>
              <a:r>
                <a:rPr lang="en-US" sz="680" b="1" spc="101" kern="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MMIO REGISTER MAP</a:t>
              </a:r>
              <a:endParaRPr lang="en-US" sz="680" dirty="0"/>
            </a:p>
          </p:txBody>
        </p:sp>
      </p:grp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63660" y="1289447"/>
          <a:ext cx="3300413" cy="914400"/>
        </p:xfrm>
        <a:graphic>
          <a:graphicData uri="http://schemas.openxmlformats.org/drawingml/2006/table">
            <a:tbl>
              <a:tblPr/>
              <a:tblGrid>
                <a:gridCol w="349709"/>
                <a:gridCol w="543037"/>
                <a:gridCol w="124937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4"/>
                        </a:lnSpc>
                        <a:buNone/>
                      </a:pPr>
                      <a:r>
                        <a:rPr lang="en-US" sz="560" b="1" spc="45" kern="0" dirty="0">
                          <a:solidFill>
                            <a:srgbClr val="58A6FF"/>
                          </a:solidFill>
                          <a:highlight>
                            <a:srgbClr val="0D1117"/>
                          </a:highlight>
                          <a:latin typeface="SF Pro Semibold" pitchFamily="34" charset="0"/>
                          <a:ea typeface="SF Pro Semibold" pitchFamily="34" charset="-122"/>
                          <a:cs typeface="SF Pro Semibold" pitchFamily="34" charset="-120"/>
                        </a:rPr>
                        <a:t>ADDR</a:t>
                      </a:r>
                      <a:endParaRPr lang="en-US" sz="560" dirty="0">
                        <a:latin typeface="SF Pro Semibold" charset="0"/>
                        <a:ea typeface="SF Pro Semibold" charset="0"/>
                        <a:cs typeface="SF Pro Semibold" charset="0"/>
                      </a:endParaRPr>
                    </a:p>
                  </a:txBody>
                  <a:tcPr marL="57150" marR="57150" marT="35719" marB="35719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4"/>
                        </a:lnSpc>
                        <a:buNone/>
                      </a:pPr>
                      <a:r>
                        <a:rPr lang="en-US" sz="560" b="1" spc="45" kern="0" dirty="0">
                          <a:solidFill>
                            <a:srgbClr val="58A6FF"/>
                          </a:solidFill>
                          <a:highlight>
                            <a:srgbClr val="0D1117"/>
                          </a:highlight>
                          <a:latin typeface="SF Pro Semibold" pitchFamily="34" charset="0"/>
                          <a:ea typeface="SF Pro Semibold" pitchFamily="34" charset="-122"/>
                          <a:cs typeface="SF Pro Semibold" pitchFamily="34" charset="-120"/>
                        </a:rPr>
                        <a:t>NAME</a:t>
                      </a:r>
                      <a:endParaRPr lang="en-US" sz="560" dirty="0">
                        <a:latin typeface="SF Pro Semibold" charset="0"/>
                        <a:ea typeface="SF Pro Semibold" charset="0"/>
                        <a:cs typeface="SF Pro Semibold" charset="0"/>
                      </a:endParaRPr>
                    </a:p>
                  </a:txBody>
                  <a:tcPr marL="57150" marR="57150" marT="35719" marB="35719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4"/>
                        </a:lnSpc>
                        <a:buNone/>
                      </a:pPr>
                      <a:r>
                        <a:rPr lang="en-US" sz="560" b="1" spc="45" kern="0" dirty="0">
                          <a:solidFill>
                            <a:srgbClr val="58A6FF"/>
                          </a:solidFill>
                          <a:highlight>
                            <a:srgbClr val="0D1117"/>
                          </a:highlight>
                          <a:latin typeface="SF Pro Semibold" pitchFamily="34" charset="0"/>
                          <a:ea typeface="SF Pro Semibold" pitchFamily="34" charset="-122"/>
                          <a:cs typeface="SF Pro Semibold" pitchFamily="34" charset="-120"/>
                        </a:rPr>
                        <a:t>MEANING</a:t>
                      </a:r>
                      <a:endParaRPr lang="en-US" sz="560" dirty="0">
                        <a:latin typeface="SF Pro Semibold" charset="0"/>
                        <a:ea typeface="SF Pro Semibold" charset="0"/>
                        <a:cs typeface="SF Pro Semibold" charset="0"/>
                      </a:endParaRPr>
                    </a:p>
                  </a:txBody>
                  <a:tcPr marL="57150" marR="57150" marT="35719" marB="35719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dirty="0">
                          <a:solidFill>
                            <a:srgbClr val="79C0FF"/>
                          </a:solidFill>
                          <a:highlight>
                            <a:srgbClr val="0D1117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0x0</a:t>
                      </a:r>
                      <a:endParaRPr lang="en-US" sz="79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57150" marR="57150" marT="35719" marB="35719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dirty="0">
                          <a:solidFill>
                            <a:srgbClr val="79C0FF"/>
                          </a:solidFill>
                          <a:highlight>
                            <a:srgbClr val="0D1117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CTRL</a:t>
                      </a:r>
                      <a:endParaRPr lang="en-US" sz="79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57150" marR="57150" marT="35719" marB="35719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dirty="0">
                          <a:solidFill>
                            <a:srgbClr val="8B949E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bit0 = start pulse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57150" marR="57150" marT="35719" marB="35719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dirty="0">
                          <a:solidFill>
                            <a:srgbClr val="79C0FF"/>
                          </a:solidFill>
                          <a:highlight>
                            <a:srgbClr val="0D1117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0x1</a:t>
                      </a:r>
                      <a:endParaRPr lang="en-US" sz="79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57150" marR="57150" marT="35719" marB="35719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dirty="0">
                          <a:solidFill>
                            <a:srgbClr val="79C0FF"/>
                          </a:solidFill>
                          <a:highlight>
                            <a:srgbClr val="0D1117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NSYM</a:t>
                      </a:r>
                      <a:endParaRPr lang="en-US" sz="79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57150" marR="57150" marT="35719" marB="35719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dirty="0">
                          <a:solidFill>
                            <a:srgbClr val="8B949E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symbols to decode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57150" marR="57150" marT="35719" marB="35719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dirty="0">
                          <a:solidFill>
                            <a:srgbClr val="79C0FF"/>
                          </a:solidFill>
                          <a:highlight>
                            <a:srgbClr val="0D1117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0x2</a:t>
                      </a:r>
                      <a:endParaRPr lang="en-US" sz="79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57150" marR="57150" marT="35719" marB="35719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dirty="0">
                          <a:solidFill>
                            <a:srgbClr val="79C0FF"/>
                          </a:solidFill>
                          <a:highlight>
                            <a:srgbClr val="0D1117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STATUS</a:t>
                      </a:r>
                      <a:endParaRPr lang="en-US" sz="79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57150" marR="57150" marT="35719" marB="35719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dirty="0">
                          <a:solidFill>
                            <a:srgbClr val="8B949E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busy / done flags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57150" marR="57150" marT="35719" marB="35719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dirty="0">
                          <a:solidFill>
                            <a:srgbClr val="79C0FF"/>
                          </a:solidFill>
                          <a:highlight>
                            <a:srgbClr val="0D1117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0x3</a:t>
                      </a:r>
                      <a:endParaRPr lang="en-US" sz="79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57150" marR="57150" marT="35719" marB="35719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dirty="0">
                          <a:solidFill>
                            <a:srgbClr val="79C0FF"/>
                          </a:solidFill>
                          <a:highlight>
                            <a:srgbClr val="0D1117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COUNT</a:t>
                      </a:r>
                      <a:endParaRPr lang="en-US" sz="79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57150" marR="57150" marT="35719" marB="35719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dirty="0">
                          <a:solidFill>
                            <a:srgbClr val="8B949E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symbols decoded so far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57150" marR="57150" marT="35719" marB="35719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dirty="0">
                          <a:solidFill>
                            <a:srgbClr val="79C0FF"/>
                          </a:solidFill>
                          <a:highlight>
                            <a:srgbClr val="0D1117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0x4</a:t>
                      </a:r>
                      <a:endParaRPr lang="en-US" sz="79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57150" marR="57150" marT="35719" marB="35719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dirty="0">
                          <a:solidFill>
                            <a:srgbClr val="79C0FF"/>
                          </a:solidFill>
                          <a:highlight>
                            <a:srgbClr val="0D1117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TBL_CNT</a:t>
                      </a:r>
                      <a:endParaRPr lang="en-US" sz="79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57150" marR="57150" marT="35719" marB="35719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dirty="0">
                          <a:solidFill>
                            <a:srgbClr val="8B949E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load cnt[len] table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57150" marR="57150" marT="35719" marB="35719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dirty="0">
                          <a:solidFill>
                            <a:srgbClr val="79C0FF"/>
                          </a:solidFill>
                          <a:highlight>
                            <a:srgbClr val="0D1117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0x5</a:t>
                      </a:r>
                      <a:endParaRPr lang="en-US" sz="79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57150" marR="57150" marT="35719" marB="35719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dirty="0">
                          <a:solidFill>
                            <a:srgbClr val="79C0FF"/>
                          </a:solidFill>
                          <a:highlight>
                            <a:srgbClr val="0D1117"/>
                          </a:highlight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TBL_SYM</a:t>
                      </a:r>
                      <a:endParaRPr lang="en-US" sz="790" dirty="0">
                        <a:latin typeface="monospace" charset="0"/>
                        <a:ea typeface="monospace" charset="0"/>
                        <a:cs typeface="monospace" charset="0"/>
                      </a:endParaRPr>
                    </a:p>
                  </a:txBody>
                  <a:tcPr marL="57150" marR="57150" marT="35719" marB="35719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dirty="0">
                          <a:solidFill>
                            <a:srgbClr val="8B949E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load symbol[] table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57150" marR="57150" marT="35719" marB="35719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grpSp>
        <p:nvGrpSpPr>
          <p:cNvPr id="35" name="Group g108"/>
          <p:cNvGrpSpPr/>
          <p:nvPr/>
        </p:nvGrpSpPr>
        <p:grpSpPr>
          <a:xfrm>
            <a:off x="5141323" y="3145036"/>
            <a:ext cx="1143000" cy="621506"/>
            <a:chOff x="5141323" y="3145036"/>
            <a:chExt cx="1143000" cy="621506"/>
          </a:xfrm>
        </p:grpSpPr>
        <p:sp>
          <p:nvSpPr>
            <p:cNvPr id="20" name="Shape"/>
            <p:cNvSpPr/>
            <p:nvPr/>
          </p:nvSpPr>
          <p:spPr>
            <a:xfrm>
              <a:off x="5141323" y="3145036"/>
              <a:ext cx="1143000" cy="621506"/>
            </a:xfrm>
            <a:prstGeom prst="roundRect">
              <a:avLst>
                <a:gd name="adj" fmla="val 9195"/>
              </a:avLst>
            </a:prstGeom>
            <a:solidFill>
              <a:srgbClr val="0D1117"/>
            </a:solidFill>
            <a:ln w="7144">
              <a:solidFill>
                <a:srgbClr val="30363D"/>
              </a:solidFill>
              <a:prstDash val="solid"/>
            </a:ln>
          </p:spPr>
        </p:sp>
        <p:sp>
          <p:nvSpPr>
            <p:cNvPr id="21" name="Shape"/>
            <p:cNvSpPr/>
            <p:nvPr/>
          </p:nvSpPr>
          <p:spPr>
            <a:xfrm>
              <a:off x="5234192" y="3223617"/>
              <a:ext cx="957263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928"/>
                </a:lnSpc>
                <a:spcAft>
                  <a:spcPts val="169"/>
                </a:spcAft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Frequency</a:t>
              </a:r>
              <a:endParaRPr lang="en-US" sz="620" dirty="0"/>
            </a:p>
          </p:txBody>
        </p:sp>
        <p:sp>
          <p:nvSpPr>
            <p:cNvPr id="22" name="Shape"/>
            <p:cNvSpPr/>
            <p:nvPr/>
          </p:nvSpPr>
          <p:spPr>
            <a:xfrm>
              <a:off x="5234192" y="3364706"/>
              <a:ext cx="957263" cy="214313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1688"/>
                </a:lnSpc>
                <a:buNone/>
              </a:pPr>
              <a:r>
                <a:rPr lang="en-US" sz="1130" b="1" dirty="0">
                  <a:solidFill>
                    <a:srgbClr val="58A6FF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300–600</a:t>
              </a:r>
              <a:endParaRPr lang="en-US" sz="1130" dirty="0"/>
            </a:p>
          </p:txBody>
        </p:sp>
        <p:sp>
          <p:nvSpPr>
            <p:cNvPr id="23" name="Shape"/>
            <p:cNvSpPr/>
            <p:nvPr/>
          </p:nvSpPr>
          <p:spPr>
            <a:xfrm>
              <a:off x="5234192" y="3579019"/>
              <a:ext cx="957263" cy="10715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844"/>
                </a:lnSpc>
                <a:buNone/>
              </a:pPr>
              <a:r>
                <a:rPr lang="en-US" sz="56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MHz (integer)</a:t>
              </a:r>
              <a:endParaRPr lang="en-US" sz="560" dirty="0"/>
            </a:p>
          </p:txBody>
        </p:sp>
      </p:grpSp>
      <p:grpSp>
        <p:nvGrpSpPr>
          <p:cNvPr id="36" name="Group g109"/>
          <p:cNvGrpSpPr/>
          <p:nvPr/>
        </p:nvGrpSpPr>
        <p:grpSpPr>
          <a:xfrm>
            <a:off x="6342311" y="3145036"/>
            <a:ext cx="1143000" cy="621506"/>
            <a:chOff x="6342311" y="3145036"/>
            <a:chExt cx="1143000" cy="621506"/>
          </a:xfrm>
        </p:grpSpPr>
        <p:sp>
          <p:nvSpPr>
            <p:cNvPr id="24" name="Shape"/>
            <p:cNvSpPr/>
            <p:nvPr/>
          </p:nvSpPr>
          <p:spPr>
            <a:xfrm>
              <a:off x="6342311" y="3145036"/>
              <a:ext cx="1143000" cy="621506"/>
            </a:xfrm>
            <a:prstGeom prst="roundRect">
              <a:avLst>
                <a:gd name="adj" fmla="val 9195"/>
              </a:avLst>
            </a:prstGeom>
            <a:solidFill>
              <a:srgbClr val="0D1117"/>
            </a:solidFill>
            <a:ln w="7144">
              <a:solidFill>
                <a:srgbClr val="30363D"/>
              </a:solidFill>
              <a:prstDash val="solid"/>
            </a:ln>
          </p:spPr>
        </p:sp>
        <p:sp>
          <p:nvSpPr>
            <p:cNvPr id="25" name="Shape"/>
            <p:cNvSpPr/>
            <p:nvPr/>
          </p:nvSpPr>
          <p:spPr>
            <a:xfrm>
              <a:off x="6435179" y="3223617"/>
              <a:ext cx="957263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928"/>
                </a:lnSpc>
                <a:spcAft>
                  <a:spcPts val="169"/>
                </a:spcAft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Throughput</a:t>
              </a:r>
              <a:endParaRPr lang="en-US" sz="620" dirty="0"/>
            </a:p>
          </p:txBody>
        </p:sp>
        <p:sp>
          <p:nvSpPr>
            <p:cNvPr id="26" name="Shape"/>
            <p:cNvSpPr/>
            <p:nvPr/>
          </p:nvSpPr>
          <p:spPr>
            <a:xfrm>
              <a:off x="6435179" y="3364706"/>
              <a:ext cx="957263" cy="214313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1688"/>
                </a:lnSpc>
                <a:buNone/>
              </a:pPr>
              <a:r>
                <a:rPr lang="en-US" sz="1130" b="1" dirty="0">
                  <a:solidFill>
                    <a:srgbClr val="79C0FF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~60M</a:t>
              </a:r>
              <a:endParaRPr lang="en-US" sz="1130" dirty="0"/>
            </a:p>
          </p:txBody>
        </p:sp>
        <p:sp>
          <p:nvSpPr>
            <p:cNvPr id="27" name="Shape"/>
            <p:cNvSpPr/>
            <p:nvPr/>
          </p:nvSpPr>
          <p:spPr>
            <a:xfrm>
              <a:off x="6435179" y="3579019"/>
              <a:ext cx="957263" cy="10715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844"/>
                </a:lnSpc>
                <a:buNone/>
              </a:pPr>
              <a:r>
                <a:rPr lang="en-US" sz="56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symbols/s @ 500 MHz</a:t>
              </a:r>
              <a:endParaRPr lang="en-US" sz="560" dirty="0"/>
            </a:p>
          </p:txBody>
        </p:sp>
      </p:grpSp>
      <p:grpSp>
        <p:nvGrpSpPr>
          <p:cNvPr id="37" name="Group g110"/>
          <p:cNvGrpSpPr/>
          <p:nvPr/>
        </p:nvGrpSpPr>
        <p:grpSpPr>
          <a:xfrm>
            <a:off x="7543354" y="3145036"/>
            <a:ext cx="1143000" cy="621506"/>
            <a:chOff x="7543354" y="3145036"/>
            <a:chExt cx="1143000" cy="621506"/>
          </a:xfrm>
        </p:grpSpPr>
        <p:sp>
          <p:nvSpPr>
            <p:cNvPr id="28" name="Shape"/>
            <p:cNvSpPr/>
            <p:nvPr/>
          </p:nvSpPr>
          <p:spPr>
            <a:xfrm>
              <a:off x="7543354" y="3145036"/>
              <a:ext cx="1143000" cy="621506"/>
            </a:xfrm>
            <a:prstGeom prst="roundRect">
              <a:avLst>
                <a:gd name="adj" fmla="val 9195"/>
              </a:avLst>
            </a:prstGeom>
            <a:solidFill>
              <a:srgbClr val="0D1117"/>
            </a:solidFill>
            <a:ln w="7144">
              <a:solidFill>
                <a:srgbClr val="30363D"/>
              </a:solidFill>
              <a:prstDash val="solid"/>
            </a:ln>
          </p:spPr>
        </p:sp>
        <p:sp>
          <p:nvSpPr>
            <p:cNvPr id="29" name="Shape"/>
            <p:cNvSpPr/>
            <p:nvPr/>
          </p:nvSpPr>
          <p:spPr>
            <a:xfrm>
              <a:off x="7636222" y="3223617"/>
              <a:ext cx="957263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928"/>
                </a:lnSpc>
                <a:spcAft>
                  <a:spcPts val="169"/>
                </a:spcAft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SW rate</a:t>
              </a:r>
              <a:endParaRPr lang="en-US" sz="620" dirty="0"/>
            </a:p>
          </p:txBody>
        </p:sp>
        <p:sp>
          <p:nvSpPr>
            <p:cNvPr id="30" name="Shape"/>
            <p:cNvSpPr/>
            <p:nvPr/>
          </p:nvSpPr>
          <p:spPr>
            <a:xfrm>
              <a:off x="7636222" y="3364706"/>
              <a:ext cx="957263" cy="214313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1688"/>
                </a:lnSpc>
                <a:buNone/>
              </a:pPr>
              <a:r>
                <a:rPr lang="en-US" sz="1130" b="1" dirty="0">
                  <a:solidFill>
                    <a:srgbClr val="F85149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~19K</a:t>
              </a:r>
              <a:endParaRPr lang="en-US" sz="1130" dirty="0"/>
            </a:p>
          </p:txBody>
        </p:sp>
        <p:sp>
          <p:nvSpPr>
            <p:cNvPr id="31" name="Shape"/>
            <p:cNvSpPr/>
            <p:nvPr/>
          </p:nvSpPr>
          <p:spPr>
            <a:xfrm>
              <a:off x="7636222" y="3579019"/>
              <a:ext cx="957263" cy="10715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844"/>
                </a:lnSpc>
                <a:buNone/>
              </a:pPr>
              <a:r>
                <a:rPr lang="en-US" sz="56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symbols/s (Python)</a:t>
              </a:r>
              <a:endParaRPr lang="en-US" sz="560" dirty="0"/>
            </a:p>
          </p:txBody>
        </p:sp>
      </p:grpSp>
      <p:grpSp>
        <p:nvGrpSpPr>
          <p:cNvPr id="38" name="Group g111"/>
          <p:cNvGrpSpPr/>
          <p:nvPr/>
        </p:nvGrpSpPr>
        <p:grpSpPr>
          <a:xfrm>
            <a:off x="5142216" y="3891558"/>
            <a:ext cx="3543300" cy="378619"/>
            <a:chOff x="5142216" y="3891558"/>
            <a:chExt cx="3543300" cy="378619"/>
          </a:xfrm>
        </p:grpSpPr>
        <p:sp>
          <p:nvSpPr>
            <p:cNvPr id="32" name="Shape"/>
            <p:cNvSpPr/>
            <p:nvPr/>
          </p:nvSpPr>
          <p:spPr>
            <a:xfrm>
              <a:off x="5142216" y="3891558"/>
              <a:ext cx="3543300" cy="378619"/>
            </a:xfrm>
            <a:prstGeom prst="roundRect">
              <a:avLst>
                <a:gd name="adj" fmla="val 13208"/>
              </a:avLst>
            </a:prstGeom>
            <a:solidFill>
              <a:srgbClr val="0D1A2E"/>
            </a:solidFill>
            <a:ln w="7144">
              <a:solidFill>
                <a:srgbClr val="1A3A5C"/>
              </a:solidFill>
              <a:prstDash val="solid"/>
            </a:ln>
          </p:spPr>
          <p:txBody>
            <a:bodyPr wrap="square" lIns="50006" tIns="0" rIns="0" bIns="0" rtlCol="0" anchor="ctr">
              <a:spAutoFit/>
            </a:bodyPr>
            <a:lstStyle/>
            <a:p>
              <a:pPr algn="l" indent="0" marL="0">
                <a:lnSpc>
                  <a:spcPts val="970"/>
                </a:lnSpc>
                <a:buNone/>
              </a:pPr>
              <a:r>
                <a:rPr lang="en-US" sz="650" b="1" dirty="0">
                  <a:solidFill>
                    <a:srgbClr val="79C0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(A) derivation:</a:t>
              </a:r>
              <a:pPr algn="l" indent="0" marL="0">
                <a:buNone/>
              </a:pPr>
              <a:r>
                <a:rPr lang="en-US" sz="65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500 MHz ÷ ~8 bits/sym ≈ </a:t>
              </a:r>
              <a:pPr algn="l" indent="0" marL="0">
                <a:buNone/>
              </a:pPr>
              <a:r>
                <a:rPr lang="en-US" sz="650" b="1" dirty="0">
                  <a:solidFill>
                    <a:srgbClr val="79C0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60M sym/s</a:t>
              </a:r>
              <a:pPr algn="l" indent="0" marL="0">
                <a:buNone/>
              </a:pPr>
              <a:r>
                <a:rPr lang="en-US" sz="65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HW  ·  148,271 sym ÷ 7.67 s ≈ </a:t>
              </a:r>
              <a:pPr algn="l" indent="0" marL="0">
                <a:buNone/>
              </a:pPr>
              <a:r>
                <a:rPr lang="en-US" sz="650" b="1" dirty="0">
                  <a:solidFill>
                    <a:srgbClr val="F8514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19,300 sym/s</a:t>
              </a:r>
              <a:pPr algn="l" indent="0" marL="0">
                <a:buNone/>
              </a:pPr>
              <a:r>
                <a:rPr lang="en-US" sz="65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SW  ·  s</a:t>
              </a:r>
              <a:pPr algn="l" indent="0" marL="0">
                <a:buNone/>
              </a:pPr>
              <a:r>
                <a:rPr lang="en-US" sz="49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A</a:t>
              </a:r>
              <a:pPr algn="l" indent="0" marL="0">
                <a:buNone/>
              </a:pPr>
              <a:r>
                <a:rPr lang="en-US" sz="65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= 60M ÷ 19.3K ≈ </a:t>
              </a:r>
              <a:pPr algn="l" indent="0" marL="0">
                <a:buNone/>
              </a:pPr>
              <a:r>
                <a:rPr lang="en-US" sz="650" b="1" dirty="0">
                  <a:solidFill>
                    <a:srgbClr val="3FB950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3,100×</a:t>
              </a:r>
              <a:endParaRPr lang="en-US" sz="650" dirty="0"/>
            </a:p>
          </p:txBody>
        </p:sp>
      </p:grpSp>
      <p:sp>
        <p:nvSpPr>
          <p:cNvPr id="33" name="Text 30"/>
          <p:cNvSpPr/>
          <p:nvPr/>
        </p:nvSpPr>
        <p:spPr>
          <a:xfrm>
            <a:off x="457200" y="4368403"/>
            <a:ext cx="8229600" cy="414338"/>
          </a:xfrm>
          <a:prstGeom prst="roundRect">
            <a:avLst>
              <a:gd name="adj" fmla="val 13793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lIns="5715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80" b="1" dirty="0">
                <a:solidFill>
                  <a:srgbClr val="C9D1D9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Speed/area knob:</a:t>
            </a:r>
            <a:pPr algn="l"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 a lookup-table front end (peek MAXLEN bits → 1 symbol/cycle) costs 2^MAXLEN table RAM. A two-level table (like zlib) is the production compromise. The serial FSM here is the smallest, always-correct baseline.</a:t>
            </a:r>
            <a:endParaRPr lang="en-US" sz="6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5775" y="1024905"/>
            <a:ext cx="817245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Aft>
                <a:spcPts val="225"/>
              </a:spcAft>
              <a:buNone/>
            </a:pPr>
            <a:r>
              <a:rPr lang="en-US" sz="680" b="1" spc="101" kern="0" dirty="0">
                <a:solidFill>
                  <a:srgbClr val="FFA657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COMPONENT (B) · HARDWARE TWIN OF OPT-2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485775" y="1182067"/>
            <a:ext cx="8172450" cy="321469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2531"/>
              </a:lnSpc>
              <a:buNone/>
            </a:pPr>
            <a:r>
              <a:rPr lang="en-US" sz="1690" b="1" spc="-28" kern="0" dirty="0">
                <a:solidFill>
                  <a:srgbClr val="E6EDF3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MTF Unit — </a:t>
            </a:r>
            <a:pPr algn="l" indent="0" marL="0">
              <a:buNone/>
            </a:pPr>
            <a:r>
              <a:rPr lang="en-US" sz="1690" b="1" spc="-28" kern="0" dirty="0">
                <a:solidFill>
                  <a:srgbClr val="FFA657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Move-To-Front</a:t>
            </a:r>
            <a:endParaRPr lang="en-US" sz="1690" dirty="0"/>
          </a:p>
        </p:txBody>
      </p:sp>
      <p:sp>
        <p:nvSpPr>
          <p:cNvPr id="4" name="Shape 2"/>
          <p:cNvSpPr/>
          <p:nvPr/>
        </p:nvSpPr>
        <p:spPr>
          <a:xfrm>
            <a:off x="485775" y="1532111"/>
            <a:ext cx="285750" cy="21431"/>
          </a:xfrm>
          <a:prstGeom prst="roundRect">
            <a:avLst>
              <a:gd name="adj" fmla="val 50001"/>
            </a:avLst>
          </a:prstGeom>
          <a:solidFill>
            <a:srgbClr val="FFA657"/>
          </a:solidFill>
          <a:ln/>
        </p:spPr>
      </p:sp>
      <p:grpSp>
        <p:nvGrpSpPr>
          <p:cNvPr id="29" name="Group g112"/>
          <p:cNvGrpSpPr/>
          <p:nvPr/>
        </p:nvGrpSpPr>
        <p:grpSpPr>
          <a:xfrm>
            <a:off x="485775" y="1623194"/>
            <a:ext cx="4036219" cy="700088"/>
            <a:chOff x="485775" y="1623194"/>
            <a:chExt cx="4036219" cy="700088"/>
          </a:xfrm>
        </p:grpSpPr>
        <p:sp>
          <p:nvSpPr>
            <p:cNvPr id="5" name="Shape"/>
            <p:cNvSpPr/>
            <p:nvPr/>
          </p:nvSpPr>
          <p:spPr>
            <a:xfrm>
              <a:off x="485775" y="1623194"/>
              <a:ext cx="4036219" cy="700088"/>
            </a:xfrm>
            <a:prstGeom prst="roundRect">
              <a:avLst>
                <a:gd name="adj" fmla="val 9184"/>
              </a:avLst>
            </a:prstGeom>
            <a:solidFill>
              <a:srgbClr val="1A1200"/>
            </a:solidFill>
            <a:ln w="7144">
              <a:solidFill>
                <a:srgbClr val="FFA657"/>
              </a:solidFill>
              <a:prstDash val="solid"/>
            </a:ln>
          </p:spPr>
        </p:sp>
        <p:sp>
          <p:nvSpPr>
            <p:cNvPr id="6" name="Shape"/>
            <p:cNvSpPr/>
            <p:nvPr/>
          </p:nvSpPr>
          <p:spPr>
            <a:xfrm>
              <a:off x="585788" y="1701775"/>
              <a:ext cx="3836194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spcAft>
                  <a:spcPts val="281"/>
                </a:spcAft>
                <a:buNone/>
              </a:pPr>
              <a:r>
                <a:rPr lang="en-US" sz="620" b="1" spc="56" kern="0" dirty="0">
                  <a:solidFill>
                    <a:srgbClr val="FFA65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WHAT IT DOES</a:t>
              </a:r>
              <a:endParaRPr lang="en-US" sz="620" dirty="0"/>
            </a:p>
          </p:txBody>
        </p:sp>
        <p:sp>
          <p:nvSpPr>
            <p:cNvPr id="7" name="Shape"/>
            <p:cNvSpPr/>
            <p:nvPr/>
          </p:nvSpPr>
          <p:spPr>
            <a:xfrm>
              <a:off x="585788" y="1857152"/>
              <a:ext cx="3836194" cy="385763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en-US" sz="68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An </a:t>
              </a:r>
              <a:pPr algn="l" indent="0" marL="0">
                <a:buNone/>
              </a:pPr>
              <a:r>
                <a:rPr lang="en-US" sz="680" b="1" dirty="0">
                  <a:solidFill>
                    <a:srgbClr val="FFA65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N-entry register file</a:t>
              </a:r>
              <a:pPr algn="l" indent="0" marL="0">
                <a:buNone/>
              </a:pPr>
              <a:r>
                <a:rPr lang="en-US" sz="68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. Each clock:</a:t>
              </a:r>
              <a:pPr algn="l" indent="0" marL="0">
                <a:buNone/>
              </a:pPr>
              <a:endParaRPr lang="en-US" sz="680" dirty="0"/>
            </a:p>
            <a:p>
              <a:pPr algn="l" indent="0" marL="0">
                <a:lnSpc>
                  <a:spcPts val="1013"/>
                </a:lnSpc>
                <a:buNone/>
              </a:pPr>
              <a:r>
                <a:rPr lang="en-US" sz="68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① Output </a:t>
              </a:r>
              <a:pPr algn="l" indent="0" marL="0">
                <a:buNone/>
              </a:pPr>
              <a:r>
                <a:rPr lang="en-US" sz="57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tbl[idx] </a:t>
              </a:r>
              <a:pPr algn="l" indent="0" marL="0">
                <a:buNone/>
              </a:pPr>
              <a:r>
                <a:rPr lang="en-US" sz="68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  ② Shift it to front</a:t>
              </a:r>
              <a:pPr algn="l" indent="0" marL="0">
                <a:buNone/>
              </a:pPr>
              <a:endParaRPr lang="en-US" sz="680" dirty="0"/>
            </a:p>
            <a:p>
              <a:pPr algn="l" indent="0" marL="0">
                <a:lnSpc>
                  <a:spcPts val="1013"/>
                </a:lnSpc>
                <a:buNone/>
              </a:pPr>
              <a:r>
                <a:rPr lang="en-US" sz="68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→ </a:t>
              </a:r>
              <a:pPr algn="l" indent="0" marL="0">
                <a:buNone/>
              </a:pPr>
              <a:r>
                <a:rPr lang="en-US" sz="680" b="1" dirty="0">
                  <a:solidFill>
                    <a:srgbClr val="FFA65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1 symbol/clock · zero allocation</a:t>
              </a:r>
              <a:endParaRPr lang="en-US" sz="680" dirty="0"/>
            </a:p>
          </p:txBody>
        </p:sp>
      </p:grpSp>
      <p:grpSp>
        <p:nvGrpSpPr>
          <p:cNvPr id="30" name="Group g113"/>
          <p:cNvGrpSpPr/>
          <p:nvPr/>
        </p:nvGrpSpPr>
        <p:grpSpPr>
          <a:xfrm>
            <a:off x="485775" y="2377753"/>
            <a:ext cx="4036219" cy="650081"/>
            <a:chOff x="485775" y="2377753"/>
            <a:chExt cx="4036219" cy="650081"/>
          </a:xfrm>
        </p:grpSpPr>
        <p:sp>
          <p:nvSpPr>
            <p:cNvPr id="8" name="Shape"/>
            <p:cNvSpPr/>
            <p:nvPr/>
          </p:nvSpPr>
          <p:spPr>
            <a:xfrm>
              <a:off x="485775" y="2377753"/>
              <a:ext cx="4036219" cy="650081"/>
            </a:xfrm>
            <a:prstGeom prst="roundRect">
              <a:avLst>
                <a:gd name="adj" fmla="val 8791"/>
              </a:avLst>
            </a:prstGeom>
            <a:solidFill>
              <a:srgbClr val="1A1200"/>
            </a:solidFill>
            <a:ln w="7144">
              <a:solidFill>
                <a:srgbClr val="FFA657"/>
              </a:solidFill>
              <a:prstDash val="solid"/>
            </a:ln>
          </p:spPr>
        </p:sp>
        <p:sp>
          <p:nvSpPr>
            <p:cNvPr id="9" name="Shape"/>
            <p:cNvSpPr/>
            <p:nvPr/>
          </p:nvSpPr>
          <p:spPr>
            <a:xfrm>
              <a:off x="578644" y="2450083"/>
              <a:ext cx="3850481" cy="10715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844"/>
                </a:lnSpc>
                <a:spcAft>
                  <a:spcPts val="225"/>
                </a:spcAft>
                <a:buNone/>
              </a:pPr>
              <a:r>
                <a:rPr lang="en-US" sz="560" b="1" spc="56" kern="0" dirty="0">
                  <a:solidFill>
                    <a:srgbClr val="FFA657"/>
                  </a:solidFill>
                  <a:latin typeface="SF Mono" pitchFamily="34" charset="0"/>
                  <a:ea typeface="SF Mono" pitchFamily="34" charset="-122"/>
                  <a:cs typeface="SF Mono" pitchFamily="34" charset="-120"/>
                </a:rPr>
                <a:t>WORKED EXAMPLE</a:t>
              </a:r>
              <a:endParaRPr lang="en-US" sz="560" dirty="0"/>
            </a:p>
          </p:txBody>
        </p:sp>
        <p:sp>
          <p:nvSpPr>
            <p:cNvPr id="10" name="Shape"/>
            <p:cNvSpPr/>
            <p:nvPr/>
          </p:nvSpPr>
          <p:spPr>
            <a:xfrm>
              <a:off x="578644" y="2586707"/>
              <a:ext cx="3850481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70"/>
                </a:lnSpc>
                <a:buNone/>
              </a:pPr>
              <a:r>
                <a:rPr lang="en-US" sz="650" dirty="0">
                  <a:solidFill>
                    <a:srgbClr val="8B949E"/>
                  </a:solidFill>
                  <a:latin typeface="SF Mono" pitchFamily="34" charset="0"/>
                  <a:ea typeface="SF Mono" pitchFamily="34" charset="-122"/>
                  <a:cs typeface="SF Mono" pitchFamily="34" charset="-120"/>
                </a:rPr>
                <a:t>tbl: [10, 20, </a:t>
              </a:r>
              <a:pPr algn="l" indent="0" marL="0">
                <a:buNone/>
              </a:pPr>
              <a:r>
                <a:rPr lang="en-US" sz="650" dirty="0">
                  <a:solidFill>
                    <a:srgbClr val="FFA657"/>
                  </a:solidFill>
                  <a:latin typeface="SF Mono" pitchFamily="34" charset="0"/>
                  <a:ea typeface="SF Mono" pitchFamily="34" charset="-122"/>
                  <a:cs typeface="SF Mono" pitchFamily="34" charset="-120"/>
                </a:rPr>
                <a:t>30</a:t>
              </a:r>
              <a:pPr algn="l" indent="0" marL="0">
                <a:buNone/>
              </a:pPr>
              <a:r>
                <a:rPr lang="en-US" sz="650" dirty="0">
                  <a:solidFill>
                    <a:srgbClr val="8B949E"/>
                  </a:solidFill>
                  <a:latin typeface="SF Mono" pitchFamily="34" charset="0"/>
                  <a:ea typeface="SF Mono" pitchFamily="34" charset="-122"/>
                  <a:cs typeface="SF Mono" pitchFamily="34" charset="-120"/>
                </a:rPr>
                <a:t>, 40, …]   idx=2</a:t>
              </a:r>
              <a:endParaRPr lang="en-US" sz="650" dirty="0"/>
            </a:p>
          </p:txBody>
        </p:sp>
        <p:sp>
          <p:nvSpPr>
            <p:cNvPr id="11" name="Shape"/>
            <p:cNvSpPr/>
            <p:nvPr/>
          </p:nvSpPr>
          <p:spPr>
            <a:xfrm>
              <a:off x="578644" y="2709937"/>
              <a:ext cx="3850481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70"/>
                </a:lnSpc>
                <a:buNone/>
              </a:pPr>
              <a:r>
                <a:rPr lang="en-US" sz="650" dirty="0">
                  <a:solidFill>
                    <a:srgbClr val="C9D1D9"/>
                  </a:solidFill>
                  <a:latin typeface="SF Mono" pitchFamily="34" charset="0"/>
                  <a:ea typeface="SF Mono" pitchFamily="34" charset="-122"/>
                  <a:cs typeface="SF Mono" pitchFamily="34" charset="-120"/>
                </a:rPr>
                <a:t>→ output = </a:t>
              </a:r>
              <a:pPr algn="l" indent="0" marL="0">
                <a:buNone/>
              </a:pPr>
              <a:r>
                <a:rPr lang="en-US" sz="650" b="1" dirty="0">
                  <a:solidFill>
                    <a:srgbClr val="FFA657"/>
                  </a:solidFill>
                  <a:latin typeface="SF Mono" pitchFamily="34" charset="0"/>
                  <a:ea typeface="SF Mono" pitchFamily="34" charset="-122"/>
                  <a:cs typeface="SF Mono" pitchFamily="34" charset="-120"/>
                </a:rPr>
                <a:t>30</a:t>
              </a:r>
              <a:endParaRPr lang="en-US" sz="650" dirty="0"/>
            </a:p>
          </p:txBody>
        </p:sp>
        <p:sp>
          <p:nvSpPr>
            <p:cNvPr id="12" name="Shape"/>
            <p:cNvSpPr/>
            <p:nvPr/>
          </p:nvSpPr>
          <p:spPr>
            <a:xfrm>
              <a:off x="578644" y="2833167"/>
              <a:ext cx="3850481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70"/>
                </a:lnSpc>
                <a:buNone/>
              </a:pPr>
              <a:r>
                <a:rPr lang="en-US" sz="650" dirty="0">
                  <a:solidFill>
                    <a:srgbClr val="3FB950"/>
                  </a:solidFill>
                  <a:latin typeface="SF Mono" pitchFamily="34" charset="0"/>
                  <a:ea typeface="SF Mono" pitchFamily="34" charset="-122"/>
                  <a:cs typeface="SF Mono" pitchFamily="34" charset="-120"/>
                </a:rPr>
                <a:t>→ tbl: [</a:t>
              </a:r>
              <a:pPr algn="l" indent="0" marL="0">
                <a:buNone/>
              </a:pPr>
              <a:r>
                <a:rPr lang="en-US" sz="650" dirty="0">
                  <a:solidFill>
                    <a:srgbClr val="FFA657"/>
                  </a:solidFill>
                  <a:latin typeface="SF Mono" pitchFamily="34" charset="0"/>
                  <a:ea typeface="SF Mono" pitchFamily="34" charset="-122"/>
                  <a:cs typeface="SF Mono" pitchFamily="34" charset="-120"/>
                </a:rPr>
                <a:t>30</a:t>
              </a:r>
              <a:pPr algn="l" indent="0" marL="0">
                <a:buNone/>
              </a:pPr>
              <a:r>
                <a:rPr lang="en-US" sz="650" dirty="0">
                  <a:solidFill>
                    <a:srgbClr val="3FB950"/>
                  </a:solidFill>
                  <a:latin typeface="SF Mono" pitchFamily="34" charset="0"/>
                  <a:ea typeface="SF Mono" pitchFamily="34" charset="-122"/>
                  <a:cs typeface="SF Mono" pitchFamily="34" charset="-120"/>
                </a:rPr>
                <a:t>, 10, 20, 40, …]</a:t>
              </a:r>
              <a:endParaRPr lang="en-US" sz="650" dirty="0"/>
            </a:p>
          </p:txBody>
        </p:sp>
      </p:grpSp>
      <p:grpSp>
        <p:nvGrpSpPr>
          <p:cNvPr id="31" name="Group g114"/>
          <p:cNvGrpSpPr/>
          <p:nvPr/>
        </p:nvGrpSpPr>
        <p:grpSpPr>
          <a:xfrm>
            <a:off x="485775" y="3082305"/>
            <a:ext cx="4036219" cy="857250"/>
            <a:chOff x="485775" y="3082305"/>
            <a:chExt cx="4036219" cy="857250"/>
          </a:xfrm>
        </p:grpSpPr>
        <p:sp>
          <p:nvSpPr>
            <p:cNvPr id="13" name="Shape"/>
            <p:cNvSpPr/>
            <p:nvPr/>
          </p:nvSpPr>
          <p:spPr>
            <a:xfrm>
              <a:off x="485775" y="3082305"/>
              <a:ext cx="4036219" cy="857250"/>
            </a:xfrm>
            <a:prstGeom prst="roundRect">
              <a:avLst>
                <a:gd name="adj" fmla="val 7500"/>
              </a:avLst>
            </a:prstGeom>
            <a:solidFill>
              <a:srgbClr val="0D1117"/>
            </a:solidFill>
            <a:ln w="7144">
              <a:solidFill>
                <a:srgbClr val="30363D"/>
              </a:solidFill>
              <a:prstDash val="solid"/>
            </a:ln>
          </p:spPr>
        </p:sp>
        <p:sp>
          <p:nvSpPr>
            <p:cNvPr id="14" name="Shape"/>
            <p:cNvSpPr/>
            <p:nvPr/>
          </p:nvSpPr>
          <p:spPr>
            <a:xfrm>
              <a:off x="578644" y="3153742"/>
              <a:ext cx="3850481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spcAft>
                  <a:spcPts val="281"/>
                </a:spcAft>
                <a:buNone/>
              </a:pPr>
              <a:r>
                <a:rPr lang="en-US" sz="620" b="1" spc="56" kern="0" dirty="0">
                  <a:solidFill>
                    <a:srgbClr val="FFA65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INTERFACE</a:t>
              </a:r>
              <a:endParaRPr lang="en-US" sz="620" dirty="0"/>
            </a:p>
          </p:txBody>
        </p:sp>
        <p:sp>
          <p:nvSpPr>
            <p:cNvPr id="15" name="Shape"/>
            <p:cNvSpPr/>
            <p:nvPr/>
          </p:nvSpPr>
          <p:spPr>
            <a:xfrm>
              <a:off x="578644" y="3310012"/>
              <a:ext cx="3850481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70"/>
                </a:lnSpc>
                <a:buNone/>
              </a:pPr>
              <a:r>
                <a:rPr lang="en-US" sz="650" b="1" dirty="0">
                  <a:solidFill>
                    <a:srgbClr val="FFA65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in:</a:t>
              </a:r>
              <a:pPr algn="l" indent="0" marL="0">
                <a:buNone/>
              </a:pPr>
              <a:r>
                <a:rPr lang="en-US" sz="65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idx (from Huffman decoder)</a:t>
              </a:r>
              <a:endParaRPr lang="en-US" sz="650" dirty="0"/>
            </a:p>
          </p:txBody>
        </p:sp>
        <p:sp>
          <p:nvSpPr>
            <p:cNvPr id="16" name="Shape"/>
            <p:cNvSpPr/>
            <p:nvPr/>
          </p:nvSpPr>
          <p:spPr>
            <a:xfrm>
              <a:off x="578644" y="3454673"/>
              <a:ext cx="3850481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70"/>
                </a:lnSpc>
                <a:buNone/>
              </a:pPr>
              <a:r>
                <a:rPr lang="en-US" sz="650" b="1" dirty="0">
                  <a:solidFill>
                    <a:srgbClr val="FFA65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out:</a:t>
              </a:r>
              <a:pPr algn="l" indent="0" marL="0">
                <a:buNone/>
              </a:pPr>
              <a:r>
                <a:rPr lang="en-US" sz="65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sym (MTF-decoded symbol)</a:t>
              </a:r>
              <a:endParaRPr lang="en-US" sz="650" dirty="0"/>
            </a:p>
          </p:txBody>
        </p:sp>
        <p:sp>
          <p:nvSpPr>
            <p:cNvPr id="17" name="Shape"/>
            <p:cNvSpPr/>
            <p:nvPr/>
          </p:nvSpPr>
          <p:spPr>
            <a:xfrm>
              <a:off x="578644" y="3599334"/>
              <a:ext cx="3850481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70"/>
                </a:lnSpc>
                <a:buNone/>
              </a:pPr>
              <a:r>
                <a:rPr lang="en-US" sz="650" b="1" dirty="0">
                  <a:solidFill>
                    <a:srgbClr val="FFA65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ctrl:</a:t>
              </a:r>
              <a:pPr algn="l" indent="0" marL="0">
                <a:buNone/>
              </a:pPr>
              <a:r>
                <a:rPr lang="en-US" sz="65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MMIO — MTF_N, start/done</a:t>
              </a:r>
              <a:endParaRPr lang="en-US" sz="650" dirty="0"/>
            </a:p>
          </p:txBody>
        </p:sp>
        <p:sp>
          <p:nvSpPr>
            <p:cNvPr id="18" name="Shape"/>
            <p:cNvSpPr/>
            <p:nvPr/>
          </p:nvSpPr>
          <p:spPr>
            <a:xfrm>
              <a:off x="578644" y="3743995"/>
              <a:ext cx="3850481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70"/>
                </a:lnSpc>
                <a:buNone/>
              </a:pPr>
              <a:r>
                <a:rPr lang="en-US" sz="650" b="1" dirty="0">
                  <a:solidFill>
                    <a:srgbClr val="FFA65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chain:</a:t>
              </a:r>
              <a:pPr algn="l" indent="0" marL="0">
                <a:buNone/>
              </a:pPr>
              <a:r>
                <a:rPr lang="en-US" sz="65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Huffman osym → MTF idx (on-chip)</a:t>
              </a:r>
              <a:endParaRPr lang="en-US" sz="650" dirty="0"/>
            </a:p>
          </p:txBody>
        </p:sp>
      </p:grpSp>
      <p:grpSp>
        <p:nvGrpSpPr>
          <p:cNvPr id="32" name="Group g115"/>
          <p:cNvGrpSpPr/>
          <p:nvPr/>
        </p:nvGrpSpPr>
        <p:grpSpPr>
          <a:xfrm>
            <a:off x="4622006" y="1625650"/>
            <a:ext cx="4036219" cy="371475"/>
            <a:chOff x="4622006" y="1625650"/>
            <a:chExt cx="4036219" cy="371475"/>
          </a:xfrm>
        </p:grpSpPr>
        <p:sp>
          <p:nvSpPr>
            <p:cNvPr id="19" name="Shape"/>
            <p:cNvSpPr/>
            <p:nvPr/>
          </p:nvSpPr>
          <p:spPr>
            <a:xfrm>
              <a:off x="4622006" y="1625650"/>
              <a:ext cx="4036219" cy="371475"/>
            </a:xfrm>
            <a:prstGeom prst="roundRect">
              <a:avLst>
                <a:gd name="adj" fmla="val 15385"/>
              </a:avLst>
            </a:prstGeom>
            <a:solidFill>
              <a:srgbClr val="1A1200"/>
            </a:solidFill>
            <a:ln w="7144">
              <a:solidFill>
                <a:srgbClr val="FFA657"/>
              </a:solidFill>
              <a:prstDash val="solid"/>
            </a:ln>
          </p:spPr>
          <p:txBody>
            <a:bodyPr wrap="square" lIns="42863" tIns="0" rIns="0" bIns="0" rtlCol="0" anchor="ctr">
              <a:spAutoFit/>
            </a:bodyPr>
            <a:lstStyle/>
            <a:p>
              <a:pPr algn="l" indent="0" marL="0">
                <a:lnSpc>
                  <a:spcPts val="906"/>
                </a:lnSpc>
                <a:buNone/>
              </a:pPr>
              <a:r>
                <a:rPr lang="en-US" sz="650" b="1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Why HW?</a:t>
              </a:r>
              <a:pPr algn="l" indent="0" marL="0">
                <a:buNone/>
              </a:pPr>
              <a:r>
                <a:rPr lang="en-US" sz="65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SW OPT-2 fixed allocation churn. HW goes further: </a:t>
              </a:r>
              <a:pPr algn="l" indent="0" marL="0">
                <a:buNone/>
              </a:pPr>
              <a:r>
                <a:rPr lang="en-US" sz="650" b="1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1 sym/clock</a:t>
              </a:r>
              <a:pPr algn="l" indent="0" marL="0">
                <a:buNone/>
              </a:pPr>
              <a:r>
                <a:rPr lang="en-US" sz="65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, register-file shift vs. Python del+insert.</a:t>
              </a:r>
              <a:endParaRPr lang="en-US" sz="650" dirty="0"/>
            </a:p>
          </p:txBody>
        </p:sp>
      </p:grpSp>
      <p:grpSp>
        <p:nvGrpSpPr>
          <p:cNvPr id="33" name="Group g116"/>
          <p:cNvGrpSpPr/>
          <p:nvPr/>
        </p:nvGrpSpPr>
        <p:grpSpPr>
          <a:xfrm>
            <a:off x="4622006" y="2053158"/>
            <a:ext cx="4036219" cy="535781"/>
            <a:chOff x="4622006" y="2053158"/>
            <a:chExt cx="4036219" cy="535781"/>
          </a:xfrm>
        </p:grpSpPr>
        <p:sp>
          <p:nvSpPr>
            <p:cNvPr id="20" name="Shape"/>
            <p:cNvSpPr/>
            <p:nvPr/>
          </p:nvSpPr>
          <p:spPr>
            <a:xfrm>
              <a:off x="4622006" y="2053158"/>
              <a:ext cx="4036219" cy="535781"/>
            </a:xfrm>
            <a:prstGeom prst="roundRect">
              <a:avLst>
                <a:gd name="adj" fmla="val 10667"/>
              </a:avLst>
            </a:prstGeom>
            <a:solidFill>
              <a:srgbClr val="0D2018"/>
            </a:solidFill>
            <a:ln w="7144">
              <a:solidFill>
                <a:srgbClr val="2A5C3A"/>
              </a:solidFill>
              <a:prstDash val="solid"/>
            </a:ln>
          </p:spPr>
        </p:sp>
        <p:sp>
          <p:nvSpPr>
            <p:cNvPr id="21" name="Shape"/>
            <p:cNvSpPr/>
            <p:nvPr/>
          </p:nvSpPr>
          <p:spPr>
            <a:xfrm>
              <a:off x="4714875" y="2124596"/>
              <a:ext cx="3850481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spcAft>
                  <a:spcPts val="169"/>
                </a:spcAft>
                <a:buNone/>
              </a:pPr>
              <a:r>
                <a:rPr lang="en-US" sz="620" b="1" dirty="0">
                  <a:solidFill>
                    <a:srgbClr val="3FB950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Simulation</a:t>
              </a:r>
              <a:endParaRPr lang="en-US" sz="620" dirty="0"/>
            </a:p>
          </p:txBody>
        </p:sp>
        <p:sp>
          <p:nvSpPr>
            <p:cNvPr id="22" name="Shape"/>
            <p:cNvSpPr/>
            <p:nvPr/>
          </p:nvSpPr>
          <p:spPr>
            <a:xfrm>
              <a:off x="4714875" y="2265685"/>
              <a:ext cx="3850481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en-US" sz="680" b="1" dirty="0">
                  <a:solidFill>
                    <a:srgbClr val="3FB950"/>
                  </a:solidFill>
                  <a:latin typeface="SF Mono" pitchFamily="34" charset="0"/>
                  <a:ea typeface="SF Mono" pitchFamily="34" charset="-122"/>
                  <a:cs typeface="SF Mono" pitchFamily="34" charset="-120"/>
                </a:rPr>
                <a:t>TB PASS: MTF decoded {30,30,60}</a:t>
              </a:r>
              <a:endParaRPr lang="en-US" sz="680" dirty="0"/>
            </a:p>
          </p:txBody>
        </p:sp>
        <p:sp>
          <p:nvSpPr>
            <p:cNvPr id="23" name="Shape"/>
            <p:cNvSpPr/>
            <p:nvPr/>
          </p:nvSpPr>
          <p:spPr>
            <a:xfrm>
              <a:off x="4714875" y="2408560"/>
              <a:ext cx="3850481" cy="10715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844"/>
                </a:lnSpc>
                <a:spcBef>
                  <a:spcPts val="113"/>
                </a:spcBef>
                <a:buNone/>
              </a:pPr>
              <a:r>
                <a:rPr lang="en-US" sz="56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mtf_unit.sv + tb_mtf.sv · Icarus Verilog</a:t>
              </a:r>
              <a:endParaRPr lang="en-US" sz="560" dirty="0"/>
            </a:p>
          </p:txBody>
        </p:sp>
      </p:grpSp>
      <p:sp>
        <p:nvSpPr>
          <p:cNvPr id="24" name="Text 22"/>
          <p:cNvSpPr/>
          <p:nvPr/>
        </p:nvSpPr>
        <p:spPr>
          <a:xfrm>
            <a:off x="4622006" y="2644304"/>
            <a:ext cx="4036219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844"/>
              </a:lnSpc>
              <a:spcAft>
                <a:spcPts val="225"/>
              </a:spcAft>
              <a:buNone/>
            </a:pPr>
            <a:r>
              <a:rPr lang="en-US" sz="560" b="1" spc="56" kern="0" dirty="0">
                <a:solidFill>
                  <a:srgbClr val="FFA657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MTF_UNIT.SV — SHIFT-TO-FRONT</a:t>
            </a:r>
            <a:endParaRPr lang="en-US" sz="560" dirty="0"/>
          </a:p>
        </p:txBody>
      </p:sp>
      <p:sp>
        <p:nvSpPr>
          <p:cNvPr id="25" name="Text 23"/>
          <p:cNvSpPr/>
          <p:nvPr/>
        </p:nvSpPr>
        <p:spPr>
          <a:xfrm>
            <a:off x="4622006" y="2781374"/>
            <a:ext cx="4036219" cy="628650"/>
          </a:xfrm>
          <a:prstGeom prst="roundRect">
            <a:avLst>
              <a:gd name="adj" fmla="val 7955"/>
            </a:avLst>
          </a:prstGeom>
          <a:solidFill>
            <a:srgbClr val="1A1200"/>
          </a:solidFill>
          <a:ln w="7144">
            <a:solidFill>
              <a:srgbClr val="FFA657"/>
            </a:solidFill>
            <a:prstDash val="solid"/>
          </a:ln>
        </p:spPr>
        <p:txBody>
          <a:bodyPr wrap="square" lIns="42863" tIns="0" rIns="0" bIns="0" rtlCol="0" anchor="ctr">
            <a:spAutoFit/>
          </a:bodyPr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620" dirty="0">
                <a:solidFill>
                  <a:srgbClr val="C9D1D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sym &lt;= tbl[idx]; // output for (int i = 0; i &lt; N; i++) if (i == 0) tbl[0] &lt;= tbl[idx]; else if (i &lt;= idx) tbl[i] &lt;= tbl[i-1];</a:t>
            </a:r>
            <a:endParaRPr lang="en-US" sz="620" dirty="0"/>
          </a:p>
        </p:txBody>
      </p:sp>
      <p:sp>
        <p:nvSpPr>
          <p:cNvPr id="26" name="Text 24"/>
          <p:cNvSpPr/>
          <p:nvPr/>
        </p:nvSpPr>
        <p:spPr>
          <a:xfrm>
            <a:off x="4622006" y="3432795"/>
            <a:ext cx="4036219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844"/>
              </a:lnSpc>
              <a:spcBef>
                <a:spcPts val="169"/>
              </a:spcBef>
              <a:buNone/>
            </a:pPr>
            <a:r>
              <a:rPr lang="en-US" sz="560" i="1" dirty="0">
                <a:solidFill>
                  <a:srgbClr val="484F58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1 symbol/clock · register-file shift · zero allocation</a:t>
            </a:r>
            <a:endParaRPr lang="en-US" sz="560" dirty="0"/>
          </a:p>
        </p:txBody>
      </p:sp>
      <p:grpSp>
        <p:nvGrpSpPr>
          <p:cNvPr id="34" name="Group g117"/>
          <p:cNvGrpSpPr/>
          <p:nvPr/>
        </p:nvGrpSpPr>
        <p:grpSpPr>
          <a:xfrm>
            <a:off x="4622006" y="3595315"/>
            <a:ext cx="4036219" cy="235744"/>
            <a:chOff x="4622006" y="3595315"/>
            <a:chExt cx="4036219" cy="235744"/>
          </a:xfrm>
        </p:grpSpPr>
        <p:sp>
          <p:nvSpPr>
            <p:cNvPr id="27" name="Shape"/>
            <p:cNvSpPr/>
            <p:nvPr/>
          </p:nvSpPr>
          <p:spPr>
            <a:xfrm>
              <a:off x="4622006" y="3595315"/>
              <a:ext cx="4036219" cy="235744"/>
            </a:xfrm>
            <a:prstGeom prst="roundRect">
              <a:avLst>
                <a:gd name="adj" fmla="val 21212"/>
              </a:avLst>
            </a:prstGeom>
            <a:solidFill>
              <a:srgbClr val="1A1200"/>
            </a:solidFill>
            <a:ln w="7144">
              <a:solidFill>
                <a:srgbClr val="FFA657"/>
              </a:solidFill>
              <a:prstDash val="solid"/>
            </a:ln>
          </p:spPr>
          <p:txBody>
            <a:bodyPr wrap="square" lIns="42863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buNone/>
              </a:pPr>
              <a:r>
                <a:rPr lang="en-US" sz="620" b="1" dirty="0">
                  <a:solidFill>
                    <a:srgbClr val="FFA65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(B):</a:t>
              </a:r>
              <a:pPr algn="l" indent="0" marL="0"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500 MHz × 1 sym/clk = </a:t>
              </a:r>
              <a:pPr algn="l" indent="0" marL="0">
                <a:buNone/>
              </a:pPr>
              <a:r>
                <a:rPr lang="en-US" sz="620" b="1" dirty="0">
                  <a:solidFill>
                    <a:srgbClr val="FFA65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500M sym/s</a:t>
              </a:r>
              <a:pPr algn="l" indent="0" marL="0"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HW · 92,803÷1.81s ≈ </a:t>
              </a:r>
              <a:pPr algn="l" indent="0" marL="0">
                <a:buNone/>
              </a:pPr>
              <a:r>
                <a:rPr lang="en-US" sz="620" b="1" dirty="0">
                  <a:solidFill>
                    <a:srgbClr val="F8514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51K sym/s</a:t>
              </a:r>
              <a:pPr algn="l" indent="0" marL="0"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SW · s</a:t>
              </a:r>
              <a:pPr algn="l" indent="0" marL="0">
                <a:buNone/>
              </a:pPr>
              <a:r>
                <a:rPr lang="en-US" sz="46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B</a:t>
              </a:r>
              <a:pPr algn="l" indent="0" marL="0"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≈ </a:t>
              </a:r>
              <a:pPr algn="l" indent="0" marL="0">
                <a:buNone/>
              </a:pPr>
              <a:r>
                <a:rPr lang="en-US" sz="620" b="1" dirty="0">
                  <a:solidFill>
                    <a:srgbClr val="3FB950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9,800×</a:t>
              </a:r>
              <a:endParaRPr lang="en-US" sz="620" dirty="0"/>
            </a:p>
          </p:txBody>
        </p:sp>
      </p:grpSp>
      <p:grpSp>
        <p:nvGrpSpPr>
          <p:cNvPr id="35" name="Group g118"/>
          <p:cNvGrpSpPr/>
          <p:nvPr/>
        </p:nvGrpSpPr>
        <p:grpSpPr>
          <a:xfrm>
            <a:off x="4622006" y="3884637"/>
            <a:ext cx="4036219" cy="235744"/>
            <a:chOff x="4622006" y="3884637"/>
            <a:chExt cx="4036219" cy="235744"/>
          </a:xfrm>
        </p:grpSpPr>
        <p:sp>
          <p:nvSpPr>
            <p:cNvPr id="28" name="Shape"/>
            <p:cNvSpPr/>
            <p:nvPr/>
          </p:nvSpPr>
          <p:spPr>
            <a:xfrm>
              <a:off x="4622006" y="3884637"/>
              <a:ext cx="4036219" cy="235744"/>
            </a:xfrm>
            <a:prstGeom prst="roundRect">
              <a:avLst>
                <a:gd name="adj" fmla="val 21212"/>
              </a:avLst>
            </a:prstGeom>
            <a:solidFill>
              <a:srgbClr val="161B22"/>
            </a:solidFill>
            <a:ln w="7144">
              <a:solidFill>
                <a:srgbClr val="30363D"/>
              </a:solidFill>
              <a:prstDash val="solid"/>
            </a:ln>
          </p:spPr>
          <p:txBody>
            <a:bodyPr wrap="square" lIns="42863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buNone/>
              </a:pPr>
              <a:r>
                <a:rPr lang="en-US" sz="620" b="1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Amdahl:</a:t>
              </a:r>
              <a:pPr algn="l" indent="0" marL="0"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MTF adds ~10.3% → f = 53.85% → </a:t>
              </a:r>
              <a:pPr algn="l" indent="0" marL="0">
                <a:buNone/>
              </a:pPr>
              <a:r>
                <a:rPr lang="en-US" sz="620" b="1" dirty="0">
                  <a:solidFill>
                    <a:srgbClr val="3FB950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~2.16×</a:t>
              </a:r>
              <a:pPr algn="l" indent="0" marL="0"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overall</a:t>
              </a:r>
              <a:endParaRPr lang="en-US" sz="620" dirty="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5076" y="807244"/>
            <a:ext cx="3000375" cy="30003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80" b="1" spc="-28" kern="0" dirty="0">
                <a:solidFill>
                  <a:srgbClr val="E6EDF3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MTF Unit — </a:t>
            </a:r>
            <a:pPr algn="l" indent="0" marL="0">
              <a:buNone/>
            </a:pPr>
            <a:r>
              <a:rPr lang="en-US" sz="1580" b="1" spc="-28" kern="0" dirty="0">
                <a:solidFill>
                  <a:srgbClr val="FFA657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Internal Block Diagram</a:t>
            </a:r>
            <a:endParaRPr lang="en-US" sz="1580" dirty="0"/>
          </a:p>
        </p:txBody>
      </p:sp>
      <p:sp>
        <p:nvSpPr>
          <p:cNvPr id="3" name="Text 1"/>
          <p:cNvSpPr/>
          <p:nvPr/>
        </p:nvSpPr>
        <p:spPr>
          <a:xfrm>
            <a:off x="3631425" y="935831"/>
            <a:ext cx="4329113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80" b="1" spc="101" kern="0" dirty="0">
                <a:solidFill>
                  <a:srgbClr val="FFA657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COMPONENT (B) · INTEGER-ONLY · 1 SYMBOL/CLOCK · CHAINS FROM HUFFMAN</a:t>
            </a:r>
            <a:endParaRPr lang="en-US" sz="680" dirty="0"/>
          </a:p>
        </p:txBody>
      </p:sp>
      <p:grpSp>
        <p:nvGrpSpPr>
          <p:cNvPr id="49" name="Group g119"/>
          <p:cNvGrpSpPr/>
          <p:nvPr/>
        </p:nvGrpSpPr>
        <p:grpSpPr>
          <a:xfrm>
            <a:off x="514350" y="1193006"/>
            <a:ext cx="8115300" cy="2400300"/>
            <a:chOff x="514350" y="1193006"/>
            <a:chExt cx="8115300" cy="2400300"/>
          </a:xfrm>
        </p:grpSpPr>
        <p:sp>
          <p:nvSpPr>
            <p:cNvPr id="4" name="Shape"/>
            <p:cNvSpPr/>
            <p:nvPr/>
          </p:nvSpPr>
          <p:spPr>
            <a:xfrm>
              <a:off x="514350" y="1193006"/>
              <a:ext cx="8115300" cy="2400300"/>
            </a:xfrm>
            <a:prstGeom prst="roundRect">
              <a:avLst>
                <a:gd name="adj" fmla="val 4167"/>
              </a:avLst>
            </a:prstGeom>
            <a:solidFill>
              <a:srgbClr val="0A0A00"/>
            </a:solidFill>
            <a:ln w="7144">
              <a:solidFill>
                <a:srgbClr val="FFA657"/>
              </a:solidFill>
              <a:prstDash val="solid"/>
            </a:ln>
          </p:spPr>
        </p:sp>
        <p:sp>
          <p:nvSpPr>
            <p:cNvPr id="5" name="Shape"/>
            <p:cNvSpPr/>
            <p:nvPr/>
          </p:nvSpPr>
          <p:spPr>
            <a:xfrm>
              <a:off x="664369" y="1314450"/>
              <a:ext cx="7815263" cy="10715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844"/>
                </a:lnSpc>
                <a:spcAft>
                  <a:spcPts val="675"/>
                </a:spcAft>
                <a:buNone/>
              </a:pPr>
              <a:r>
                <a:rPr lang="en-US" sz="560" b="1" spc="113" kern="0" dirty="0">
                  <a:solidFill>
                    <a:srgbClr val="484F58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MTF_UNIT — TOP LEVEL</a:t>
              </a:r>
              <a:endParaRPr lang="en-US" sz="560" dirty="0"/>
            </a:p>
          </p:txBody>
        </p:sp>
        <p:sp>
          <p:nvSpPr>
            <p:cNvPr id="6" name="Shape"/>
            <p:cNvSpPr/>
            <p:nvPr/>
          </p:nvSpPr>
          <p:spPr>
            <a:xfrm>
              <a:off x="3065338" y="1610916"/>
              <a:ext cx="378619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buNone/>
              </a:pPr>
              <a:r>
                <a:rPr lang="en-US" sz="620" b="1" dirty="0">
                  <a:solidFill>
                    <a:srgbClr val="FFA65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AXI4-Lite</a:t>
              </a:r>
              <a:endParaRPr lang="en-US" sz="620" dirty="0"/>
            </a:p>
          </p:txBody>
        </p:sp>
        <p:sp>
          <p:nvSpPr>
            <p:cNvPr id="7" name="Shape"/>
            <p:cNvSpPr/>
            <p:nvPr/>
          </p:nvSpPr>
          <p:spPr>
            <a:xfrm>
              <a:off x="3189517" y="1730573"/>
              <a:ext cx="257175" cy="10715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844"/>
                </a:lnSpc>
                <a:buNone/>
              </a:pPr>
              <a:r>
                <a:rPr lang="en-US" sz="560" dirty="0">
                  <a:solidFill>
                    <a:srgbClr val="484F58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(MMIO)</a:t>
              </a:r>
              <a:endParaRPr lang="en-US" sz="560" dirty="0"/>
            </a:p>
          </p:txBody>
        </p:sp>
        <p:sp>
          <p:nvSpPr>
            <p:cNvPr id="8" name="Shape"/>
            <p:cNvSpPr/>
            <p:nvPr/>
          </p:nvSpPr>
          <p:spPr>
            <a:xfrm>
              <a:off x="3515562" y="1618059"/>
              <a:ext cx="121444" cy="214313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688"/>
                </a:lnSpc>
                <a:buNone/>
              </a:pPr>
              <a:r>
                <a:rPr lang="en-US" sz="1130" dirty="0">
                  <a:solidFill>
                    <a:srgbClr val="FFA65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⇄</a:t>
              </a:r>
              <a:endParaRPr lang="en-US" sz="1130" dirty="0"/>
            </a:p>
          </p:txBody>
        </p:sp>
        <p:sp>
          <p:nvSpPr>
            <p:cNvPr id="17" name="Shape"/>
            <p:cNvSpPr/>
            <p:nvPr/>
          </p:nvSpPr>
          <p:spPr>
            <a:xfrm>
              <a:off x="4564745" y="1985963"/>
              <a:ext cx="14288" cy="71438"/>
            </a:xfrm>
            <a:prstGeom prst="rect">
              <a:avLst/>
            </a:prstGeom>
            <a:solidFill>
              <a:srgbClr val="FFA657"/>
            </a:solidFill>
            <a:ln/>
          </p:spPr>
        </p:sp>
        <p:sp>
          <p:nvSpPr>
            <p:cNvPr id="18" name="Shape"/>
            <p:cNvSpPr/>
            <p:nvPr/>
          </p:nvSpPr>
          <p:spPr>
            <a:xfrm>
              <a:off x="4082597" y="2057400"/>
              <a:ext cx="978694" cy="10715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844"/>
                </a:lnSpc>
                <a:buNone/>
              </a:pPr>
              <a:r>
                <a:rPr lang="en-US" sz="560" dirty="0">
                  <a:solidFill>
                    <a:srgbClr val="484F58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load alphabet once per block</a:t>
              </a:r>
              <a:endParaRPr lang="en-US" sz="560" dirty="0"/>
            </a:p>
          </p:txBody>
        </p:sp>
        <p:sp>
          <p:nvSpPr>
            <p:cNvPr id="19" name="Shape"/>
            <p:cNvSpPr/>
            <p:nvPr/>
          </p:nvSpPr>
          <p:spPr>
            <a:xfrm>
              <a:off x="4564745" y="2164556"/>
              <a:ext cx="14288" cy="57150"/>
            </a:xfrm>
            <a:prstGeom prst="rect">
              <a:avLst/>
            </a:prstGeom>
            <a:solidFill>
              <a:srgbClr val="FFA657"/>
            </a:solidFill>
            <a:ln/>
          </p:spPr>
        </p:sp>
        <p:sp>
          <p:nvSpPr>
            <p:cNvPr id="20" name="Shape"/>
            <p:cNvSpPr/>
            <p:nvPr/>
          </p:nvSpPr>
          <p:spPr>
            <a:xfrm>
              <a:off x="4536225" y="2221706"/>
              <a:ext cx="71438" cy="92869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731"/>
                </a:lnSpc>
                <a:buNone/>
              </a:pPr>
              <a:r>
                <a:rPr lang="en-US" sz="730" dirty="0">
                  <a:solidFill>
                    <a:srgbClr val="FFA65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▼</a:t>
              </a:r>
              <a:endParaRPr lang="en-US" sz="730" dirty="0"/>
            </a:p>
          </p:txBody>
        </p:sp>
        <p:sp>
          <p:nvSpPr>
            <p:cNvPr id="21" name="Shape"/>
            <p:cNvSpPr/>
            <p:nvPr/>
          </p:nvSpPr>
          <p:spPr>
            <a:xfrm>
              <a:off x="2010017" y="2653903"/>
              <a:ext cx="757237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buNone/>
              </a:pPr>
              <a:r>
                <a:rPr lang="en-US" sz="620" b="1" dirty="0">
                  <a:solidFill>
                    <a:srgbClr val="58A6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idx (from Huffman)</a:t>
              </a:r>
              <a:endParaRPr lang="en-US" sz="620" dirty="0"/>
            </a:p>
          </p:txBody>
        </p:sp>
        <p:sp>
          <p:nvSpPr>
            <p:cNvPr id="22" name="Shape"/>
            <p:cNvSpPr/>
            <p:nvPr/>
          </p:nvSpPr>
          <p:spPr>
            <a:xfrm>
              <a:off x="2348452" y="2773561"/>
              <a:ext cx="421481" cy="10715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844"/>
                </a:lnSpc>
                <a:buNone/>
              </a:pPr>
              <a:r>
                <a:rPr lang="en-US" sz="560" dirty="0">
                  <a:solidFill>
                    <a:srgbClr val="484F58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in_valid / idx</a:t>
              </a:r>
              <a:endParaRPr lang="en-US" sz="560" dirty="0"/>
            </a:p>
          </p:txBody>
        </p:sp>
        <p:sp>
          <p:nvSpPr>
            <p:cNvPr id="23" name="Shape"/>
            <p:cNvSpPr/>
            <p:nvPr/>
          </p:nvSpPr>
          <p:spPr>
            <a:xfrm>
              <a:off x="2825018" y="2671763"/>
              <a:ext cx="185738" cy="192881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519"/>
                </a:lnSpc>
                <a:buNone/>
              </a:pPr>
              <a:r>
                <a:rPr lang="en-US" sz="1010" dirty="0">
                  <a:solidFill>
                    <a:srgbClr val="58A6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⟹</a:t>
              </a:r>
              <a:endParaRPr lang="en-US" sz="1010" dirty="0"/>
            </a:p>
          </p:txBody>
        </p:sp>
        <p:sp>
          <p:nvSpPr>
            <p:cNvPr id="32" name="Shape"/>
            <p:cNvSpPr/>
            <p:nvPr/>
          </p:nvSpPr>
          <p:spPr>
            <a:xfrm>
              <a:off x="5981272" y="2611041"/>
              <a:ext cx="507206" cy="10715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844"/>
                </a:lnSpc>
                <a:spcAft>
                  <a:spcPts val="113"/>
                </a:spcAft>
                <a:buNone/>
              </a:pPr>
              <a:r>
                <a:rPr lang="en-US" sz="560" dirty="0">
                  <a:solidFill>
                    <a:srgbClr val="484F58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out_valid / sym</a:t>
              </a:r>
              <a:endParaRPr lang="en-US" sz="560" dirty="0"/>
            </a:p>
          </p:txBody>
        </p:sp>
        <p:sp>
          <p:nvSpPr>
            <p:cNvPr id="33" name="Shape"/>
            <p:cNvSpPr/>
            <p:nvPr/>
          </p:nvSpPr>
          <p:spPr>
            <a:xfrm>
              <a:off x="6141951" y="2732484"/>
              <a:ext cx="185738" cy="192881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519"/>
                </a:lnSpc>
                <a:buNone/>
              </a:pPr>
              <a:r>
                <a:rPr lang="en-US" sz="1010" dirty="0">
                  <a:solidFill>
                    <a:srgbClr val="3FB950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⟹</a:t>
              </a:r>
              <a:endParaRPr lang="en-US" sz="1010" dirty="0"/>
            </a:p>
          </p:txBody>
        </p:sp>
        <p:sp>
          <p:nvSpPr>
            <p:cNvPr id="34" name="Shape"/>
            <p:cNvSpPr/>
            <p:nvPr/>
          </p:nvSpPr>
          <p:spPr>
            <a:xfrm>
              <a:off x="6544066" y="2653903"/>
              <a:ext cx="592931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buNone/>
              </a:pPr>
              <a:r>
                <a:rPr lang="en-US" sz="620" b="1" dirty="0">
                  <a:solidFill>
                    <a:srgbClr val="3FB950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sym (DMA out)</a:t>
              </a:r>
              <a:endParaRPr lang="en-US" sz="620" dirty="0"/>
            </a:p>
          </p:txBody>
        </p:sp>
        <p:sp>
          <p:nvSpPr>
            <p:cNvPr id="35" name="Shape"/>
            <p:cNvSpPr/>
            <p:nvPr/>
          </p:nvSpPr>
          <p:spPr>
            <a:xfrm>
              <a:off x="6545684" y="2773561"/>
              <a:ext cx="557213" cy="10715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844"/>
                </a:lnSpc>
                <a:buNone/>
              </a:pPr>
              <a:r>
                <a:rPr lang="en-US" sz="560" dirty="0">
                  <a:solidFill>
                    <a:srgbClr val="484F58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decoded symbol</a:t>
              </a:r>
              <a:endParaRPr lang="en-US" sz="560" dirty="0"/>
            </a:p>
          </p:txBody>
        </p:sp>
        <p:grpSp>
          <p:nvGrpSpPr>
            <p:cNvPr id="50" name="Group g119/g120"/>
            <p:cNvGrpSpPr/>
            <p:nvPr/>
          </p:nvGrpSpPr>
          <p:grpSpPr>
            <a:xfrm>
              <a:off x="3706713" y="1507331"/>
              <a:ext cx="2636044" cy="435769"/>
              <a:chOff x="3706713" y="1507331"/>
              <a:chExt cx="2636044" cy="435769"/>
            </a:xfrm>
          </p:grpSpPr>
          <p:sp>
            <p:nvSpPr>
              <p:cNvPr id="9" name="Shape"/>
              <p:cNvSpPr/>
              <p:nvPr/>
            </p:nvSpPr>
            <p:spPr>
              <a:xfrm>
                <a:off x="3706713" y="1507331"/>
                <a:ext cx="2636044" cy="435769"/>
              </a:xfrm>
              <a:prstGeom prst="roundRect">
                <a:avLst>
                  <a:gd name="adj" fmla="val 16393"/>
                </a:avLst>
              </a:prstGeom>
              <a:solidFill>
                <a:srgbClr val="1A1200"/>
              </a:solidFill>
              <a:ln w="7144">
                <a:solidFill>
                  <a:srgbClr val="FFA657"/>
                </a:solidFill>
                <a:prstDash val="solid"/>
              </a:ln>
            </p:spPr>
          </p:sp>
          <p:sp>
            <p:nvSpPr>
              <p:cNvPr id="10" name="Shape"/>
              <p:cNvSpPr/>
              <p:nvPr/>
            </p:nvSpPr>
            <p:spPr>
              <a:xfrm>
                <a:off x="3842445" y="1571625"/>
                <a:ext cx="2364581" cy="128588"/>
              </a:xfrm>
              <a:prstGeom prst="rect">
                <a:avLst/>
              </a:prstGeom>
              <a:ln/>
            </p:spPr>
            <p:txBody>
              <a:bodyPr wrap="none" lIns="0" tIns="0" rIns="0" bIns="0" rtlCol="0" anchor="ctr">
                <a:spAutoFit/>
              </a:bodyPr>
              <a:lstStyle/>
              <a:p>
                <a:pPr algn="ctr" indent="0" marL="0">
                  <a:lnSpc>
                    <a:spcPts val="1013"/>
                  </a:lnSpc>
                  <a:spcAft>
                    <a:spcPts val="225"/>
                  </a:spcAft>
                  <a:buNone/>
                </a:pPr>
                <a:r>
                  <a:rPr lang="en-US" sz="680" b="1" dirty="0">
                    <a:solidFill>
                      <a:srgbClr val="FFA657"/>
                    </a:solidFill>
                    <a:latin typeface="SF Pro Heavy" pitchFamily="34" charset="0"/>
                    <a:ea typeface="SF Pro Heavy" pitchFamily="34" charset="-122"/>
                    <a:cs typeface="SF Pro Heavy" pitchFamily="34" charset="-120"/>
                  </a:rPr>
                  <a:t>Control</a:t>
                </a:r>
                <a:endParaRPr lang="en-US" sz="680" dirty="0"/>
              </a:p>
            </p:txBody>
          </p:sp>
          <p:sp>
            <p:nvSpPr>
              <p:cNvPr id="11" name="Shape"/>
              <p:cNvSpPr/>
              <p:nvPr/>
            </p:nvSpPr>
            <p:spPr>
              <a:xfrm>
                <a:off x="3843728" y="1728787"/>
                <a:ext cx="328613" cy="150019"/>
              </a:xfrm>
              <a:prstGeom prst="roundRect">
                <a:avLst>
                  <a:gd name="adj" fmla="val 19048"/>
                </a:avLst>
              </a:prstGeom>
              <a:solidFill>
                <a:srgbClr val="0A0800"/>
              </a:solidFill>
              <a:ln w="7144">
                <a:solidFill>
                  <a:srgbClr val="FFA657"/>
                </a:solidFill>
                <a:prstDash val="solid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indent="0" marL="0">
                  <a:lnSpc>
                    <a:spcPts val="844"/>
                  </a:lnSpc>
                  <a:buNone/>
                </a:pPr>
                <a:r>
                  <a:rPr lang="en-US" sz="560" dirty="0">
                    <a:solidFill>
                      <a:srgbClr val="FFA657"/>
                    </a:solidFill>
                    <a:latin typeface="monospace" pitchFamily="34" charset="0"/>
                    <a:ea typeface="monospace" pitchFamily="34" charset="-122"/>
                    <a:cs typeface="monospace" pitchFamily="34" charset="-120"/>
                  </a:rPr>
                  <a:t>MTF_N</a:t>
                </a:r>
                <a:endParaRPr lang="en-US" sz="560" dirty="0"/>
              </a:p>
            </p:txBody>
          </p:sp>
          <p:sp>
            <p:nvSpPr>
              <p:cNvPr id="12" name="Shape"/>
              <p:cNvSpPr/>
              <p:nvPr/>
            </p:nvSpPr>
            <p:spPr>
              <a:xfrm>
                <a:off x="4215929" y="1728787"/>
                <a:ext cx="285750" cy="150019"/>
              </a:xfrm>
              <a:prstGeom prst="roundRect">
                <a:avLst>
                  <a:gd name="adj" fmla="val 19048"/>
                </a:avLst>
              </a:prstGeom>
              <a:solidFill>
                <a:srgbClr val="0A0800"/>
              </a:solidFill>
              <a:ln w="7144">
                <a:solidFill>
                  <a:srgbClr val="FFA657"/>
                </a:solidFill>
                <a:prstDash val="solid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indent="0" marL="0">
                  <a:lnSpc>
                    <a:spcPts val="844"/>
                  </a:lnSpc>
                  <a:buNone/>
                </a:pPr>
                <a:r>
                  <a:rPr lang="en-US" sz="560" dirty="0">
                    <a:solidFill>
                      <a:srgbClr val="FFA657"/>
                    </a:solidFill>
                    <a:latin typeface="monospace" pitchFamily="34" charset="0"/>
                    <a:ea typeface="monospace" pitchFamily="34" charset="-122"/>
                    <a:cs typeface="monospace" pitchFamily="34" charset="-120"/>
                  </a:rPr>
                  <a:t>CTRL</a:t>
                </a:r>
                <a:endParaRPr lang="en-US" sz="560" dirty="0"/>
              </a:p>
            </p:txBody>
          </p:sp>
          <p:sp>
            <p:nvSpPr>
              <p:cNvPr id="13" name="Shape"/>
              <p:cNvSpPr/>
              <p:nvPr/>
            </p:nvSpPr>
            <p:spPr>
              <a:xfrm>
                <a:off x="4545323" y="1728787"/>
                <a:ext cx="371475" cy="150019"/>
              </a:xfrm>
              <a:prstGeom prst="roundRect">
                <a:avLst>
                  <a:gd name="adj" fmla="val 19048"/>
                </a:avLst>
              </a:prstGeom>
              <a:solidFill>
                <a:srgbClr val="0A0800"/>
              </a:solidFill>
              <a:ln w="7144">
                <a:solidFill>
                  <a:srgbClr val="FFA657"/>
                </a:solidFill>
                <a:prstDash val="solid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indent="0" marL="0">
                  <a:lnSpc>
                    <a:spcPts val="844"/>
                  </a:lnSpc>
                  <a:buNone/>
                </a:pPr>
                <a:r>
                  <a:rPr lang="en-US" sz="560" dirty="0">
                    <a:solidFill>
                      <a:srgbClr val="FFA657"/>
                    </a:solidFill>
                    <a:latin typeface="monospace" pitchFamily="34" charset="0"/>
                    <a:ea typeface="monospace" pitchFamily="34" charset="-122"/>
                    <a:cs typeface="monospace" pitchFamily="34" charset="-120"/>
                  </a:rPr>
                  <a:t>STATUS</a:t>
                </a:r>
                <a:endParaRPr lang="en-US" sz="560" dirty="0"/>
              </a:p>
            </p:txBody>
          </p:sp>
          <p:sp>
            <p:nvSpPr>
              <p:cNvPr id="14" name="Shape"/>
              <p:cNvSpPr/>
              <p:nvPr/>
            </p:nvSpPr>
            <p:spPr>
              <a:xfrm>
                <a:off x="4960497" y="1728787"/>
                <a:ext cx="328613" cy="150019"/>
              </a:xfrm>
              <a:prstGeom prst="roundRect">
                <a:avLst>
                  <a:gd name="adj" fmla="val 19048"/>
                </a:avLst>
              </a:prstGeom>
              <a:solidFill>
                <a:srgbClr val="0A0800"/>
              </a:solidFill>
              <a:ln w="7144">
                <a:solidFill>
                  <a:srgbClr val="FFA657"/>
                </a:solidFill>
                <a:prstDash val="solid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indent="0" marL="0">
                  <a:lnSpc>
                    <a:spcPts val="844"/>
                  </a:lnSpc>
                  <a:buNone/>
                </a:pPr>
                <a:r>
                  <a:rPr lang="en-US" sz="560" dirty="0">
                    <a:solidFill>
                      <a:srgbClr val="FFA657"/>
                    </a:solidFill>
                    <a:latin typeface="monospace" pitchFamily="34" charset="0"/>
                    <a:ea typeface="monospace" pitchFamily="34" charset="-122"/>
                    <a:cs typeface="monospace" pitchFamily="34" charset="-120"/>
                  </a:rPr>
                  <a:t>ld_we</a:t>
                </a:r>
                <a:endParaRPr lang="en-US" sz="560" dirty="0"/>
              </a:p>
            </p:txBody>
          </p:sp>
          <p:sp>
            <p:nvSpPr>
              <p:cNvPr id="15" name="Shape"/>
              <p:cNvSpPr/>
              <p:nvPr/>
            </p:nvSpPr>
            <p:spPr>
              <a:xfrm>
                <a:off x="5332921" y="1728787"/>
                <a:ext cx="414338" cy="150019"/>
              </a:xfrm>
              <a:prstGeom prst="roundRect">
                <a:avLst>
                  <a:gd name="adj" fmla="val 19048"/>
                </a:avLst>
              </a:prstGeom>
              <a:solidFill>
                <a:srgbClr val="0A0800"/>
              </a:solidFill>
              <a:ln w="7144">
                <a:solidFill>
                  <a:srgbClr val="FFA657"/>
                </a:solidFill>
                <a:prstDash val="solid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indent="0" marL="0">
                  <a:lnSpc>
                    <a:spcPts val="844"/>
                  </a:lnSpc>
                  <a:buNone/>
                </a:pPr>
                <a:r>
                  <a:rPr lang="en-US" sz="560" dirty="0">
                    <a:solidFill>
                      <a:srgbClr val="FFA657"/>
                    </a:solidFill>
                    <a:latin typeface="monospace" pitchFamily="34" charset="0"/>
                    <a:ea typeface="monospace" pitchFamily="34" charset="-122"/>
                    <a:cs typeface="monospace" pitchFamily="34" charset="-120"/>
                  </a:rPr>
                  <a:t>ld_addr</a:t>
                </a:r>
                <a:endParaRPr lang="en-US" sz="560" dirty="0"/>
              </a:p>
            </p:txBody>
          </p:sp>
          <p:sp>
            <p:nvSpPr>
              <p:cNvPr id="16" name="Shape"/>
              <p:cNvSpPr/>
              <p:nvPr/>
            </p:nvSpPr>
            <p:spPr>
              <a:xfrm>
                <a:off x="5791237" y="1728787"/>
                <a:ext cx="414338" cy="150019"/>
              </a:xfrm>
              <a:prstGeom prst="roundRect">
                <a:avLst>
                  <a:gd name="adj" fmla="val 19048"/>
                </a:avLst>
              </a:prstGeom>
              <a:solidFill>
                <a:srgbClr val="0A0800"/>
              </a:solidFill>
              <a:ln w="7144">
                <a:solidFill>
                  <a:srgbClr val="FFA657"/>
                </a:solidFill>
                <a:prstDash val="solid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indent="0" marL="0">
                  <a:lnSpc>
                    <a:spcPts val="844"/>
                  </a:lnSpc>
                  <a:buNone/>
                </a:pPr>
                <a:r>
                  <a:rPr lang="en-US" sz="560" dirty="0">
                    <a:solidFill>
                      <a:srgbClr val="FFA657"/>
                    </a:solidFill>
                    <a:latin typeface="monospace" pitchFamily="34" charset="0"/>
                    <a:ea typeface="monospace" pitchFamily="34" charset="-122"/>
                    <a:cs typeface="monospace" pitchFamily="34" charset="-120"/>
                  </a:rPr>
                  <a:t>ld_data</a:t>
                </a:r>
                <a:endParaRPr lang="en-US" sz="560" dirty="0"/>
              </a:p>
            </p:txBody>
          </p:sp>
        </p:grpSp>
        <p:grpSp>
          <p:nvGrpSpPr>
            <p:cNvPr id="51" name="Group g119/g121"/>
            <p:cNvGrpSpPr/>
            <p:nvPr/>
          </p:nvGrpSpPr>
          <p:grpSpPr>
            <a:xfrm>
              <a:off x="3066845" y="2357438"/>
              <a:ext cx="2857500" cy="821531"/>
              <a:chOff x="3066845" y="2357438"/>
              <a:chExt cx="2857500" cy="821531"/>
            </a:xfrm>
          </p:grpSpPr>
          <p:sp>
            <p:nvSpPr>
              <p:cNvPr id="24" name="Shape"/>
              <p:cNvSpPr/>
              <p:nvPr/>
            </p:nvSpPr>
            <p:spPr>
              <a:xfrm>
                <a:off x="3066845" y="2357438"/>
                <a:ext cx="2857500" cy="821531"/>
              </a:xfrm>
              <a:prstGeom prst="roundRect">
                <a:avLst>
                  <a:gd name="adj" fmla="val 8696"/>
                </a:avLst>
              </a:prstGeom>
              <a:solidFill>
                <a:srgbClr val="1A1200"/>
              </a:solidFill>
              <a:ln w="7144">
                <a:solidFill>
                  <a:srgbClr val="FFA657"/>
                </a:solidFill>
                <a:prstDash val="solid"/>
              </a:ln>
            </p:spPr>
          </p:sp>
          <p:sp>
            <p:nvSpPr>
              <p:cNvPr id="25" name="Shape"/>
              <p:cNvSpPr/>
              <p:nvPr/>
            </p:nvSpPr>
            <p:spPr>
              <a:xfrm>
                <a:off x="3188289" y="2450306"/>
                <a:ext cx="2614613" cy="128588"/>
              </a:xfrm>
              <a:prstGeom prst="rect">
                <a:avLst/>
              </a:prstGeom>
              <a:ln/>
            </p:spPr>
            <p:txBody>
              <a:bodyPr wrap="none" lIns="0" tIns="0" rIns="0" bIns="0" rtlCol="0" anchor="ctr">
                <a:spAutoFit/>
              </a:bodyPr>
              <a:lstStyle/>
              <a:p>
                <a:pPr algn="ctr" indent="0" marL="0">
                  <a:lnSpc>
                    <a:spcPts val="1013"/>
                  </a:lnSpc>
                  <a:spcAft>
                    <a:spcPts val="450"/>
                  </a:spcAft>
                  <a:buNone/>
                </a:pPr>
                <a:r>
                  <a:rPr lang="en-US" sz="680" b="1" dirty="0">
                    <a:solidFill>
                      <a:srgbClr val="FFA657"/>
                    </a:solidFill>
                    <a:latin typeface="SF Pro Heavy" pitchFamily="34" charset="0"/>
                    <a:ea typeface="SF Pro Heavy" pitchFamily="34" charset="-122"/>
                    <a:cs typeface="SF Pro Heavy" pitchFamily="34" charset="-120"/>
                  </a:rPr>
                  <a:t>N-entry Register File</a:t>
                </a:r>
                <a:endParaRPr lang="en-US" sz="680" dirty="0"/>
              </a:p>
            </p:txBody>
          </p:sp>
          <p:sp>
            <p:nvSpPr>
              <p:cNvPr id="26" name="Shape"/>
              <p:cNvSpPr/>
              <p:nvPr/>
            </p:nvSpPr>
            <p:spPr>
              <a:xfrm>
                <a:off x="3493629" y="2636044"/>
                <a:ext cx="385763" cy="178594"/>
              </a:xfrm>
              <a:prstGeom prst="roundRect">
                <a:avLst>
                  <a:gd name="adj" fmla="val 16000"/>
                </a:avLst>
              </a:prstGeom>
              <a:solidFill>
                <a:srgbClr val="0A0800"/>
              </a:solidFill>
              <a:ln w="7144">
                <a:solidFill>
                  <a:srgbClr val="FFA657"/>
                </a:solidFill>
                <a:prstDash val="solid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indent="0" marL="0">
                  <a:lnSpc>
                    <a:spcPts val="844"/>
                  </a:lnSpc>
                  <a:buNone/>
                </a:pPr>
                <a:r>
                  <a:rPr lang="en-US" sz="560" dirty="0">
                    <a:solidFill>
                      <a:srgbClr val="FFA657"/>
                    </a:solidFill>
                    <a:latin typeface="monospace" pitchFamily="34" charset="0"/>
                    <a:ea typeface="monospace" pitchFamily="34" charset="-122"/>
                    <a:cs typeface="monospace" pitchFamily="34" charset="-120"/>
                  </a:rPr>
                  <a:t>tbl[0]</a:t>
                </a:r>
                <a:endParaRPr lang="en-US" sz="560" dirty="0"/>
              </a:p>
            </p:txBody>
          </p:sp>
          <p:sp>
            <p:nvSpPr>
              <p:cNvPr id="27" name="Shape"/>
              <p:cNvSpPr/>
              <p:nvPr/>
            </p:nvSpPr>
            <p:spPr>
              <a:xfrm>
                <a:off x="3908859" y="2636044"/>
                <a:ext cx="385763" cy="178594"/>
              </a:xfrm>
              <a:prstGeom prst="roundRect">
                <a:avLst>
                  <a:gd name="adj" fmla="val 16000"/>
                </a:avLst>
              </a:prstGeom>
              <a:solidFill>
                <a:srgbClr val="0A0800"/>
              </a:solidFill>
              <a:ln w="7144">
                <a:solidFill>
                  <a:srgbClr val="FFA657"/>
                </a:solidFill>
                <a:prstDash val="solid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indent="0" marL="0">
                  <a:lnSpc>
                    <a:spcPts val="844"/>
                  </a:lnSpc>
                  <a:buNone/>
                </a:pPr>
                <a:r>
                  <a:rPr lang="en-US" sz="560" dirty="0">
                    <a:solidFill>
                      <a:srgbClr val="FFA657"/>
                    </a:solidFill>
                    <a:latin typeface="monospace" pitchFamily="34" charset="0"/>
                    <a:ea typeface="monospace" pitchFamily="34" charset="-122"/>
                    <a:cs typeface="monospace" pitchFamily="34" charset="-120"/>
                  </a:rPr>
                  <a:t>tbl[1]</a:t>
                </a:r>
                <a:endParaRPr lang="en-US" sz="560" dirty="0"/>
              </a:p>
            </p:txBody>
          </p:sp>
          <p:sp>
            <p:nvSpPr>
              <p:cNvPr id="28" name="Shape"/>
              <p:cNvSpPr/>
              <p:nvPr/>
            </p:nvSpPr>
            <p:spPr>
              <a:xfrm>
                <a:off x="4324257" y="2636044"/>
                <a:ext cx="471488" cy="178594"/>
              </a:xfrm>
              <a:prstGeom prst="roundRect">
                <a:avLst>
                  <a:gd name="adj" fmla="val 16000"/>
                </a:avLst>
              </a:prstGeom>
              <a:solidFill>
                <a:srgbClr val="0A1A10"/>
              </a:solidFill>
              <a:ln w="7144">
                <a:solidFill>
                  <a:srgbClr val="3FB950"/>
                </a:solidFill>
                <a:prstDash val="solid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indent="0" marL="0">
                  <a:lnSpc>
                    <a:spcPts val="844"/>
                  </a:lnSpc>
                  <a:buNone/>
                </a:pPr>
                <a:r>
                  <a:rPr lang="en-US" sz="560" b="1" dirty="0">
                    <a:solidFill>
                      <a:srgbClr val="3FB950"/>
                    </a:solidFill>
                    <a:latin typeface="monospace" pitchFamily="34" charset="0"/>
                    <a:ea typeface="monospace" pitchFamily="34" charset="-122"/>
                    <a:cs typeface="monospace" pitchFamily="34" charset="-120"/>
                  </a:rPr>
                  <a:t>tbl[idx]</a:t>
                </a:r>
                <a:endParaRPr lang="en-US" sz="560" dirty="0"/>
              </a:p>
            </p:txBody>
          </p:sp>
          <p:sp>
            <p:nvSpPr>
              <p:cNvPr id="29" name="Shape"/>
              <p:cNvSpPr/>
              <p:nvPr/>
            </p:nvSpPr>
            <p:spPr>
              <a:xfrm>
                <a:off x="4825045" y="2636044"/>
                <a:ext cx="171450" cy="178594"/>
              </a:xfrm>
              <a:prstGeom prst="roundRect">
                <a:avLst>
                  <a:gd name="adj" fmla="val 16667"/>
                </a:avLst>
              </a:prstGeom>
              <a:solidFill>
                <a:srgbClr val="0A0800"/>
              </a:solidFill>
              <a:ln w="7144">
                <a:solidFill>
                  <a:srgbClr val="FFA657"/>
                </a:solidFill>
                <a:prstDash val="solid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indent="0" marL="0">
                  <a:lnSpc>
                    <a:spcPts val="844"/>
                  </a:lnSpc>
                  <a:buNone/>
                </a:pPr>
                <a:r>
                  <a:rPr lang="en-US" sz="560" dirty="0">
                    <a:solidFill>
                      <a:srgbClr val="FFA657"/>
                    </a:solidFill>
                    <a:latin typeface="monospace" pitchFamily="34" charset="0"/>
                    <a:ea typeface="monospace" pitchFamily="34" charset="-122"/>
                    <a:cs typeface="monospace" pitchFamily="34" charset="-120"/>
                  </a:rPr>
                  <a:t>…</a:t>
                </a:r>
                <a:endParaRPr lang="en-US" sz="560" dirty="0"/>
              </a:p>
            </p:txBody>
          </p:sp>
          <p:sp>
            <p:nvSpPr>
              <p:cNvPr id="30" name="Shape"/>
              <p:cNvSpPr/>
              <p:nvPr/>
            </p:nvSpPr>
            <p:spPr>
              <a:xfrm>
                <a:off x="5025796" y="2636044"/>
                <a:ext cx="471488" cy="178594"/>
              </a:xfrm>
              <a:prstGeom prst="roundRect">
                <a:avLst>
                  <a:gd name="adj" fmla="val 16000"/>
                </a:avLst>
              </a:prstGeom>
              <a:solidFill>
                <a:srgbClr val="0A0800"/>
              </a:solidFill>
              <a:ln w="7144">
                <a:solidFill>
                  <a:srgbClr val="FFA657"/>
                </a:solidFill>
                <a:prstDash val="solid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indent="0" marL="0">
                  <a:lnSpc>
                    <a:spcPts val="844"/>
                  </a:lnSpc>
                  <a:buNone/>
                </a:pPr>
                <a:r>
                  <a:rPr lang="en-US" sz="560" dirty="0">
                    <a:solidFill>
                      <a:srgbClr val="FFA657"/>
                    </a:solidFill>
                    <a:latin typeface="monospace" pitchFamily="34" charset="0"/>
                    <a:ea typeface="monospace" pitchFamily="34" charset="-122"/>
                    <a:cs typeface="monospace" pitchFamily="34" charset="-120"/>
                  </a:rPr>
                  <a:t>tbl[N-1]</a:t>
                </a:r>
                <a:endParaRPr lang="en-US" sz="560" dirty="0"/>
              </a:p>
            </p:txBody>
          </p:sp>
          <p:sp>
            <p:nvSpPr>
              <p:cNvPr id="31" name="Shape"/>
              <p:cNvSpPr/>
              <p:nvPr/>
            </p:nvSpPr>
            <p:spPr>
              <a:xfrm>
                <a:off x="3188289" y="2871788"/>
                <a:ext cx="2614613" cy="214313"/>
              </a:xfrm>
              <a:prstGeom prst="rect">
                <a:avLst/>
              </a:prstGeom>
              <a:ln/>
            </p:spPr>
            <p:txBody>
              <a:bodyPr wrap="none" lIns="14288" tIns="0" rIns="0" bIns="0" rtlCol="0" anchor="ctr">
                <a:spAutoFit/>
              </a:bodyPr>
              <a:lstStyle/>
              <a:p>
                <a:pPr algn="l" indent="0" marL="0">
                  <a:lnSpc>
                    <a:spcPts val="844"/>
                  </a:lnSpc>
                  <a:buNone/>
                </a:pPr>
                <a:r>
                  <a:rPr lang="en-US" sz="560" dirty="0">
                    <a:solidFill>
                      <a:srgbClr val="8B949E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Each entry: </a:t>
                </a:r>
                <a:pPr algn="l" indent="0" marL="0">
                  <a:buNone/>
                </a:pPr>
                <a:r>
                  <a:rPr lang="en-US" sz="470" dirty="0">
                    <a:solidFill>
                      <a:srgbClr val="FFA657"/>
                    </a:solidFill>
                    <a:highlight>
                      <a:srgbClr val="161B22"/>
                    </a:highlight>
                    <a:latin typeface="SF Mono" pitchFamily="34" charset="0"/>
                    <a:ea typeface="SF Mono" pitchFamily="34" charset="-122"/>
                    <a:cs typeface="SF Mono" pitchFamily="34" charset="-120"/>
                  </a:rPr>
                  <a:t>tbl[i] ← (i==0) ? tbl[idx] : (i≤idx) ? tbl[i-1] : tbl[i]</a:t>
                </a:r>
                <a:pPr algn="l" indent="0" marL="0">
                  <a:buNone/>
                </a:pPr>
                <a:endParaRPr lang="en-US" sz="560" dirty="0"/>
              </a:p>
              <a:p>
                <a:pPr algn="l" indent="0" marL="0">
                  <a:lnSpc>
                    <a:spcPts val="844"/>
                  </a:lnSpc>
                  <a:buNone/>
                </a:pPr>
                <a:r>
                  <a:rPr lang="en-US" sz="560" dirty="0">
                    <a:solidFill>
                      <a:srgbClr val="8B949E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Gated by </a:t>
                </a:r>
                <a:pPr algn="l" indent="0" marL="0">
                  <a:buNone/>
                </a:pPr>
                <a:r>
                  <a:rPr lang="en-US" sz="470" dirty="0">
                    <a:solidFill>
                      <a:srgbClr val="FFA657"/>
                    </a:solidFill>
                    <a:highlight>
                      <a:srgbClr val="161B22"/>
                    </a:highlight>
                    <a:latin typeface="SF Mono" pitchFamily="34" charset="0"/>
                    <a:ea typeface="SF Mono" pitchFamily="34" charset="-122"/>
                    <a:cs typeface="SF Mono" pitchFamily="34" charset="-120"/>
                  </a:rPr>
                  <a:t>i ≤ idx </a:t>
                </a:r>
                <a:pPr algn="l" indent="0" marL="0">
                  <a:buNone/>
                </a:pPr>
                <a:r>
                  <a:rPr lang="en-US" sz="560" dirty="0">
                    <a:solidFill>
                      <a:srgbClr val="8B949E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 — shift-to-front in one clock</a:t>
                </a:r>
                <a:endParaRPr lang="en-US" sz="560" dirty="0"/>
              </a:p>
            </p:txBody>
          </p:sp>
        </p:grpSp>
        <p:grpSp>
          <p:nvGrpSpPr>
            <p:cNvPr id="52" name="Group g119/g122"/>
            <p:cNvGrpSpPr/>
            <p:nvPr/>
          </p:nvGrpSpPr>
          <p:grpSpPr>
            <a:xfrm>
              <a:off x="664369" y="3250406"/>
              <a:ext cx="7815263" cy="221456"/>
              <a:chOff x="664369" y="3250406"/>
              <a:chExt cx="7815263" cy="221456"/>
            </a:xfrm>
          </p:grpSpPr>
          <p:sp>
            <p:nvSpPr>
              <p:cNvPr id="36" name="Shape"/>
              <p:cNvSpPr/>
              <p:nvPr/>
            </p:nvSpPr>
            <p:spPr>
              <a:xfrm>
                <a:off x="664369" y="3250406"/>
                <a:ext cx="7815263" cy="221456"/>
              </a:xfrm>
              <a:prstGeom prst="roundRect">
                <a:avLst>
                  <a:gd name="adj" fmla="val 19355"/>
                </a:avLst>
              </a:prstGeom>
              <a:solidFill>
                <a:srgbClr val="0D1117"/>
              </a:solidFill>
              <a:ln w="7144">
                <a:solidFill>
                  <a:srgbClr val="30363D"/>
                </a:solidFill>
                <a:prstDash val="solid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indent="0" marL="0">
                  <a:lnSpc>
                    <a:spcPts val="844"/>
                  </a:lnSpc>
                  <a:buNone/>
                </a:pPr>
                <a:r>
                  <a:rPr lang="en-US" sz="560" b="1" dirty="0">
                    <a:solidFill>
                      <a:srgbClr val="FFA657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Each clock:</a:t>
                </a:r>
                <a:pPr algn="ctr" indent="0" marL="0">
                  <a:buNone/>
                </a:pPr>
                <a:r>
                  <a:rPr lang="en-US" sz="560" dirty="0">
                    <a:solidFill>
                      <a:srgbClr val="8B949E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  (1) output </a:t>
                </a:r>
                <a:pPr algn="ctr" indent="0" marL="0">
                  <a:buNone/>
                </a:pPr>
                <a:r>
                  <a:rPr lang="en-US" sz="470" dirty="0">
                    <a:solidFill>
                      <a:srgbClr val="79C0FF"/>
                    </a:solidFill>
                    <a:highlight>
                      <a:srgbClr val="161B22"/>
                    </a:highlight>
                    <a:latin typeface="SF Mono" pitchFamily="34" charset="0"/>
                    <a:ea typeface="SF Mono" pitchFamily="34" charset="-122"/>
                    <a:cs typeface="SF Mono" pitchFamily="34" charset="-120"/>
                  </a:rPr>
                  <a:t>tbl[idx] </a:t>
                </a:r>
                <a:pPr algn="ctr" indent="0" marL="0">
                  <a:buNone/>
                </a:pPr>
                <a:r>
                  <a:rPr lang="en-US" sz="560" dirty="0">
                    <a:solidFill>
                      <a:srgbClr val="8B949E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  ·  (2) shift entries 0..idx-1 right by 1  ·  (3) write </a:t>
                </a:r>
                <a:pPr algn="ctr" indent="0" marL="0">
                  <a:buNone/>
                </a:pPr>
                <a:r>
                  <a:rPr lang="en-US" sz="470" dirty="0">
                    <a:solidFill>
                      <a:srgbClr val="79C0FF"/>
                    </a:solidFill>
                    <a:highlight>
                      <a:srgbClr val="161B22"/>
                    </a:highlight>
                    <a:latin typeface="SF Mono" pitchFamily="34" charset="0"/>
                    <a:ea typeface="SF Mono" pitchFamily="34" charset="-122"/>
                    <a:cs typeface="SF Mono" pitchFamily="34" charset="-120"/>
                  </a:rPr>
                  <a:t>tbl[idx] </a:t>
                </a:r>
                <a:pPr algn="ctr" indent="0" marL="0">
                  <a:buNone/>
                </a:pPr>
                <a:r>
                  <a:rPr lang="en-US" sz="560" dirty="0">
                    <a:solidFill>
                      <a:srgbClr val="8B949E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 to </a:t>
                </a:r>
                <a:pPr algn="ctr" indent="0" marL="0">
                  <a:buNone/>
                </a:pPr>
                <a:r>
                  <a:rPr lang="en-US" sz="470" dirty="0">
                    <a:solidFill>
                      <a:srgbClr val="79C0FF"/>
                    </a:solidFill>
                    <a:highlight>
                      <a:srgbClr val="161B22"/>
                    </a:highlight>
                    <a:latin typeface="SF Mono" pitchFamily="34" charset="0"/>
                    <a:ea typeface="SF Mono" pitchFamily="34" charset="-122"/>
                    <a:cs typeface="SF Mono" pitchFamily="34" charset="-120"/>
                  </a:rPr>
                  <a:t>tbl[0] </a:t>
                </a:r>
                <a:pPr algn="ctr" indent="0" marL="0">
                  <a:buNone/>
                </a:pPr>
                <a:r>
                  <a:rPr lang="en-US" sz="560" dirty="0">
                    <a:solidFill>
                      <a:srgbClr val="8B949E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  ·  </a:t>
                </a:r>
                <a:pPr algn="ctr" indent="0" marL="0">
                  <a:buNone/>
                </a:pPr>
                <a:r>
                  <a:rPr lang="en-US" sz="560" b="1" dirty="0">
                    <a:solidFill>
                      <a:srgbClr val="3FB950"/>
                    </a:solidFill>
                    <a:latin typeface="SF Pro" pitchFamily="34" charset="0"/>
                    <a:ea typeface="SF Pro" pitchFamily="34" charset="-122"/>
                    <a:cs typeface="SF Pro" pitchFamily="34" charset="-120"/>
                  </a:rPr>
                  <a:t>1 symbol/clock · integer-only · no allocation</a:t>
                </a:r>
                <a:endParaRPr lang="en-US" sz="560" dirty="0"/>
              </a:p>
            </p:txBody>
          </p:sp>
        </p:grpSp>
      </p:grpSp>
      <p:grpSp>
        <p:nvGrpSpPr>
          <p:cNvPr id="53" name="Group g123"/>
          <p:cNvGrpSpPr/>
          <p:nvPr/>
        </p:nvGrpSpPr>
        <p:grpSpPr>
          <a:xfrm>
            <a:off x="512564" y="3679031"/>
            <a:ext cx="1978819" cy="657225"/>
            <a:chOff x="512564" y="3679031"/>
            <a:chExt cx="1978819" cy="657225"/>
          </a:xfrm>
        </p:grpSpPr>
        <p:sp>
          <p:nvSpPr>
            <p:cNvPr id="37" name="Shape"/>
            <p:cNvSpPr/>
            <p:nvPr/>
          </p:nvSpPr>
          <p:spPr>
            <a:xfrm>
              <a:off x="512564" y="3679031"/>
              <a:ext cx="1978819" cy="657225"/>
            </a:xfrm>
            <a:prstGeom prst="roundRect">
              <a:avLst>
                <a:gd name="adj" fmla="val 10870"/>
              </a:avLst>
            </a:prstGeom>
            <a:solidFill>
              <a:srgbClr val="1A1200"/>
            </a:solidFill>
            <a:ln w="7144">
              <a:solidFill>
                <a:srgbClr val="FFA657"/>
              </a:solidFill>
              <a:prstDash val="solid"/>
            </a:ln>
          </p:spPr>
        </p:sp>
        <p:sp>
          <p:nvSpPr>
            <p:cNvPr id="38" name="Shape"/>
            <p:cNvSpPr/>
            <p:nvPr/>
          </p:nvSpPr>
          <p:spPr>
            <a:xfrm>
              <a:off x="619720" y="3755827"/>
              <a:ext cx="1764506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spcAft>
                  <a:spcPts val="225"/>
                </a:spcAft>
                <a:buNone/>
              </a:pPr>
              <a:r>
                <a:rPr lang="en-US" sz="620" b="1" dirty="0">
                  <a:solidFill>
                    <a:srgbClr val="FFA65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⚙️ Parameters</a:t>
              </a:r>
              <a:endParaRPr lang="en-US" sz="620" dirty="0"/>
            </a:p>
          </p:txBody>
        </p:sp>
        <p:sp>
          <p:nvSpPr>
            <p:cNvPr id="39" name="Shape"/>
            <p:cNvSpPr/>
            <p:nvPr/>
          </p:nvSpPr>
          <p:spPr>
            <a:xfrm>
              <a:off x="619720" y="3904059"/>
              <a:ext cx="1764506" cy="235744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N = alphabet size (bzip2: up to 256) · integer-only · no FP · fully synthesizable</a:t>
              </a:r>
              <a:endParaRPr lang="en-US" sz="620" dirty="0"/>
            </a:p>
          </p:txBody>
        </p:sp>
      </p:grpSp>
      <p:grpSp>
        <p:nvGrpSpPr>
          <p:cNvPr id="54" name="Group g124"/>
          <p:cNvGrpSpPr/>
          <p:nvPr/>
        </p:nvGrpSpPr>
        <p:grpSpPr>
          <a:xfrm>
            <a:off x="2559248" y="3679031"/>
            <a:ext cx="1978819" cy="657225"/>
            <a:chOff x="2559248" y="3679031"/>
            <a:chExt cx="1978819" cy="657225"/>
          </a:xfrm>
        </p:grpSpPr>
        <p:sp>
          <p:nvSpPr>
            <p:cNvPr id="40" name="Shape"/>
            <p:cNvSpPr/>
            <p:nvPr/>
          </p:nvSpPr>
          <p:spPr>
            <a:xfrm>
              <a:off x="2559248" y="3679031"/>
              <a:ext cx="1978819" cy="657225"/>
            </a:xfrm>
            <a:prstGeom prst="roundRect">
              <a:avLst>
                <a:gd name="adj" fmla="val 10870"/>
              </a:avLst>
            </a:prstGeom>
            <a:solidFill>
              <a:srgbClr val="1A1200"/>
            </a:solidFill>
            <a:ln w="7144">
              <a:solidFill>
                <a:srgbClr val="FFA657"/>
              </a:solidFill>
              <a:prstDash val="solid"/>
            </a:ln>
          </p:spPr>
        </p:sp>
        <p:sp>
          <p:nvSpPr>
            <p:cNvPr id="41" name="Shape"/>
            <p:cNvSpPr/>
            <p:nvPr/>
          </p:nvSpPr>
          <p:spPr>
            <a:xfrm>
              <a:off x="2666405" y="3755827"/>
              <a:ext cx="1764506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spcAft>
                  <a:spcPts val="225"/>
                </a:spcAft>
                <a:buNone/>
              </a:pPr>
              <a:r>
                <a:rPr lang="en-US" sz="620" b="1" dirty="0">
                  <a:solidFill>
                    <a:srgbClr val="FFA65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🔗 Load port</a:t>
              </a:r>
              <a:endParaRPr lang="en-US" sz="620" dirty="0"/>
            </a:p>
          </p:txBody>
        </p:sp>
        <p:sp>
          <p:nvSpPr>
            <p:cNvPr id="42" name="Shape"/>
            <p:cNvSpPr/>
            <p:nvPr/>
          </p:nvSpPr>
          <p:spPr>
            <a:xfrm>
              <a:off x="2666405" y="3902273"/>
              <a:ext cx="1764506" cy="357187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780"/>
                </a:lnSpc>
                <a:buNone/>
              </a:pPr>
              <a:r>
                <a:rPr lang="en-US" sz="52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ld_we / ld_addr / ld_data </a:t>
              </a:r>
              <a:pPr algn="l" indent="0" marL="0"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— load the alphabet once per block over MMIO before streaming begins</a:t>
              </a:r>
              <a:endParaRPr lang="en-US" sz="520" dirty="0"/>
            </a:p>
          </p:txBody>
        </p:sp>
      </p:grpSp>
      <p:grpSp>
        <p:nvGrpSpPr>
          <p:cNvPr id="55" name="Group g125"/>
          <p:cNvGrpSpPr/>
          <p:nvPr/>
        </p:nvGrpSpPr>
        <p:grpSpPr>
          <a:xfrm>
            <a:off x="4605933" y="3679031"/>
            <a:ext cx="1978819" cy="657225"/>
            <a:chOff x="4605933" y="3679031"/>
            <a:chExt cx="1978819" cy="657225"/>
          </a:xfrm>
        </p:grpSpPr>
        <p:sp>
          <p:nvSpPr>
            <p:cNvPr id="43" name="Shape"/>
            <p:cNvSpPr/>
            <p:nvPr/>
          </p:nvSpPr>
          <p:spPr>
            <a:xfrm>
              <a:off x="4605933" y="3679031"/>
              <a:ext cx="1978819" cy="657225"/>
            </a:xfrm>
            <a:prstGeom prst="roundRect">
              <a:avLst>
                <a:gd name="adj" fmla="val 10870"/>
              </a:avLst>
            </a:prstGeom>
            <a:solidFill>
              <a:srgbClr val="0D2018"/>
            </a:solidFill>
            <a:ln w="7144">
              <a:solidFill>
                <a:srgbClr val="2A5C3A"/>
              </a:solidFill>
              <a:prstDash val="solid"/>
            </a:ln>
          </p:spPr>
        </p:sp>
        <p:sp>
          <p:nvSpPr>
            <p:cNvPr id="44" name="Shape"/>
            <p:cNvSpPr/>
            <p:nvPr/>
          </p:nvSpPr>
          <p:spPr>
            <a:xfrm>
              <a:off x="4713089" y="3755827"/>
              <a:ext cx="1764506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spcAft>
                  <a:spcPts val="225"/>
                </a:spcAft>
                <a:buNone/>
              </a:pPr>
              <a:r>
                <a:rPr lang="en-US" sz="620" b="1" dirty="0">
                  <a:solidFill>
                    <a:srgbClr val="3FB950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🔗 Chain</a:t>
              </a:r>
              <a:endParaRPr lang="en-US" sz="620" dirty="0"/>
            </a:p>
          </p:txBody>
        </p:sp>
        <p:sp>
          <p:nvSpPr>
            <p:cNvPr id="45" name="Shape"/>
            <p:cNvSpPr/>
            <p:nvPr/>
          </p:nvSpPr>
          <p:spPr>
            <a:xfrm>
              <a:off x="4713089" y="3904059"/>
              <a:ext cx="1764506" cy="235744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Huffman </a:t>
              </a:r>
              <a:pPr algn="l" indent="0" marL="0">
                <a:buNone/>
              </a:pPr>
              <a:r>
                <a:rPr lang="en-US" sz="52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osym </a:t>
              </a:r>
              <a:pPr algn="l" indent="0" marL="0"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→ MTF </a:t>
              </a:r>
              <a:pPr algn="l" indent="0" marL="0">
                <a:buNone/>
              </a:pPr>
              <a:r>
                <a:rPr lang="en-US" sz="52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idx </a:t>
              </a:r>
              <a:pPr algn="l" indent="0" marL="0"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directly on-chip. No CPU round-trip between components.</a:t>
              </a:r>
              <a:endParaRPr lang="en-US" sz="620" dirty="0"/>
            </a:p>
          </p:txBody>
        </p:sp>
      </p:grpSp>
      <p:grpSp>
        <p:nvGrpSpPr>
          <p:cNvPr id="56" name="Group g126"/>
          <p:cNvGrpSpPr/>
          <p:nvPr/>
        </p:nvGrpSpPr>
        <p:grpSpPr>
          <a:xfrm>
            <a:off x="6652617" y="3679031"/>
            <a:ext cx="1978819" cy="657225"/>
            <a:chOff x="6652617" y="3679031"/>
            <a:chExt cx="1978819" cy="657225"/>
          </a:xfrm>
        </p:grpSpPr>
        <p:sp>
          <p:nvSpPr>
            <p:cNvPr id="46" name="Shape"/>
            <p:cNvSpPr/>
            <p:nvPr/>
          </p:nvSpPr>
          <p:spPr>
            <a:xfrm>
              <a:off x="6652617" y="3679031"/>
              <a:ext cx="1978819" cy="657225"/>
            </a:xfrm>
            <a:prstGeom prst="roundRect">
              <a:avLst>
                <a:gd name="adj" fmla="val 10870"/>
              </a:avLst>
            </a:prstGeom>
            <a:solidFill>
              <a:srgbClr val="0D1A2E"/>
            </a:solidFill>
            <a:ln w="7144">
              <a:solidFill>
                <a:srgbClr val="1A3A5C"/>
              </a:solidFill>
              <a:prstDash val="solid"/>
            </a:ln>
          </p:spPr>
        </p:sp>
        <p:sp>
          <p:nvSpPr>
            <p:cNvPr id="47" name="Shape"/>
            <p:cNvSpPr/>
            <p:nvPr/>
          </p:nvSpPr>
          <p:spPr>
            <a:xfrm>
              <a:off x="6759773" y="3755827"/>
              <a:ext cx="1764506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spcAft>
                  <a:spcPts val="225"/>
                </a:spcAft>
                <a:buNone/>
              </a:pPr>
              <a:r>
                <a:rPr lang="en-US" sz="620" b="1" dirty="0">
                  <a:solidFill>
                    <a:srgbClr val="79C0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📐 Area</a:t>
              </a:r>
              <a:endParaRPr lang="en-US" sz="620" dirty="0"/>
            </a:p>
          </p:txBody>
        </p:sp>
        <p:sp>
          <p:nvSpPr>
            <p:cNvPr id="48" name="Shape"/>
            <p:cNvSpPr/>
            <p:nvPr/>
          </p:nvSpPr>
          <p:spPr>
            <a:xfrm>
              <a:off x="6759773" y="3904059"/>
              <a:ext cx="1764506" cy="235744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N registers + N 2:1 muxes + comparator · very small · high fmax (integer only)</a:t>
              </a:r>
              <a:endParaRPr lang="en-US" sz="620" dirty="0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3603"/>
            <a:ext cx="822960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80" b="1" spc="101" kern="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HUFFMAN_DECODER FSM · SPEED VS AREA TRADE-OFF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457200" y="425053"/>
            <a:ext cx="8229600" cy="342900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spc="-28" kern="0" dirty="0">
                <a:solidFill>
                  <a:srgbClr val="E6EDF3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Accelerator — </a:t>
            </a:r>
            <a:pPr algn="l" indent="0" marL="0">
              <a:buNone/>
            </a:pPr>
            <a:r>
              <a:rPr lang="en-US" sz="1800" b="1" spc="-28" kern="0" dirty="0">
                <a:solidFill>
                  <a:srgbClr val="58A6FF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FSM &amp; Trade-offs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8093" y="867966"/>
            <a:ext cx="4264819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Aft>
                <a:spcPts val="563"/>
              </a:spcAft>
              <a:buNone/>
            </a:pPr>
            <a:r>
              <a:rPr lang="en-US" sz="680" b="1" spc="56" kern="0" dirty="0">
                <a:solidFill>
                  <a:srgbClr val="79C0FF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CANONICAL DECODE FSM — 4 STATES</a:t>
            </a:r>
            <a:endParaRPr lang="en-US" sz="680" dirty="0"/>
          </a:p>
        </p:txBody>
      </p:sp>
      <p:grpSp>
        <p:nvGrpSpPr>
          <p:cNvPr id="35" name="Group g127"/>
          <p:cNvGrpSpPr/>
          <p:nvPr/>
        </p:nvGrpSpPr>
        <p:grpSpPr>
          <a:xfrm>
            <a:off x="458093" y="1067991"/>
            <a:ext cx="4264819" cy="464344"/>
            <a:chOff x="458093" y="1067991"/>
            <a:chExt cx="4264819" cy="464344"/>
          </a:xfrm>
        </p:grpSpPr>
        <p:sp>
          <p:nvSpPr>
            <p:cNvPr id="5" name="Shape"/>
            <p:cNvSpPr/>
            <p:nvPr/>
          </p:nvSpPr>
          <p:spPr>
            <a:xfrm>
              <a:off x="458093" y="1067991"/>
              <a:ext cx="4264819" cy="464344"/>
            </a:xfrm>
            <a:prstGeom prst="roundRect">
              <a:avLst>
                <a:gd name="adj" fmla="val 15385"/>
              </a:avLst>
            </a:prstGeom>
            <a:solidFill>
              <a:srgbClr val="0D1A2E"/>
            </a:solidFill>
            <a:ln w="14288">
              <a:solidFill>
                <a:srgbClr val="58A6FF"/>
              </a:solidFill>
              <a:prstDash val="solid"/>
            </a:ln>
          </p:spPr>
        </p:sp>
        <p:sp>
          <p:nvSpPr>
            <p:cNvPr id="6" name="Shape"/>
            <p:cNvSpPr/>
            <p:nvPr/>
          </p:nvSpPr>
          <p:spPr>
            <a:xfrm>
              <a:off x="586680" y="1159073"/>
              <a:ext cx="4007644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spcAft>
                  <a:spcPts val="169"/>
                </a:spcAft>
                <a:buNone/>
              </a:pPr>
              <a:r>
                <a:rPr lang="en-US" sz="730" b="1" dirty="0">
                  <a:solidFill>
                    <a:srgbClr val="58A6FF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IDLE</a:t>
              </a:r>
              <a:endParaRPr lang="en-US" sz="730" dirty="0"/>
            </a:p>
          </p:txBody>
        </p:sp>
        <p:sp>
          <p:nvSpPr>
            <p:cNvPr id="7" name="Shape"/>
            <p:cNvSpPr/>
            <p:nvPr/>
          </p:nvSpPr>
          <p:spPr>
            <a:xfrm>
              <a:off x="586680" y="1319808"/>
              <a:ext cx="4007644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Waiting for </a:t>
              </a:r>
              <a:pPr algn="l" indent="0" marL="0">
                <a:buNone/>
              </a:pPr>
              <a:r>
                <a:rPr lang="en-US" sz="52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start </a:t>
              </a:r>
              <a:pPr algn="l" indent="0" marL="0"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pulse · resets </a:t>
              </a:r>
              <a:pPr algn="l" indent="0" marL="0">
                <a:buNone/>
              </a:pPr>
              <a:r>
                <a:rPr lang="en-US" sz="52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code=0, first=0, index=0, len=1 </a:t>
              </a:r>
              <a:endParaRPr lang="en-US" sz="620" dirty="0"/>
            </a:p>
          </p:txBody>
        </p:sp>
      </p:grpSp>
      <p:sp>
        <p:nvSpPr>
          <p:cNvPr id="8" name="Shape 6"/>
          <p:cNvSpPr/>
          <p:nvPr/>
        </p:nvSpPr>
        <p:spPr>
          <a:xfrm>
            <a:off x="2583359" y="1546622"/>
            <a:ext cx="14288" cy="7143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2344043" y="1618059"/>
            <a:ext cx="492919" cy="121444"/>
          </a:xfrm>
          <a:prstGeom prst="roundRect">
            <a:avLst>
              <a:gd name="adj" fmla="val 17647"/>
            </a:avLst>
          </a:prstGeom>
          <a:solidFill>
            <a:srgbClr val="0D1A2E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560" b="1" dirty="0">
                <a:solidFill>
                  <a:srgbClr val="58A6FF"/>
                </a:solidFill>
                <a:latin typeface="SF Pro Semibold" pitchFamily="34" charset="0"/>
                <a:ea typeface="SF Pro Semibold" pitchFamily="34" charset="-122"/>
                <a:cs typeface="SF Pro Semibold" pitchFamily="34" charset="-120"/>
              </a:rPr>
              <a:t>start pulse</a:t>
            </a:r>
            <a:endParaRPr lang="en-US" sz="560" dirty="0"/>
          </a:p>
        </p:txBody>
      </p:sp>
      <p:sp>
        <p:nvSpPr>
          <p:cNvPr id="10" name="Shape 8"/>
          <p:cNvSpPr/>
          <p:nvPr/>
        </p:nvSpPr>
        <p:spPr>
          <a:xfrm>
            <a:off x="2583359" y="1739503"/>
            <a:ext cx="14288" cy="7143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1" name="Text 9"/>
          <p:cNvSpPr/>
          <p:nvPr/>
        </p:nvSpPr>
        <p:spPr>
          <a:xfrm>
            <a:off x="2554728" y="1810941"/>
            <a:ext cx="71438" cy="92869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730" dirty="0">
                <a:solidFill>
                  <a:srgbClr val="58A6FF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▼</a:t>
            </a:r>
            <a:endParaRPr lang="en-US" sz="730" dirty="0"/>
          </a:p>
        </p:txBody>
      </p:sp>
      <p:grpSp>
        <p:nvGrpSpPr>
          <p:cNvPr id="36" name="Group g128"/>
          <p:cNvGrpSpPr/>
          <p:nvPr/>
        </p:nvGrpSpPr>
        <p:grpSpPr>
          <a:xfrm>
            <a:off x="458093" y="1916311"/>
            <a:ext cx="4264819" cy="585788"/>
            <a:chOff x="458093" y="1916311"/>
            <a:chExt cx="4264819" cy="585788"/>
          </a:xfrm>
        </p:grpSpPr>
        <p:sp>
          <p:nvSpPr>
            <p:cNvPr id="12" name="Shape"/>
            <p:cNvSpPr/>
            <p:nvPr/>
          </p:nvSpPr>
          <p:spPr>
            <a:xfrm>
              <a:off x="458093" y="1916311"/>
              <a:ext cx="4264819" cy="585788"/>
            </a:xfrm>
            <a:prstGeom prst="roundRect">
              <a:avLst>
                <a:gd name="adj" fmla="val 12195"/>
              </a:avLst>
            </a:prstGeom>
            <a:solidFill>
              <a:srgbClr val="1A1200"/>
            </a:solidFill>
            <a:ln w="14288">
              <a:solidFill>
                <a:srgbClr val="FFA657"/>
              </a:solidFill>
              <a:prstDash val="solid"/>
            </a:ln>
          </p:spPr>
        </p:sp>
        <p:sp>
          <p:nvSpPr>
            <p:cNvPr id="13" name="Shape"/>
            <p:cNvSpPr/>
            <p:nvPr/>
          </p:nvSpPr>
          <p:spPr>
            <a:xfrm>
              <a:off x="586680" y="2009180"/>
              <a:ext cx="4007644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spcAft>
                  <a:spcPts val="169"/>
                </a:spcAft>
                <a:buNone/>
              </a:pPr>
              <a:r>
                <a:rPr lang="en-US" sz="730" b="1" dirty="0">
                  <a:solidFill>
                    <a:srgbClr val="FFA657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DEC</a:t>
              </a:r>
              <a:endParaRPr lang="en-US" sz="730" dirty="0"/>
            </a:p>
          </p:txBody>
        </p:sp>
        <p:sp>
          <p:nvSpPr>
            <p:cNvPr id="14" name="Shape"/>
            <p:cNvSpPr/>
            <p:nvPr/>
          </p:nvSpPr>
          <p:spPr>
            <a:xfrm>
              <a:off x="586680" y="2171700"/>
              <a:ext cx="4007644" cy="2357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Per cycle: </a:t>
              </a:r>
              <a:pPr algn="l" indent="0" marL="0">
                <a:buNone/>
              </a:pPr>
              <a:r>
                <a:rPr lang="en-US" sz="52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code|=bit </a:t>
              </a:r>
              <a:pPr algn="l" indent="0" marL="0"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· compare </a:t>
              </a:r>
              <a:pPr algn="l" indent="0" marL="0">
                <a:buNone/>
              </a:pPr>
              <a:r>
                <a:rPr lang="en-US" sz="52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(code−first) </a:t>
              </a:r>
              <a:pPr algn="l" indent="0" marL="0"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vs </a:t>
              </a:r>
              <a:pPr algn="l" indent="0" marL="0">
                <a:buNone/>
              </a:pPr>
              <a:r>
                <a:rPr lang="en-US" sz="52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cnt[len]</a:t>
              </a:r>
              <a:pPr algn="l" indent="0" marL="0">
                <a:buNone/>
              </a:pPr>
              <a:endParaRPr lang="en-US" sz="620" dirty="0"/>
            </a:p>
            <a:p>
              <a:pPr algn="l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if match → EMIT  ·  else advance </a:t>
              </a:r>
              <a:pPr algn="l" indent="0" marL="0">
                <a:buNone/>
              </a:pPr>
              <a:r>
                <a:rPr lang="en-US" sz="52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len </a:t>
              </a:r>
              <a:endParaRPr lang="en-US" sz="620" dirty="0"/>
            </a:p>
          </p:txBody>
        </p:sp>
      </p:grpSp>
      <p:sp>
        <p:nvSpPr>
          <p:cNvPr id="15" name="Shape 13"/>
          <p:cNvSpPr/>
          <p:nvPr/>
        </p:nvSpPr>
        <p:spPr>
          <a:xfrm>
            <a:off x="2583359" y="2514600"/>
            <a:ext cx="14288" cy="71438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16" name="Text 14"/>
          <p:cNvSpPr/>
          <p:nvPr/>
        </p:nvSpPr>
        <p:spPr>
          <a:xfrm>
            <a:off x="2168965" y="2586038"/>
            <a:ext cx="842962" cy="121444"/>
          </a:xfrm>
          <a:prstGeom prst="roundRect">
            <a:avLst>
              <a:gd name="adj" fmla="val 17647"/>
            </a:avLst>
          </a:prstGeom>
          <a:solidFill>
            <a:srgbClr val="1A1200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560" b="1" dirty="0">
                <a:solidFill>
                  <a:srgbClr val="FFA657"/>
                </a:solidFill>
                <a:latin typeface="SF Pro Semibold" pitchFamily="34" charset="0"/>
                <a:ea typeface="SF Pro Semibold" pitchFamily="34" charset="-122"/>
                <a:cs typeface="SF Pro Semibold" pitchFamily="34" charset="-120"/>
              </a:rPr>
              <a:t>code−first &lt; cnt[len]</a:t>
            </a:r>
            <a:endParaRPr lang="en-US" sz="560" dirty="0"/>
          </a:p>
        </p:txBody>
      </p:sp>
      <p:sp>
        <p:nvSpPr>
          <p:cNvPr id="17" name="Shape 15"/>
          <p:cNvSpPr/>
          <p:nvPr/>
        </p:nvSpPr>
        <p:spPr>
          <a:xfrm>
            <a:off x="2583359" y="2707481"/>
            <a:ext cx="14288" cy="71438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18" name="Text 16"/>
          <p:cNvSpPr/>
          <p:nvPr/>
        </p:nvSpPr>
        <p:spPr>
          <a:xfrm>
            <a:off x="2554728" y="2778919"/>
            <a:ext cx="71438" cy="92869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730" dirty="0">
                <a:solidFill>
                  <a:srgbClr val="FFA657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▼</a:t>
            </a:r>
            <a:endParaRPr lang="en-US" sz="730" dirty="0"/>
          </a:p>
        </p:txBody>
      </p:sp>
      <p:grpSp>
        <p:nvGrpSpPr>
          <p:cNvPr id="37" name="Group g129"/>
          <p:cNvGrpSpPr/>
          <p:nvPr/>
        </p:nvGrpSpPr>
        <p:grpSpPr>
          <a:xfrm>
            <a:off x="458093" y="2886075"/>
            <a:ext cx="4264819" cy="464344"/>
            <a:chOff x="458093" y="2886075"/>
            <a:chExt cx="4264819" cy="464344"/>
          </a:xfrm>
        </p:grpSpPr>
        <p:sp>
          <p:nvSpPr>
            <p:cNvPr id="19" name="Shape"/>
            <p:cNvSpPr/>
            <p:nvPr/>
          </p:nvSpPr>
          <p:spPr>
            <a:xfrm>
              <a:off x="458093" y="2886075"/>
              <a:ext cx="4264819" cy="464344"/>
            </a:xfrm>
            <a:prstGeom prst="roundRect">
              <a:avLst>
                <a:gd name="adj" fmla="val 15385"/>
              </a:avLst>
            </a:prstGeom>
            <a:solidFill>
              <a:srgbClr val="0D2018"/>
            </a:solidFill>
            <a:ln w="14288">
              <a:solidFill>
                <a:srgbClr val="3FB950"/>
              </a:solidFill>
              <a:prstDash val="solid"/>
            </a:ln>
          </p:spPr>
        </p:sp>
        <p:sp>
          <p:nvSpPr>
            <p:cNvPr id="20" name="Shape"/>
            <p:cNvSpPr/>
            <p:nvPr/>
          </p:nvSpPr>
          <p:spPr>
            <a:xfrm>
              <a:off x="586680" y="2977158"/>
              <a:ext cx="4007644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spcAft>
                  <a:spcPts val="169"/>
                </a:spcAft>
                <a:buNone/>
              </a:pPr>
              <a:r>
                <a:rPr lang="en-US" sz="730" b="1" dirty="0">
                  <a:solidFill>
                    <a:srgbClr val="3FB950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EMIT</a:t>
              </a:r>
              <a:endParaRPr lang="en-US" sz="730" dirty="0"/>
            </a:p>
          </p:txBody>
        </p:sp>
        <p:sp>
          <p:nvSpPr>
            <p:cNvPr id="21" name="Shape"/>
            <p:cNvSpPr/>
            <p:nvPr/>
          </p:nvSpPr>
          <p:spPr>
            <a:xfrm>
              <a:off x="586680" y="3137892"/>
              <a:ext cx="4007644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Output </a:t>
              </a:r>
              <a:pPr algn="l" indent="0" marL="0">
                <a:buNone/>
              </a:pPr>
              <a:r>
                <a:rPr lang="en-US" sz="52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symbol[index+(code−first)] </a:t>
              </a:r>
              <a:pPr algn="l" indent="0" marL="0"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· wait </a:t>
              </a:r>
              <a:pPr algn="l" indent="0" marL="0">
                <a:buNone/>
              </a:pPr>
              <a:r>
                <a:rPr lang="en-US" sz="52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osym_ready </a:t>
              </a:r>
              <a:pPr algn="l" indent="0" marL="0"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· restart DEC or → DONE</a:t>
              </a:r>
              <a:endParaRPr lang="en-US" sz="620" dirty="0"/>
            </a:p>
          </p:txBody>
        </p:sp>
      </p:grpSp>
      <p:sp>
        <p:nvSpPr>
          <p:cNvPr id="22" name="Shape 20"/>
          <p:cNvSpPr/>
          <p:nvPr/>
        </p:nvSpPr>
        <p:spPr>
          <a:xfrm>
            <a:off x="2583359" y="3364706"/>
            <a:ext cx="14288" cy="7143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3" name="Text 21"/>
          <p:cNvSpPr/>
          <p:nvPr/>
        </p:nvSpPr>
        <p:spPr>
          <a:xfrm>
            <a:off x="2097584" y="3436144"/>
            <a:ext cx="985838" cy="121444"/>
          </a:xfrm>
          <a:prstGeom prst="roundRect">
            <a:avLst>
              <a:gd name="adj" fmla="val 17647"/>
            </a:avLst>
          </a:prstGeom>
          <a:solidFill>
            <a:srgbClr val="0D2018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560" b="1" dirty="0">
                <a:solidFill>
                  <a:srgbClr val="3FB950"/>
                </a:solidFill>
                <a:latin typeface="SF Pro Semibold" pitchFamily="34" charset="0"/>
                <a:ea typeface="SF Pro Semibold" pitchFamily="34" charset="-122"/>
                <a:cs typeface="SF Pro Semibold" pitchFamily="34" charset="-120"/>
              </a:rPr>
              <a:t>decoded_count == nsym</a:t>
            </a:r>
            <a:endParaRPr lang="en-US" sz="560" dirty="0"/>
          </a:p>
        </p:txBody>
      </p:sp>
      <p:sp>
        <p:nvSpPr>
          <p:cNvPr id="24" name="Shape 22"/>
          <p:cNvSpPr/>
          <p:nvPr/>
        </p:nvSpPr>
        <p:spPr>
          <a:xfrm>
            <a:off x="2583359" y="3557588"/>
            <a:ext cx="14288" cy="7143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5" name="Text 23"/>
          <p:cNvSpPr/>
          <p:nvPr/>
        </p:nvSpPr>
        <p:spPr>
          <a:xfrm>
            <a:off x="2554728" y="3629025"/>
            <a:ext cx="71438" cy="92869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730" dirty="0">
                <a:solidFill>
                  <a:srgbClr val="3FB950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▼</a:t>
            </a:r>
            <a:endParaRPr lang="en-US" sz="730" dirty="0"/>
          </a:p>
        </p:txBody>
      </p:sp>
      <p:grpSp>
        <p:nvGrpSpPr>
          <p:cNvPr id="38" name="Group g130"/>
          <p:cNvGrpSpPr/>
          <p:nvPr/>
        </p:nvGrpSpPr>
        <p:grpSpPr>
          <a:xfrm>
            <a:off x="458093" y="3736181"/>
            <a:ext cx="4264819" cy="464344"/>
            <a:chOff x="458093" y="3736181"/>
            <a:chExt cx="4264819" cy="464344"/>
          </a:xfrm>
        </p:grpSpPr>
        <p:sp>
          <p:nvSpPr>
            <p:cNvPr id="26" name="Shape"/>
            <p:cNvSpPr/>
            <p:nvPr/>
          </p:nvSpPr>
          <p:spPr>
            <a:xfrm>
              <a:off x="458093" y="3736181"/>
              <a:ext cx="4264819" cy="464344"/>
            </a:xfrm>
            <a:prstGeom prst="roundRect">
              <a:avLst>
                <a:gd name="adj" fmla="val 15385"/>
              </a:avLst>
            </a:prstGeom>
            <a:solidFill>
              <a:srgbClr val="161B22"/>
            </a:solidFill>
            <a:ln w="14288">
              <a:solidFill>
                <a:srgbClr val="30363D"/>
              </a:solidFill>
              <a:prstDash val="solid"/>
            </a:ln>
          </p:spPr>
        </p:sp>
        <p:sp>
          <p:nvSpPr>
            <p:cNvPr id="27" name="Shape"/>
            <p:cNvSpPr/>
            <p:nvPr/>
          </p:nvSpPr>
          <p:spPr>
            <a:xfrm>
              <a:off x="586680" y="3827264"/>
              <a:ext cx="4007644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spcAft>
                  <a:spcPts val="169"/>
                </a:spcAft>
                <a:buNone/>
              </a:pPr>
              <a:r>
                <a:rPr lang="en-US" sz="730" b="1" dirty="0">
                  <a:solidFill>
                    <a:srgbClr val="8B949E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DONE</a:t>
              </a:r>
              <a:endParaRPr lang="en-US" sz="730" dirty="0"/>
            </a:p>
          </p:txBody>
        </p:sp>
        <p:sp>
          <p:nvSpPr>
            <p:cNvPr id="28" name="Shape"/>
            <p:cNvSpPr/>
            <p:nvPr/>
          </p:nvSpPr>
          <p:spPr>
            <a:xfrm>
              <a:off x="586680" y="3987998"/>
              <a:ext cx="4007644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780"/>
                </a:lnSpc>
                <a:buNone/>
              </a:pPr>
              <a:r>
                <a:rPr lang="en-US" sz="52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nsym </a:t>
              </a:r>
              <a:pPr algn="l" indent="0" marL="0"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symbols decoded · assert </a:t>
              </a:r>
              <a:pPr algn="l" indent="0" marL="0">
                <a:buNone/>
              </a:pPr>
              <a:r>
                <a:rPr lang="en-US" sz="52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done </a:t>
              </a:r>
              <a:pPr algn="l" indent="0" marL="0"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· return to IDLE on next block</a:t>
              </a:r>
              <a:endParaRPr lang="en-US" sz="520" dirty="0"/>
            </a:p>
          </p:txBody>
        </p:sp>
      </p:grpSp>
      <p:sp>
        <p:nvSpPr>
          <p:cNvPr id="29" name="Text 27"/>
          <p:cNvSpPr/>
          <p:nvPr/>
        </p:nvSpPr>
        <p:spPr>
          <a:xfrm>
            <a:off x="4865787" y="867966"/>
            <a:ext cx="3821906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Aft>
                <a:spcPts val="113"/>
              </a:spcAft>
              <a:buNone/>
            </a:pPr>
            <a:r>
              <a:rPr lang="en-US" sz="680" b="1" spc="56" kern="0" dirty="0">
                <a:solidFill>
                  <a:srgbClr val="79C0FF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SPEED VS AREA TRADE-OFF</a:t>
            </a:r>
            <a:endParaRPr lang="en-US" sz="68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65787" y="1080492"/>
          <a:ext cx="3821906" cy="914400"/>
        </p:xfrm>
        <a:graphic>
          <a:graphicData uri="http://schemas.openxmlformats.org/drawingml/2006/table">
            <a:tbl>
              <a:tblPr/>
              <a:tblGrid>
                <a:gridCol w="806462"/>
                <a:gridCol w="852339"/>
                <a:gridCol w="1048457"/>
                <a:gridCol w="86026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8"/>
                        </a:lnSpc>
                        <a:buNone/>
                      </a:pPr>
                      <a:r>
                        <a:rPr lang="en-US" sz="620" b="1" spc="45" kern="0" dirty="0">
                          <a:solidFill>
                            <a:srgbClr val="58A6FF"/>
                          </a:solidFill>
                          <a:highlight>
                            <a:srgbClr val="0D1117"/>
                          </a:highlight>
                          <a:latin typeface="SF Pro Semibold" pitchFamily="34" charset="0"/>
                          <a:ea typeface="SF Pro Semibold" pitchFamily="34" charset="-122"/>
                          <a:cs typeface="SF Pro Semibold" pitchFamily="34" charset="-120"/>
                        </a:rPr>
                        <a:t>VARIANT</a:t>
                      </a:r>
                      <a:endParaRPr lang="en-US" sz="620" dirty="0">
                        <a:latin typeface="SF Pro Semibold" charset="0"/>
                        <a:ea typeface="SF Pro Semibold" charset="0"/>
                        <a:cs typeface="SF Pro Semibold" charset="0"/>
                      </a:endParaRPr>
                    </a:p>
                  </a:txBody>
                  <a:tcPr marL="71438" marR="71438" marT="57150" marB="57150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8"/>
                        </a:lnSpc>
                        <a:buNone/>
                      </a:pPr>
                      <a:r>
                        <a:rPr lang="en-US" sz="620" b="1" spc="45" kern="0" dirty="0">
                          <a:solidFill>
                            <a:srgbClr val="58A6FF"/>
                          </a:solidFill>
                          <a:highlight>
                            <a:srgbClr val="0D1117"/>
                          </a:highlight>
                          <a:latin typeface="SF Pro Semibold" pitchFamily="34" charset="0"/>
                          <a:ea typeface="SF Pro Semibold" pitchFamily="34" charset="-122"/>
                          <a:cs typeface="SF Pro Semibold" pitchFamily="34" charset="-120"/>
                        </a:rPr>
                        <a:t>THROUGHPUT</a:t>
                      </a:r>
                      <a:endParaRPr lang="en-US" sz="620" dirty="0">
                        <a:latin typeface="SF Pro Semibold" charset="0"/>
                        <a:ea typeface="SF Pro Semibold" charset="0"/>
                        <a:cs typeface="SF Pro Semibold" charset="0"/>
                      </a:endParaRPr>
                    </a:p>
                  </a:txBody>
                  <a:tcPr marL="71438" marR="71438" marT="57150" marB="57150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8"/>
                        </a:lnSpc>
                        <a:buNone/>
                      </a:pPr>
                      <a:r>
                        <a:rPr lang="en-US" sz="620" b="1" spc="45" kern="0" dirty="0">
                          <a:solidFill>
                            <a:srgbClr val="58A6FF"/>
                          </a:solidFill>
                          <a:highlight>
                            <a:srgbClr val="0D1117"/>
                          </a:highlight>
                          <a:latin typeface="SF Pro Semibold" pitchFamily="34" charset="0"/>
                          <a:ea typeface="SF Pro Semibold" pitchFamily="34" charset="-122"/>
                          <a:cs typeface="SF Pro Semibold" pitchFamily="34" charset="-120"/>
                        </a:rPr>
                        <a:t>TABLE RAM</a:t>
                      </a:r>
                      <a:endParaRPr lang="en-US" sz="620" dirty="0">
                        <a:latin typeface="SF Pro Semibold" charset="0"/>
                        <a:ea typeface="SF Pro Semibold" charset="0"/>
                        <a:cs typeface="SF Pro Semibold" charset="0"/>
                      </a:endParaRPr>
                    </a:p>
                  </a:txBody>
                  <a:tcPr marL="71438" marR="71438" marT="57150" marB="57150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8"/>
                        </a:lnSpc>
                        <a:buNone/>
                      </a:pPr>
                      <a:r>
                        <a:rPr lang="en-US" sz="620" b="1" spc="45" kern="0" dirty="0">
                          <a:solidFill>
                            <a:srgbClr val="58A6FF"/>
                          </a:solidFill>
                          <a:highlight>
                            <a:srgbClr val="0D1117"/>
                          </a:highlight>
                          <a:latin typeface="SF Pro Semibold" pitchFamily="34" charset="0"/>
                          <a:ea typeface="SF Pro Semibold" pitchFamily="34" charset="-122"/>
                          <a:cs typeface="SF Pro Semibold" pitchFamily="34" charset="-120"/>
                        </a:rPr>
                        <a:t>STATUS</a:t>
                      </a:r>
                      <a:endParaRPr lang="en-US" sz="620" dirty="0">
                        <a:latin typeface="SF Pro Semibold" charset="0"/>
                        <a:ea typeface="SF Pro Semibold" charset="0"/>
                        <a:cs typeface="SF Pro Semibold" charset="0"/>
                      </a:endParaRPr>
                    </a:p>
                  </a:txBody>
                  <a:tcPr marL="71438" marR="71438" marT="57150" marB="57150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b="1" dirty="0">
                          <a:solidFill>
                            <a:srgbClr val="3FB950"/>
                          </a:solidFill>
                          <a:highlight>
                            <a:srgbClr val="0D2018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Serial FSM</a:t>
                      </a:r>
                      <a:pPr algn="l" indent="0" marL="0">
                        <a:buNone/>
                      </a:pP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  <a:p>
                      <a:pPr algn="l" indent="0" marL="0">
                        <a:lnSpc>
                          <a:spcPts val="844"/>
                        </a:lnSpc>
                        <a:buNone/>
                      </a:pPr>
                      <a:r>
                        <a:rPr lang="en-US" sz="560" b="1" dirty="0">
                          <a:solidFill>
                            <a:srgbClr val="8B949E"/>
                          </a:solidFill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this design</a:t>
                      </a: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3FB950"/>
                          </a:solidFill>
                          <a:highlight>
                            <a:srgbClr val="0D2018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~1 bit/cycle</a:t>
                      </a:r>
                      <a:pPr algn="l" indent="0" marL="0">
                        <a:buNone/>
                      </a:pP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3FB950"/>
                          </a:solidFill>
                          <a:highlight>
                            <a:srgbClr val="0D2018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~60M sym/s</a:t>
                      </a: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3FB950"/>
                          </a:solidFill>
                          <a:highlight>
                            <a:srgbClr val="0D2018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~15×16b + ~512×9b</a:t>
                      </a:r>
                      <a:pPr algn="l" indent="0" marL="0">
                        <a:buNone/>
                      </a:pP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3FB950"/>
                          </a:solidFill>
                          <a:highlight>
                            <a:srgbClr val="0D2018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tiny</a:t>
                      </a: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b="1" dirty="0">
                          <a:solidFill>
                            <a:srgbClr val="3FB950"/>
                          </a:solidFill>
                          <a:highlight>
                            <a:srgbClr val="0D2018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✓ Implemented</a:t>
                      </a:r>
                      <a:pPr algn="l" indent="0" marL="0">
                        <a:buNone/>
                      </a:pP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b="1" dirty="0">
                          <a:solidFill>
                            <a:srgbClr val="3FB950"/>
                          </a:solidFill>
                          <a:highlight>
                            <a:srgbClr val="0D2018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TB PASS</a:t>
                      </a: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b="1" dirty="0">
                          <a:solidFill>
                            <a:srgbClr val="79C0FF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Full LUT</a:t>
                      </a:r>
                      <a:pPr algn="l" indent="0" marL="0">
                        <a:buNone/>
                      </a:pP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  <a:p>
                      <a:pPr algn="l" indent="0" marL="0">
                        <a:lnSpc>
                          <a:spcPts val="844"/>
                        </a:lnSpc>
                        <a:buNone/>
                      </a:pPr>
                      <a:r>
                        <a:rPr lang="en-US" sz="560" b="1" dirty="0">
                          <a:solidFill>
                            <a:srgbClr val="8B949E"/>
                          </a:solidFill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faster variant</a:t>
                      </a: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79C0FF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1 symbol/cycle</a:t>
                      </a:r>
                      <a:pPr algn="l" indent="0" marL="0">
                        <a:buNone/>
                      </a:pP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79C0FF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~500M sym/s</a:t>
                      </a: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FFA657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2^15 × 13b</a:t>
                      </a:r>
                      <a:pPr algn="l" indent="0" marL="0">
                        <a:buNone/>
                      </a:pP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FFA657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= 53KB RAM</a:t>
                      </a: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8B949E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Design option</a:t>
                      </a:r>
                      <a:pPr algn="l" indent="0" marL="0">
                        <a:buNone/>
                      </a:pP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8B949E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(not built)</a:t>
                      </a: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b="1" dirty="0">
                          <a:solidFill>
                            <a:srgbClr val="79C0FF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Two-level LUT</a:t>
                      </a:r>
                      <a:pPr algn="l" indent="0" marL="0">
                        <a:buNone/>
                      </a:pP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  <a:p>
                      <a:pPr algn="l" indent="0" marL="0">
                        <a:lnSpc>
                          <a:spcPts val="844"/>
                        </a:lnSpc>
                        <a:buNone/>
                      </a:pPr>
                      <a:r>
                        <a:rPr lang="en-US" sz="560" b="1" dirty="0">
                          <a:solidFill>
                            <a:srgbClr val="8B949E"/>
                          </a:solidFill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zlib approach</a:t>
                      </a: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79C0FF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~1 symbol/cycle</a:t>
                      </a:r>
                      <a:pPr algn="l" indent="0" marL="0">
                        <a:buNone/>
                      </a:pP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79C0FF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near-optimal</a:t>
                      </a: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3FB950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root + sub-tables</a:t>
                      </a:r>
                      <a:pPr algn="l" indent="0" marL="0">
                        <a:buNone/>
                      </a:pP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3FB950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much smaller</a:t>
                      </a: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8B949E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Production</a:t>
                      </a:r>
                      <a:pPr algn="l" indent="0" marL="0">
                        <a:buNone/>
                      </a:pP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8B949E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compromise</a:t>
                      </a: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4865787" y="2564606"/>
            <a:ext cx="3821906" cy="542925"/>
          </a:xfrm>
          <a:prstGeom prst="roundRect">
            <a:avLst>
              <a:gd name="adj" fmla="val 10526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lIns="50006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80" b="1" dirty="0">
                <a:solidFill>
                  <a:srgbClr val="C9D1D9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Note:</a:t>
            </a:r>
            <a:pPr algn="l"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 OPT-3 in software IS the software analogue of the Full LUT variant — precomputed lookup table, one array index per symbol. The serial FSM is the smallest, always-correct hardware baseline.</a:t>
            </a:r>
            <a:endParaRPr lang="en-US" sz="680" dirty="0"/>
          </a:p>
        </p:txBody>
      </p:sp>
      <p:sp>
        <p:nvSpPr>
          <p:cNvPr id="32" name="Text 29"/>
          <p:cNvSpPr/>
          <p:nvPr/>
        </p:nvSpPr>
        <p:spPr>
          <a:xfrm>
            <a:off x="4865787" y="3248620"/>
            <a:ext cx="3821906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928"/>
              </a:lnSpc>
              <a:spcAft>
                <a:spcPts val="281"/>
              </a:spcAft>
              <a:buNone/>
            </a:pPr>
            <a:r>
              <a:rPr lang="en-US" sz="620" b="1" spc="56" kern="0" dirty="0">
                <a:solidFill>
                  <a:srgbClr val="58A6FF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HUFFMAN_DECODER.SV — S_DEC STATE (THE PER-BIT DECODE STEP)</a:t>
            </a:r>
            <a:endParaRPr lang="en-US" sz="620" dirty="0"/>
          </a:p>
        </p:txBody>
      </p:sp>
      <p:sp>
        <p:nvSpPr>
          <p:cNvPr id="33" name="Text 30"/>
          <p:cNvSpPr/>
          <p:nvPr/>
        </p:nvSpPr>
        <p:spPr>
          <a:xfrm>
            <a:off x="4865787" y="3402267"/>
            <a:ext cx="3821906" cy="1343025"/>
          </a:xfrm>
          <a:prstGeom prst="roundRect">
            <a:avLst>
              <a:gd name="adj" fmla="val 4255"/>
            </a:avLst>
          </a:prstGeom>
          <a:solidFill>
            <a:srgbClr val="0D1A2E"/>
          </a:solidFill>
          <a:ln w="7144">
            <a:solidFill>
              <a:srgbClr val="1A3A5C"/>
            </a:solidFill>
            <a:prstDash val="solid"/>
          </a:ln>
        </p:spPr>
        <p:txBody>
          <a:bodyPr wrap="square" lIns="50006" tIns="0" rIns="0" bIns="0" rtlCol="0" anchor="ctr">
            <a:sp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each clock: fold in one bit, test "code complete at this length?" code_v = code | bit_in; if ((code_v - first) &lt; cnt[len]) // found sym &lt;= symbol[index + (code_v - first)]; // → emit else begin // advance to next length index &lt;= index + cnt[len]; first &lt;= (first + cnt[len]) &lt;&lt; 1; code &lt;= code_v &lt;&lt; 1; len &lt;= len + 1; end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4865787" y="4770351"/>
            <a:ext cx="3821906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928"/>
              </a:lnSpc>
              <a:spcBef>
                <a:spcPts val="225"/>
              </a:spcBef>
              <a:buNone/>
            </a:pPr>
            <a:r>
              <a:rPr lang="en-US" sz="620" i="1" dirty="0">
                <a:solidFill>
                  <a:srgbClr val="484F58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1 bit/clock · integer compare + add · fully synthesizable</a:t>
            </a:r>
            <a:endParaRPr lang="en-US" sz="6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6419" y="1007269"/>
            <a:ext cx="4507706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80" b="1" spc="101" kern="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AMDAHL'S LAW · DESIGN PROPOSAL ESTIMATE · TWO COMPONENTS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456419" y="1178719"/>
            <a:ext cx="4507706" cy="321469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2531"/>
              </a:lnSpc>
              <a:buNone/>
            </a:pPr>
            <a:r>
              <a:rPr lang="en-US" sz="1690" b="1" spc="-28" kern="0" dirty="0">
                <a:solidFill>
                  <a:srgbClr val="E6EDF3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Hardware </a:t>
            </a:r>
            <a:pPr algn="l" indent="0" marL="0">
              <a:buNone/>
            </a:pPr>
            <a:r>
              <a:rPr lang="en-US" sz="1690" b="1" spc="-28" kern="0" dirty="0">
                <a:solidFill>
                  <a:srgbClr val="58A6FF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Performance Estimate</a:t>
            </a:r>
            <a:endParaRPr lang="en-US" sz="1690" dirty="0"/>
          </a:p>
        </p:txBody>
      </p:sp>
      <p:grpSp>
        <p:nvGrpSpPr>
          <p:cNvPr id="31" name="Group g138"/>
          <p:cNvGrpSpPr/>
          <p:nvPr/>
        </p:nvGrpSpPr>
        <p:grpSpPr>
          <a:xfrm>
            <a:off x="456419" y="1585912"/>
            <a:ext cx="4507706" cy="478631"/>
            <a:chOff x="456419" y="1585912"/>
            <a:chExt cx="4507706" cy="478631"/>
          </a:xfrm>
        </p:grpSpPr>
        <p:sp>
          <p:nvSpPr>
            <p:cNvPr id="4" name="Shape"/>
            <p:cNvSpPr/>
            <p:nvPr/>
          </p:nvSpPr>
          <p:spPr>
            <a:xfrm>
              <a:off x="456419" y="1585912"/>
              <a:ext cx="4507706" cy="478631"/>
            </a:xfrm>
            <a:prstGeom prst="roundRect">
              <a:avLst>
                <a:gd name="adj" fmla="val 14925"/>
              </a:avLst>
            </a:prstGeom>
            <a:solidFill>
              <a:srgbClr val="0D1A2E"/>
            </a:solidFill>
            <a:ln w="7144">
              <a:solidFill>
                <a:srgbClr val="1A3A5C"/>
              </a:solidFill>
              <a:prstDash val="solid"/>
            </a:ln>
          </p:spPr>
        </p:sp>
        <p:sp>
          <p:nvSpPr>
            <p:cNvPr id="5" name="Shape"/>
            <p:cNvSpPr/>
            <p:nvPr/>
          </p:nvSpPr>
          <p:spPr>
            <a:xfrm>
              <a:off x="577862" y="1678781"/>
              <a:ext cx="4264819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spcAft>
                  <a:spcPts val="281"/>
                </a:spcAft>
                <a:buNone/>
              </a:pPr>
              <a:r>
                <a:rPr lang="en-US" sz="680" b="1" dirty="0">
                  <a:solidFill>
                    <a:srgbClr val="79C0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f measured — cProfile on original decoder</a:t>
              </a:r>
              <a:endParaRPr lang="en-US" sz="680" dirty="0"/>
            </a:p>
          </p:txBody>
        </p:sp>
        <p:sp>
          <p:nvSpPr>
            <p:cNvPr id="6" name="Shape"/>
            <p:cNvSpPr/>
            <p:nvPr/>
          </p:nvSpPr>
          <p:spPr>
            <a:xfrm>
              <a:off x="579537" y="1843088"/>
              <a:ext cx="821531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en-US" sz="68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Bit-reading: </a:t>
              </a:r>
              <a:pPr algn="l" indent="0" marL="0">
                <a:buNone/>
              </a:pPr>
              <a:r>
                <a:rPr lang="en-US" sz="680" b="1" dirty="0">
                  <a:solidFill>
                    <a:srgbClr val="58A6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27.70%</a:t>
              </a:r>
              <a:endParaRPr lang="en-US" sz="680" dirty="0"/>
            </a:p>
          </p:txBody>
        </p:sp>
        <p:sp>
          <p:nvSpPr>
            <p:cNvPr id="7" name="Shape"/>
            <p:cNvSpPr/>
            <p:nvPr/>
          </p:nvSpPr>
          <p:spPr>
            <a:xfrm>
              <a:off x="1457548" y="1843088"/>
              <a:ext cx="28575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en-US" sz="680" dirty="0">
                  <a:solidFill>
                    <a:srgbClr val="30363D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·</a:t>
              </a:r>
              <a:endParaRPr lang="en-US" sz="680" dirty="0"/>
            </a:p>
          </p:txBody>
        </p:sp>
        <p:sp>
          <p:nvSpPr>
            <p:cNvPr id="8" name="Shape"/>
            <p:cNvSpPr/>
            <p:nvPr/>
          </p:nvSpPr>
          <p:spPr>
            <a:xfrm>
              <a:off x="1541041" y="1843088"/>
              <a:ext cx="728663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en-US" sz="68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Huffman: </a:t>
              </a:r>
              <a:pPr algn="l" indent="0" marL="0">
                <a:buNone/>
              </a:pPr>
              <a:r>
                <a:rPr lang="en-US" sz="680" b="1" dirty="0">
                  <a:solidFill>
                    <a:srgbClr val="58A6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15.85%</a:t>
              </a:r>
              <a:endParaRPr lang="en-US" sz="680" dirty="0"/>
            </a:p>
          </p:txBody>
        </p:sp>
        <p:sp>
          <p:nvSpPr>
            <p:cNvPr id="9" name="Shape"/>
            <p:cNvSpPr/>
            <p:nvPr/>
          </p:nvSpPr>
          <p:spPr>
            <a:xfrm>
              <a:off x="2324621" y="1843088"/>
              <a:ext cx="28575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en-US" sz="680" dirty="0">
                  <a:solidFill>
                    <a:srgbClr val="30363D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·</a:t>
              </a:r>
              <a:endParaRPr lang="en-US" sz="680" dirty="0"/>
            </a:p>
          </p:txBody>
        </p:sp>
        <p:sp>
          <p:nvSpPr>
            <p:cNvPr id="10" name="Shape"/>
            <p:cNvSpPr/>
            <p:nvPr/>
          </p:nvSpPr>
          <p:spPr>
            <a:xfrm>
              <a:off x="2408727" y="1843088"/>
              <a:ext cx="557213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en-US" sz="68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MTF: </a:t>
              </a:r>
              <a:pPr algn="l" indent="0" marL="0">
                <a:buNone/>
              </a:pPr>
              <a:r>
                <a:rPr lang="en-US" sz="680" b="1" dirty="0">
                  <a:solidFill>
                    <a:srgbClr val="FFA65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~10.3%</a:t>
              </a:r>
              <a:endParaRPr lang="en-US" sz="680" dirty="0"/>
            </a:p>
          </p:txBody>
        </p:sp>
      </p:grpSp>
      <p:grpSp>
        <p:nvGrpSpPr>
          <p:cNvPr id="32" name="Group g139"/>
          <p:cNvGrpSpPr/>
          <p:nvPr/>
        </p:nvGrpSpPr>
        <p:grpSpPr>
          <a:xfrm>
            <a:off x="456419" y="2128838"/>
            <a:ext cx="4507706" cy="628650"/>
            <a:chOff x="456419" y="2128838"/>
            <a:chExt cx="4507706" cy="628650"/>
          </a:xfrm>
        </p:grpSpPr>
        <p:sp>
          <p:nvSpPr>
            <p:cNvPr id="11" name="Shape"/>
            <p:cNvSpPr/>
            <p:nvPr/>
          </p:nvSpPr>
          <p:spPr>
            <a:xfrm>
              <a:off x="456419" y="2128838"/>
              <a:ext cx="4507706" cy="628650"/>
            </a:xfrm>
            <a:prstGeom prst="roundRect">
              <a:avLst>
                <a:gd name="adj" fmla="val 11364"/>
              </a:avLst>
            </a:prstGeom>
            <a:solidFill>
              <a:srgbClr val="0D1A2E"/>
            </a:solidFill>
            <a:ln w="7144">
              <a:solidFill>
                <a:srgbClr val="1A3A5C"/>
              </a:solidFill>
              <a:prstDash val="solid"/>
            </a:ln>
          </p:spPr>
        </p:sp>
        <p:sp>
          <p:nvSpPr>
            <p:cNvPr id="12" name="Shape"/>
            <p:cNvSpPr/>
            <p:nvPr/>
          </p:nvSpPr>
          <p:spPr>
            <a:xfrm>
              <a:off x="577862" y="2221706"/>
              <a:ext cx="4264819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spcAft>
                  <a:spcPts val="281"/>
                </a:spcAft>
                <a:buNone/>
              </a:pPr>
              <a:r>
                <a:rPr lang="en-US" sz="680" b="1" dirty="0">
                  <a:solidFill>
                    <a:srgbClr val="79C0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Component (A) — Huffman + bit reader</a:t>
              </a:r>
              <a:endParaRPr lang="en-US" sz="680" dirty="0"/>
            </a:p>
          </p:txBody>
        </p:sp>
        <p:sp>
          <p:nvSpPr>
            <p:cNvPr id="13" name="Shape"/>
            <p:cNvSpPr/>
            <p:nvPr/>
          </p:nvSpPr>
          <p:spPr>
            <a:xfrm>
              <a:off x="577862" y="2386013"/>
              <a:ext cx="4264819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en-US" sz="680" dirty="0">
                  <a:solidFill>
                    <a:srgbClr val="C9D1D9"/>
                  </a:solidFill>
                  <a:latin typeface="monospace" pitchFamily="34" charset="0"/>
                  <a:ea typeface="monospace" pitchFamily="34" charset="-122"/>
                  <a:cs typeface="monospace" pitchFamily="34" charset="-120"/>
                </a:rPr>
                <a:t>f</a:t>
              </a:r>
              <a:pPr algn="l" indent="0" marL="0">
                <a:buNone/>
              </a:pPr>
              <a:r>
                <a:rPr lang="en-US" sz="510" dirty="0">
                  <a:solidFill>
                    <a:srgbClr val="C9D1D9"/>
                  </a:solidFill>
                  <a:latin typeface="monospace" pitchFamily="34" charset="0"/>
                  <a:ea typeface="monospace" pitchFamily="34" charset="-122"/>
                  <a:cs typeface="monospace" pitchFamily="34" charset="-120"/>
                </a:rPr>
                <a:t>A</a:t>
              </a:r>
              <a:pPr algn="l" indent="0" marL="0">
                <a:buNone/>
              </a:pPr>
              <a:r>
                <a:rPr lang="en-US" sz="680" dirty="0">
                  <a:solidFill>
                    <a:srgbClr val="C9D1D9"/>
                  </a:solidFill>
                  <a:latin typeface="monospace" pitchFamily="34" charset="0"/>
                  <a:ea typeface="monospace" pitchFamily="34" charset="-122"/>
                  <a:cs typeface="monospace" pitchFamily="34" charset="-120"/>
                </a:rPr>
                <a:t> = 43.55%  ·  s</a:t>
              </a:r>
              <a:pPr algn="l" indent="0" marL="0">
                <a:buNone/>
              </a:pPr>
              <a:r>
                <a:rPr lang="en-US" sz="510" dirty="0">
                  <a:solidFill>
                    <a:srgbClr val="C9D1D9"/>
                  </a:solidFill>
                  <a:latin typeface="monospace" pitchFamily="34" charset="0"/>
                  <a:ea typeface="monospace" pitchFamily="34" charset="-122"/>
                  <a:cs typeface="monospace" pitchFamily="34" charset="-120"/>
                </a:rPr>
                <a:t>A</a:t>
              </a:r>
              <a:pPr algn="l" indent="0" marL="0">
                <a:buNone/>
              </a:pPr>
              <a:r>
                <a:rPr lang="en-US" sz="680" dirty="0">
                  <a:solidFill>
                    <a:srgbClr val="C9D1D9"/>
                  </a:solidFill>
                  <a:latin typeface="monospace" pitchFamily="34" charset="0"/>
                  <a:ea typeface="monospace" pitchFamily="34" charset="-122"/>
                  <a:cs typeface="monospace" pitchFamily="34" charset="-120"/>
                </a:rPr>
                <a:t> ≈ 3,100×  (500MHz÷8bits/sym=60M sym/s HW · 19.3K sym/s SW)</a:t>
              </a:r>
              <a:endParaRPr lang="en-US" sz="680" dirty="0"/>
            </a:p>
          </p:txBody>
        </p:sp>
        <p:sp>
          <p:nvSpPr>
            <p:cNvPr id="14" name="Shape"/>
            <p:cNvSpPr/>
            <p:nvPr/>
          </p:nvSpPr>
          <p:spPr>
            <a:xfrm>
              <a:off x="577862" y="2536031"/>
              <a:ext cx="4264819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spcBef>
                  <a:spcPts val="169"/>
                </a:spcBef>
                <a:buNone/>
              </a:pPr>
              <a:r>
                <a:rPr lang="en-US" sz="680" dirty="0">
                  <a:solidFill>
                    <a:srgbClr val="C9D1D9"/>
                  </a:solidFill>
                  <a:latin typeface="monospace" pitchFamily="34" charset="0"/>
                  <a:ea typeface="monospace" pitchFamily="34" charset="-122"/>
                  <a:cs typeface="monospace" pitchFamily="34" charset="-120"/>
                </a:rPr>
                <a:t>→ 1/((1−0.4355)+0.4355/3100) ≈ </a:t>
              </a:r>
              <a:pPr algn="l" indent="0" marL="0">
                <a:buNone/>
              </a:pPr>
              <a:r>
                <a:rPr lang="en-US" sz="680" b="1" dirty="0">
                  <a:solidFill>
                    <a:srgbClr val="58A6FF"/>
                  </a:solidFill>
                  <a:latin typeface="monospace" pitchFamily="34" charset="0"/>
                  <a:ea typeface="monospace" pitchFamily="34" charset="-122"/>
                  <a:cs typeface="monospace" pitchFamily="34" charset="-120"/>
                </a:rPr>
                <a:t>1.77×</a:t>
              </a:r>
              <a:endParaRPr lang="en-US" sz="680" dirty="0"/>
            </a:p>
          </p:txBody>
        </p:sp>
      </p:grpSp>
      <p:grpSp>
        <p:nvGrpSpPr>
          <p:cNvPr id="33" name="Group g140"/>
          <p:cNvGrpSpPr/>
          <p:nvPr/>
        </p:nvGrpSpPr>
        <p:grpSpPr>
          <a:xfrm>
            <a:off x="456419" y="2821781"/>
            <a:ext cx="4507706" cy="671513"/>
            <a:chOff x="456419" y="2821781"/>
            <a:chExt cx="4507706" cy="671513"/>
          </a:xfrm>
        </p:grpSpPr>
        <p:sp>
          <p:nvSpPr>
            <p:cNvPr id="15" name="Shape"/>
            <p:cNvSpPr/>
            <p:nvPr/>
          </p:nvSpPr>
          <p:spPr>
            <a:xfrm>
              <a:off x="456419" y="2821781"/>
              <a:ext cx="4507706" cy="671513"/>
            </a:xfrm>
            <a:prstGeom prst="roundRect">
              <a:avLst>
                <a:gd name="adj" fmla="val 10638"/>
              </a:avLst>
            </a:prstGeom>
            <a:solidFill>
              <a:srgbClr val="1A1200"/>
            </a:solidFill>
            <a:ln w="7144">
              <a:solidFill>
                <a:srgbClr val="FFA657"/>
              </a:solidFill>
              <a:prstDash val="solid"/>
            </a:ln>
          </p:spPr>
        </p:sp>
        <p:sp>
          <p:nvSpPr>
            <p:cNvPr id="16" name="Shape"/>
            <p:cNvSpPr/>
            <p:nvPr/>
          </p:nvSpPr>
          <p:spPr>
            <a:xfrm>
              <a:off x="577862" y="2914650"/>
              <a:ext cx="4264819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spcAft>
                  <a:spcPts val="281"/>
                </a:spcAft>
                <a:buNone/>
              </a:pPr>
              <a:r>
                <a:rPr lang="en-US" sz="680" b="1" dirty="0">
                  <a:solidFill>
                    <a:srgbClr val="FFA65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Component (B) — MTF unit added</a:t>
              </a:r>
              <a:endParaRPr lang="en-US" sz="680" dirty="0"/>
            </a:p>
          </p:txBody>
        </p:sp>
        <p:sp>
          <p:nvSpPr>
            <p:cNvPr id="17" name="Shape"/>
            <p:cNvSpPr/>
            <p:nvPr/>
          </p:nvSpPr>
          <p:spPr>
            <a:xfrm>
              <a:off x="577862" y="3078956"/>
              <a:ext cx="4264819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en-US" sz="680" dirty="0">
                  <a:solidFill>
                    <a:srgbClr val="C9D1D9"/>
                  </a:solidFill>
                  <a:latin typeface="monospace" pitchFamily="34" charset="0"/>
                  <a:ea typeface="monospace" pitchFamily="34" charset="-122"/>
                  <a:cs typeface="monospace" pitchFamily="34" charset="-120"/>
                </a:rPr>
                <a:t>f</a:t>
              </a:r>
              <a:pPr algn="l" indent="0" marL="0">
                <a:buNone/>
              </a:pPr>
              <a:r>
                <a:rPr lang="en-US" sz="510" dirty="0">
                  <a:solidFill>
                    <a:srgbClr val="C9D1D9"/>
                  </a:solidFill>
                  <a:latin typeface="monospace" pitchFamily="34" charset="0"/>
                  <a:ea typeface="monospace" pitchFamily="34" charset="-122"/>
                  <a:cs typeface="monospace" pitchFamily="34" charset="-120"/>
                </a:rPr>
                <a:t>A+B</a:t>
              </a:r>
              <a:pPr algn="l" indent="0" marL="0">
                <a:buNone/>
              </a:pPr>
              <a:r>
                <a:rPr lang="en-US" sz="680" dirty="0">
                  <a:solidFill>
                    <a:srgbClr val="C9D1D9"/>
                  </a:solidFill>
                  <a:latin typeface="monospace" pitchFamily="34" charset="0"/>
                  <a:ea typeface="monospace" pitchFamily="34" charset="-122"/>
                  <a:cs typeface="monospace" pitchFamily="34" charset="-120"/>
                </a:rPr>
                <a:t> = 53.85%  ·  s</a:t>
              </a:r>
              <a:pPr algn="l" indent="0" marL="0">
                <a:buNone/>
              </a:pPr>
              <a:r>
                <a:rPr lang="en-US" sz="510" dirty="0">
                  <a:solidFill>
                    <a:srgbClr val="C9D1D9"/>
                  </a:solidFill>
                  <a:latin typeface="monospace" pitchFamily="34" charset="0"/>
                  <a:ea typeface="monospace" pitchFamily="34" charset="-122"/>
                  <a:cs typeface="monospace" pitchFamily="34" charset="-120"/>
                </a:rPr>
                <a:t>B</a:t>
              </a:r>
              <a:pPr algn="l" indent="0" marL="0">
                <a:buNone/>
              </a:pPr>
              <a:r>
                <a:rPr lang="en-US" sz="680" dirty="0">
                  <a:solidFill>
                    <a:srgbClr val="C9D1D9"/>
                  </a:solidFill>
                  <a:latin typeface="monospace" pitchFamily="34" charset="0"/>
                  <a:ea typeface="monospace" pitchFamily="34" charset="-122"/>
                  <a:cs typeface="monospace" pitchFamily="34" charset="-120"/>
                </a:rPr>
                <a:t> ≈ 9,800×  (500MHz×1sym/clk=500M sym/s HW · 51K sym/s SW)</a:t>
              </a:r>
              <a:endParaRPr lang="en-US" sz="680" dirty="0"/>
            </a:p>
          </p:txBody>
        </p:sp>
        <p:sp>
          <p:nvSpPr>
            <p:cNvPr id="18" name="Shape"/>
            <p:cNvSpPr/>
            <p:nvPr/>
          </p:nvSpPr>
          <p:spPr>
            <a:xfrm>
              <a:off x="577862" y="3228975"/>
              <a:ext cx="4264819" cy="171450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spcBef>
                  <a:spcPts val="169"/>
                </a:spcBef>
                <a:buNone/>
              </a:pPr>
              <a:r>
                <a:rPr lang="en-US" sz="680" dirty="0">
                  <a:solidFill>
                    <a:srgbClr val="C9D1D9"/>
                  </a:solidFill>
                  <a:latin typeface="monospace" pitchFamily="34" charset="0"/>
                  <a:ea typeface="monospace" pitchFamily="34" charset="-122"/>
                  <a:cs typeface="monospace" pitchFamily="34" charset="-120"/>
                </a:rPr>
                <a:t>→ 1/((1−0.5385)+0.5385/s) ≈ </a:t>
              </a:r>
              <a:pPr algn="l" indent="0" marL="0">
                <a:buNone/>
              </a:pPr>
              <a:r>
                <a:rPr lang="en-US" sz="900" b="1" dirty="0">
                  <a:solidFill>
                    <a:srgbClr val="3FB950"/>
                  </a:solidFill>
                  <a:latin typeface="monospace" pitchFamily="34" charset="0"/>
                  <a:ea typeface="monospace" pitchFamily="34" charset="-122"/>
                  <a:cs typeface="monospace" pitchFamily="34" charset="-120"/>
                </a:rPr>
                <a:t>~2.16×</a:t>
              </a:r>
              <a:endParaRPr lang="en-US" sz="680" dirty="0"/>
            </a:p>
          </p:txBody>
        </p:sp>
      </p:grpSp>
      <p:grpSp>
        <p:nvGrpSpPr>
          <p:cNvPr id="34" name="Group g141"/>
          <p:cNvGrpSpPr/>
          <p:nvPr/>
        </p:nvGrpSpPr>
        <p:grpSpPr>
          <a:xfrm>
            <a:off x="456419" y="3557588"/>
            <a:ext cx="4507706" cy="578644"/>
            <a:chOff x="456419" y="3557588"/>
            <a:chExt cx="4507706" cy="578644"/>
          </a:xfrm>
        </p:grpSpPr>
        <p:sp>
          <p:nvSpPr>
            <p:cNvPr id="19" name="Shape"/>
            <p:cNvSpPr/>
            <p:nvPr/>
          </p:nvSpPr>
          <p:spPr>
            <a:xfrm>
              <a:off x="456419" y="3557588"/>
              <a:ext cx="4507706" cy="578644"/>
            </a:xfrm>
            <a:prstGeom prst="roundRect">
              <a:avLst>
                <a:gd name="adj" fmla="val 12346"/>
              </a:avLst>
            </a:prstGeom>
            <a:solidFill>
              <a:srgbClr val="0D1117"/>
            </a:solidFill>
            <a:ln w="7144">
              <a:solidFill>
                <a:srgbClr val="30363D"/>
              </a:solidFill>
              <a:prstDash val="solid"/>
            </a:ln>
          </p:spPr>
        </p:sp>
        <p:sp>
          <p:nvSpPr>
            <p:cNvPr id="20" name="Shape"/>
            <p:cNvSpPr/>
            <p:nvPr/>
          </p:nvSpPr>
          <p:spPr>
            <a:xfrm>
              <a:off x="577862" y="3650456"/>
              <a:ext cx="4264819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spcAft>
                  <a:spcPts val="225"/>
                </a:spcAft>
                <a:buNone/>
              </a:pPr>
              <a:r>
                <a:rPr lang="en-US" sz="680" b="1" dirty="0">
                  <a:solidFill>
                    <a:srgbClr val="FFA65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Both s values are huge → result is capped by f, not s</a:t>
              </a:r>
              <a:endParaRPr lang="en-US" sz="680" dirty="0"/>
            </a:p>
          </p:txBody>
        </p:sp>
        <p:sp>
          <p:nvSpPr>
            <p:cNvPr id="21" name="Shape"/>
            <p:cNvSpPr/>
            <p:nvPr/>
          </p:nvSpPr>
          <p:spPr>
            <a:xfrm>
              <a:off x="577862" y="3807619"/>
              <a:ext cx="4264819" cy="235744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s</a:t>
              </a:r>
              <a:pPr algn="l" indent="0" marL="0">
                <a:buNone/>
              </a:pPr>
              <a:r>
                <a:rPr lang="en-US" sz="46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A</a:t>
              </a:r>
              <a:pPr algn="l" indent="0" marL="0"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→∞: 1/(1−0.4355) = </a:t>
              </a:r>
              <a:pPr algn="l" indent="0" marL="0">
                <a:buNone/>
              </a:pPr>
              <a:r>
                <a:rPr lang="en-US" sz="620" b="1" dirty="0">
                  <a:solidFill>
                    <a:srgbClr val="58A6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1.77×</a:t>
              </a:r>
              <a:pPr algn="l" indent="0" marL="0"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(same)  ·  s</a:t>
              </a:r>
              <a:pPr algn="l" indent="0" marL="0">
                <a:buNone/>
              </a:pPr>
              <a:r>
                <a:rPr lang="en-US" sz="46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A+B</a:t>
              </a:r>
              <a:pPr algn="l" indent="0" marL="0"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→∞: 1/(1−0.5385) = </a:t>
              </a:r>
              <a:pPr algn="l" indent="0" marL="0">
                <a:buNone/>
              </a:pPr>
              <a:r>
                <a:rPr lang="en-US" sz="620" b="1" dirty="0">
                  <a:solidFill>
                    <a:srgbClr val="3FB950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~2.16×</a:t>
              </a:r>
              <a:pPr algn="l" indent="0" marL="0"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(same ceiling)  ·  Remaining ~46% (RLE + inverse-BWT) = next stage</a:t>
              </a:r>
              <a:endParaRPr lang="en-US" sz="620" dirty="0"/>
            </a:p>
          </p:txBody>
        </p:sp>
      </p:grpSp>
      <p:grpSp>
        <p:nvGrpSpPr>
          <p:cNvPr id="35" name="Group g142"/>
          <p:cNvGrpSpPr/>
          <p:nvPr/>
        </p:nvGrpSpPr>
        <p:grpSpPr>
          <a:xfrm>
            <a:off x="5221300" y="1325166"/>
            <a:ext cx="3464719" cy="1000125"/>
            <a:chOff x="5221300" y="1325166"/>
            <a:chExt cx="3464719" cy="1000125"/>
          </a:xfrm>
        </p:grpSpPr>
        <p:sp>
          <p:nvSpPr>
            <p:cNvPr id="22" name="Shape"/>
            <p:cNvSpPr/>
            <p:nvPr/>
          </p:nvSpPr>
          <p:spPr>
            <a:xfrm>
              <a:off x="5221300" y="1325166"/>
              <a:ext cx="3464719" cy="1000125"/>
            </a:xfrm>
            <a:prstGeom prst="roundRect">
              <a:avLst>
                <a:gd name="adj" fmla="val 10000"/>
              </a:avLst>
            </a:prstGeom>
            <a:solidFill>
              <a:srgbClr val="0D1A2E"/>
            </a:solidFill>
            <a:ln w="7144">
              <a:solidFill>
                <a:srgbClr val="1A3A5C"/>
              </a:solidFill>
              <a:prstDash val="solid"/>
            </a:ln>
          </p:spPr>
        </p:sp>
        <p:sp>
          <p:nvSpPr>
            <p:cNvPr id="23" name="Shape"/>
            <p:cNvSpPr/>
            <p:nvPr/>
          </p:nvSpPr>
          <p:spPr>
            <a:xfrm>
              <a:off x="5357031" y="1460897"/>
              <a:ext cx="3193256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1013"/>
                </a:lnSpc>
                <a:spcAft>
                  <a:spcPts val="338"/>
                </a:spcAft>
                <a:buNone/>
              </a:pPr>
              <a:r>
                <a:rPr lang="en-US" sz="680" b="1" spc="101" kern="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COMPONENT (A) ALONE</a:t>
              </a:r>
              <a:endParaRPr lang="en-US" sz="680" dirty="0"/>
            </a:p>
          </p:txBody>
        </p:sp>
        <p:sp>
          <p:nvSpPr>
            <p:cNvPr id="24" name="Shape"/>
            <p:cNvSpPr/>
            <p:nvPr/>
          </p:nvSpPr>
          <p:spPr>
            <a:xfrm>
              <a:off x="5357031" y="1632347"/>
              <a:ext cx="3193256" cy="400050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3150"/>
                </a:lnSpc>
                <a:buNone/>
              </a:pPr>
              <a:r>
                <a:rPr lang="en-US" sz="3150" b="1" spc="-112" kern="0" dirty="0">
                  <a:solidFill>
                    <a:srgbClr val="58A6FF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~1.77×</a:t>
              </a:r>
              <a:endParaRPr lang="en-US" sz="3150" dirty="0"/>
            </a:p>
          </p:txBody>
        </p:sp>
        <p:sp>
          <p:nvSpPr>
            <p:cNvPr id="25" name="Shape"/>
            <p:cNvSpPr/>
            <p:nvPr/>
          </p:nvSpPr>
          <p:spPr>
            <a:xfrm>
              <a:off x="5357031" y="2060972"/>
              <a:ext cx="3193256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1013"/>
                </a:lnSpc>
                <a:spcBef>
                  <a:spcPts val="225"/>
                </a:spcBef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Huffman + bit reader · f=43.55%</a:t>
              </a:r>
              <a:endParaRPr lang="en-US" sz="680" dirty="0"/>
            </a:p>
          </p:txBody>
        </p:sp>
      </p:grpSp>
      <p:sp>
        <p:nvSpPr>
          <p:cNvPr id="26" name="Text 24"/>
          <p:cNvSpPr/>
          <p:nvPr/>
        </p:nvSpPr>
        <p:spPr>
          <a:xfrm>
            <a:off x="5221300" y="2396728"/>
            <a:ext cx="3464719" cy="235744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40" b="1" dirty="0">
                <a:solidFill>
                  <a:srgbClr val="3FB950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↓ add MTF</a:t>
            </a:r>
            <a:endParaRPr lang="en-US" sz="1240" dirty="0"/>
          </a:p>
        </p:txBody>
      </p:sp>
      <p:grpSp>
        <p:nvGrpSpPr>
          <p:cNvPr id="36" name="Group g143"/>
          <p:cNvGrpSpPr/>
          <p:nvPr/>
        </p:nvGrpSpPr>
        <p:grpSpPr>
          <a:xfrm>
            <a:off x="5221300" y="2703909"/>
            <a:ext cx="3464719" cy="1114425"/>
            <a:chOff x="5221300" y="2703909"/>
            <a:chExt cx="3464719" cy="1114425"/>
          </a:xfrm>
        </p:grpSpPr>
        <p:sp>
          <p:nvSpPr>
            <p:cNvPr id="27" name="Shape"/>
            <p:cNvSpPr/>
            <p:nvPr/>
          </p:nvSpPr>
          <p:spPr>
            <a:xfrm>
              <a:off x="5221300" y="2703909"/>
              <a:ext cx="3464719" cy="1114425"/>
            </a:xfrm>
            <a:prstGeom prst="roundRect">
              <a:avLst>
                <a:gd name="adj" fmla="val 8974"/>
              </a:avLst>
            </a:prstGeom>
            <a:solidFill>
              <a:srgbClr val="0D2018"/>
            </a:solidFill>
            <a:ln w="7144">
              <a:solidFill>
                <a:srgbClr val="3FB950"/>
              </a:solidFill>
              <a:prstDash val="solid"/>
            </a:ln>
          </p:spPr>
        </p:sp>
        <p:sp>
          <p:nvSpPr>
            <p:cNvPr id="28" name="Shape"/>
            <p:cNvSpPr/>
            <p:nvPr/>
          </p:nvSpPr>
          <p:spPr>
            <a:xfrm>
              <a:off x="5357031" y="2839641"/>
              <a:ext cx="3193256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1013"/>
                </a:lnSpc>
                <a:spcAft>
                  <a:spcPts val="338"/>
                </a:spcAft>
                <a:buNone/>
              </a:pPr>
              <a:r>
                <a:rPr lang="en-US" sz="680" b="1" spc="101" kern="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COMPONENTS (A) + (B)</a:t>
              </a:r>
              <a:endParaRPr lang="en-US" sz="680" dirty="0"/>
            </a:p>
          </p:txBody>
        </p:sp>
        <p:sp>
          <p:nvSpPr>
            <p:cNvPr id="29" name="Shape"/>
            <p:cNvSpPr/>
            <p:nvPr/>
          </p:nvSpPr>
          <p:spPr>
            <a:xfrm>
              <a:off x="5357031" y="3011091"/>
              <a:ext cx="3193256" cy="514350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4050"/>
                </a:lnSpc>
                <a:buNone/>
              </a:pPr>
              <a:r>
                <a:rPr lang="en-US" sz="4050" b="1" spc="-169" kern="0" dirty="0">
                  <a:solidFill>
                    <a:srgbClr val="3FB950"/>
                  </a:solidFill>
                  <a:latin typeface="SF Pro Heavy" pitchFamily="34" charset="0"/>
                  <a:ea typeface="SF Pro Heavy" pitchFamily="34" charset="-122"/>
                  <a:cs typeface="SF Pro Heavy" pitchFamily="34" charset="-120"/>
                </a:rPr>
                <a:t>~2.16×</a:t>
              </a:r>
              <a:endParaRPr lang="en-US" sz="4050" dirty="0"/>
            </a:p>
          </p:txBody>
        </p:sp>
        <p:sp>
          <p:nvSpPr>
            <p:cNvPr id="30" name="Shape"/>
            <p:cNvSpPr/>
            <p:nvPr/>
          </p:nvSpPr>
          <p:spPr>
            <a:xfrm>
              <a:off x="5357031" y="3554016"/>
              <a:ext cx="3193256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 indent="0" marL="0">
                <a:lnSpc>
                  <a:spcPts val="1013"/>
                </a:lnSpc>
                <a:spcBef>
                  <a:spcPts val="225"/>
                </a:spcBef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+ MTF unit · f=53.85%</a:t>
              </a:r>
              <a:endParaRPr lang="en-US" sz="680" dirty="0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962"/>
            <a:ext cx="514350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Aft>
                <a:spcPts val="450"/>
              </a:spcAft>
              <a:buNone/>
            </a:pPr>
            <a:r>
              <a:rPr lang="en-US" sz="680" b="1" spc="101" kern="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ICARUS VERILOG · IVERILOG -G2012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457200" y="663699"/>
            <a:ext cx="5143500" cy="30003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250" b="1" spc="-28" kern="0" dirty="0">
                <a:solidFill>
                  <a:srgbClr val="E6EDF3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RTL Simulation — </a:t>
            </a:r>
            <a:pPr algn="l" indent="0" marL="0">
              <a:buNone/>
            </a:pPr>
            <a:r>
              <a:rPr lang="en-US" sz="2250" b="1" spc="-28" kern="0" dirty="0">
                <a:solidFill>
                  <a:srgbClr val="3FB950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Passes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457200" y="1006599"/>
            <a:ext cx="314325" cy="21431"/>
          </a:xfrm>
          <a:prstGeom prst="roundRect">
            <a:avLst>
              <a:gd name="adj" fmla="val 50001"/>
            </a:avLst>
          </a:prstGeom>
          <a:solidFill>
            <a:srgbClr val="3FB950"/>
          </a:solidFill>
          <a:ln/>
        </p:spPr>
      </p:sp>
      <p:grpSp>
        <p:nvGrpSpPr>
          <p:cNvPr id="16" name="Group g144"/>
          <p:cNvGrpSpPr/>
          <p:nvPr/>
        </p:nvGrpSpPr>
        <p:grpSpPr>
          <a:xfrm>
            <a:off x="457200" y="1185193"/>
            <a:ext cx="5143500" cy="1214438"/>
            <a:chOff x="457200" y="1185193"/>
            <a:chExt cx="5143500" cy="1214438"/>
          </a:xfrm>
        </p:grpSpPr>
        <p:sp>
          <p:nvSpPr>
            <p:cNvPr id="5" name="Shape"/>
            <p:cNvSpPr/>
            <p:nvPr/>
          </p:nvSpPr>
          <p:spPr>
            <a:xfrm>
              <a:off x="457200" y="1185193"/>
              <a:ext cx="5143500" cy="1214438"/>
            </a:xfrm>
            <a:prstGeom prst="roundRect">
              <a:avLst>
                <a:gd name="adj" fmla="val 7059"/>
              </a:avLst>
            </a:prstGeom>
            <a:solidFill>
              <a:srgbClr val="0D2018"/>
            </a:solidFill>
            <a:ln w="7144">
              <a:solidFill>
                <a:srgbClr val="2A5C3A"/>
              </a:solidFill>
              <a:prstDash val="solid"/>
            </a:ln>
          </p:spPr>
        </p:sp>
        <p:sp>
          <p:nvSpPr>
            <p:cNvPr id="6" name="Shape"/>
            <p:cNvSpPr/>
            <p:nvPr/>
          </p:nvSpPr>
          <p:spPr>
            <a:xfrm>
              <a:off x="621506" y="1320924"/>
              <a:ext cx="4814888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spcAft>
                  <a:spcPts val="450"/>
                </a:spcAft>
                <a:buNone/>
              </a:pPr>
              <a:r>
                <a:rPr lang="en-US" sz="680" b="1" spc="101" kern="0" dirty="0">
                  <a:solidFill>
                    <a:srgbClr val="3FB950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COMPONENT (A) — PYFLATE HUFFMAN DECODE ENGINE</a:t>
              </a:r>
              <a:endParaRPr lang="en-US" sz="680" dirty="0"/>
            </a:p>
          </p:txBody>
        </p:sp>
        <p:sp>
          <p:nvSpPr>
            <p:cNvPr id="7" name="Shape"/>
            <p:cNvSpPr/>
            <p:nvPr/>
          </p:nvSpPr>
          <p:spPr>
            <a:xfrm>
              <a:off x="621506" y="1506662"/>
              <a:ext cx="4814888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spcAft>
                  <a:spcPts val="563"/>
                </a:spcAft>
                <a:buNone/>
              </a:pPr>
              <a:r>
                <a:rPr lang="en-US" sz="680" dirty="0">
                  <a:solidFill>
                    <a:srgbClr val="484F58"/>
                  </a:solidFill>
                  <a:latin typeface="SF Mono" pitchFamily="34" charset="0"/>
                  <a:ea typeface="SF Mono" pitchFamily="34" charset="-122"/>
                  <a:cs typeface="SF Mono" pitchFamily="34" charset="-120"/>
                </a:rPr>
                <a:t>iverilog -g2012 -o sim bit_buffer.sv huffman_decoder.sv tb_huffman.sv &amp;&amp; vvp sim</a:t>
              </a:r>
              <a:endParaRPr lang="en-US" sz="680" dirty="0"/>
            </a:p>
          </p:txBody>
        </p:sp>
        <p:sp>
          <p:nvSpPr>
            <p:cNvPr id="8" name="Shape"/>
            <p:cNvSpPr/>
            <p:nvPr/>
          </p:nvSpPr>
          <p:spPr>
            <a:xfrm>
              <a:off x="620502" y="1706687"/>
              <a:ext cx="3364706" cy="371475"/>
            </a:xfrm>
            <a:prstGeom prst="roundRect">
              <a:avLst>
                <a:gd name="adj" fmla="val 15385"/>
              </a:avLst>
            </a:prstGeom>
            <a:solidFill>
              <a:srgbClr val="0A1A10"/>
            </a:solidFill>
            <a:ln w="7144">
              <a:solidFill>
                <a:srgbClr val="3FB950"/>
              </a:solidFill>
              <a:prstDash val="solid"/>
            </a:ln>
          </p:spPr>
          <p:txBody>
            <a:bodyPr wrap="square" lIns="0" tIns="0" rIns="0" bIns="0" rtlCol="0" anchor="ctr">
              <a:spAutoFit/>
            </a:bodyPr>
            <a:lstStyle/>
            <a:p>
              <a:pPr algn="ctr" indent="0" marL="0">
                <a:lnSpc>
                  <a:spcPts val="1688"/>
                </a:lnSpc>
                <a:buNone/>
              </a:pPr>
              <a:r>
                <a:rPr lang="en-US" sz="1130" b="1" dirty="0">
                  <a:solidFill>
                    <a:srgbClr val="3FB950"/>
                  </a:solidFill>
                  <a:latin typeface="SF Mono" pitchFamily="34" charset="0"/>
                  <a:ea typeface="SF Mono" pitchFamily="34" charset="-122"/>
                  <a:cs typeface="SF Mono" pitchFamily="34" charset="-120"/>
                </a:rPr>
                <a:t>TB PASS: decoded {0,2,1} == {0,2,1}</a:t>
              </a:r>
              <a:endParaRPr lang="en-US" sz="1130" dirty="0"/>
            </a:p>
          </p:txBody>
        </p:sp>
        <p:sp>
          <p:nvSpPr>
            <p:cNvPr id="9" name="Shape"/>
            <p:cNvSpPr/>
            <p:nvPr/>
          </p:nvSpPr>
          <p:spPr>
            <a:xfrm>
              <a:off x="621506" y="2135312"/>
              <a:ext cx="4814888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spcBef>
                  <a:spcPts val="450"/>
                </a:spcBef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3-symbol canonical code · hand-built table · verified decode sequence · zero mismatches</a:t>
              </a:r>
              <a:endParaRPr lang="en-US" sz="680" dirty="0"/>
            </a:p>
          </p:txBody>
        </p:sp>
      </p:grpSp>
      <p:grpSp>
        <p:nvGrpSpPr>
          <p:cNvPr id="17" name="Group g145"/>
          <p:cNvGrpSpPr/>
          <p:nvPr/>
        </p:nvGrpSpPr>
        <p:grpSpPr>
          <a:xfrm>
            <a:off x="457200" y="2499643"/>
            <a:ext cx="5143500" cy="1214438"/>
            <a:chOff x="457200" y="2499643"/>
            <a:chExt cx="5143500" cy="1214438"/>
          </a:xfrm>
        </p:grpSpPr>
        <p:sp>
          <p:nvSpPr>
            <p:cNvPr id="10" name="Shape"/>
            <p:cNvSpPr/>
            <p:nvPr/>
          </p:nvSpPr>
          <p:spPr>
            <a:xfrm>
              <a:off x="457200" y="2499643"/>
              <a:ext cx="5143500" cy="1214438"/>
            </a:xfrm>
            <a:prstGeom prst="roundRect">
              <a:avLst>
                <a:gd name="adj" fmla="val 7059"/>
              </a:avLst>
            </a:prstGeom>
            <a:solidFill>
              <a:srgbClr val="1A1200"/>
            </a:solidFill>
            <a:ln w="7144">
              <a:solidFill>
                <a:srgbClr val="FFA657"/>
              </a:solidFill>
              <a:prstDash val="solid"/>
            </a:ln>
          </p:spPr>
        </p:sp>
        <p:sp>
          <p:nvSpPr>
            <p:cNvPr id="11" name="Shape"/>
            <p:cNvSpPr/>
            <p:nvPr/>
          </p:nvSpPr>
          <p:spPr>
            <a:xfrm>
              <a:off x="621506" y="2635374"/>
              <a:ext cx="4814888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spcAft>
                  <a:spcPts val="450"/>
                </a:spcAft>
                <a:buNone/>
              </a:pPr>
              <a:r>
                <a:rPr lang="en-US" sz="680" b="1" spc="101" kern="0" dirty="0">
                  <a:solidFill>
                    <a:srgbClr val="FFA657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COMPONENT (B) — MTF UNIT</a:t>
              </a:r>
              <a:endParaRPr lang="en-US" sz="680" dirty="0"/>
            </a:p>
          </p:txBody>
        </p:sp>
        <p:sp>
          <p:nvSpPr>
            <p:cNvPr id="12" name="Shape"/>
            <p:cNvSpPr/>
            <p:nvPr/>
          </p:nvSpPr>
          <p:spPr>
            <a:xfrm>
              <a:off x="621506" y="2821112"/>
              <a:ext cx="4814888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spcAft>
                  <a:spcPts val="563"/>
                </a:spcAft>
                <a:buNone/>
              </a:pPr>
              <a:r>
                <a:rPr lang="en-US" sz="680" dirty="0">
                  <a:solidFill>
                    <a:srgbClr val="484F58"/>
                  </a:solidFill>
                  <a:latin typeface="SF Mono" pitchFamily="34" charset="0"/>
                  <a:ea typeface="SF Mono" pitchFamily="34" charset="-122"/>
                  <a:cs typeface="SF Mono" pitchFamily="34" charset="-120"/>
                </a:rPr>
                <a:t>iverilog -g2012 -o sim mtf_unit.sv tb_mtf.sv &amp;&amp; vvp sim</a:t>
              </a:r>
              <a:endParaRPr lang="en-US" sz="680" dirty="0"/>
            </a:p>
          </p:txBody>
        </p:sp>
        <p:sp>
          <p:nvSpPr>
            <p:cNvPr id="13" name="Shape"/>
            <p:cNvSpPr/>
            <p:nvPr/>
          </p:nvSpPr>
          <p:spPr>
            <a:xfrm>
              <a:off x="622455" y="3021137"/>
              <a:ext cx="3007519" cy="371475"/>
            </a:xfrm>
            <a:prstGeom prst="roundRect">
              <a:avLst>
                <a:gd name="adj" fmla="val 15385"/>
              </a:avLst>
            </a:prstGeom>
            <a:solidFill>
              <a:srgbClr val="1A0F00"/>
            </a:solidFill>
            <a:ln w="7144">
              <a:solidFill>
                <a:srgbClr val="FFA657"/>
              </a:solidFill>
              <a:prstDash val="solid"/>
            </a:ln>
          </p:spPr>
          <p:txBody>
            <a:bodyPr wrap="square" lIns="0" tIns="0" rIns="0" bIns="0" rtlCol="0" anchor="ctr">
              <a:spAutoFit/>
            </a:bodyPr>
            <a:lstStyle/>
            <a:p>
              <a:pPr algn="ctr" indent="0" marL="0">
                <a:lnSpc>
                  <a:spcPts val="1688"/>
                </a:lnSpc>
                <a:buNone/>
              </a:pPr>
              <a:r>
                <a:rPr lang="en-US" sz="1130" b="1" dirty="0">
                  <a:solidFill>
                    <a:srgbClr val="FFA657"/>
                  </a:solidFill>
                  <a:latin typeface="SF Mono" pitchFamily="34" charset="0"/>
                  <a:ea typeface="SF Mono" pitchFamily="34" charset="-122"/>
                  <a:cs typeface="SF Mono" pitchFamily="34" charset="-120"/>
                </a:rPr>
                <a:t>TB PASS: MTF decoded {30,30,60}</a:t>
              </a:r>
              <a:endParaRPr lang="en-US" sz="1130" dirty="0"/>
            </a:p>
          </p:txBody>
        </p:sp>
        <p:sp>
          <p:nvSpPr>
            <p:cNvPr id="14" name="Shape"/>
            <p:cNvSpPr/>
            <p:nvPr/>
          </p:nvSpPr>
          <p:spPr>
            <a:xfrm>
              <a:off x="621506" y="3449762"/>
              <a:ext cx="4814888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13"/>
                </a:lnSpc>
                <a:spcBef>
                  <a:spcPts val="450"/>
                </a:spcBef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N-entry register file · shift-to-front · 1 symbol/clock · zero allocation · verified output sequence</a:t>
              </a:r>
              <a:endParaRPr lang="en-US" sz="680" dirty="0"/>
            </a:p>
          </p:txBody>
        </p:sp>
      </p:grpSp>
      <p:grpSp>
        <p:nvGrpSpPr>
          <p:cNvPr id="18" name="Group g146"/>
          <p:cNvGrpSpPr/>
          <p:nvPr/>
        </p:nvGrpSpPr>
        <p:grpSpPr>
          <a:xfrm>
            <a:off x="457200" y="3857625"/>
            <a:ext cx="5143500" cy="807244"/>
            <a:chOff x="457200" y="3857625"/>
            <a:chExt cx="5143500" cy="807244"/>
          </a:xfrm>
        </p:grpSpPr>
        <p:sp>
          <p:nvSpPr>
            <p:cNvPr id="15" name="Shape"/>
            <p:cNvSpPr/>
            <p:nvPr/>
          </p:nvSpPr>
          <p:spPr>
            <a:xfrm>
              <a:off x="457200" y="3857625"/>
              <a:ext cx="5143500" cy="807244"/>
            </a:xfrm>
            <a:prstGeom prst="roundRect">
              <a:avLst>
                <a:gd name="adj" fmla="val 8850"/>
              </a:avLst>
            </a:prstGeom>
            <a:solidFill>
              <a:srgbClr val="161B22"/>
            </a:solidFill>
            <a:ln w="7144">
              <a:solidFill>
                <a:srgbClr val="30363D"/>
              </a:solidFill>
              <a:prstDash val="solid"/>
            </a:ln>
          </p:spPr>
          <p:txBody>
            <a:bodyPr wrap="square" lIns="71438" tIns="0" rIns="0" bIns="0" rtlCol="0" anchor="ctr">
              <a:spAutoFit/>
            </a:bodyPr>
            <a:lstStyle/>
            <a:p>
              <a:pPr algn="l" indent="0" marL="0">
                <a:lnSpc>
                  <a:spcPts val="1170"/>
                </a:lnSpc>
                <a:buNone/>
              </a:pPr>
              <a:r>
                <a:rPr lang="en-US" sz="730" b="1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Note on scope:</a:t>
              </a:r>
              <a:pPr algn="l" indent="0" marL="0">
                <a:buNone/>
              </a:pPr>
              <a:r>
                <a:rPr lang="en-US" sz="73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An nbody N-body Processing Element (9-stage pipelined FP datapath, AXI4-Lite + AXI4-Stream, </a:t>
              </a:r>
              <a:pPr algn="l" indent="0" marL="0">
                <a:buNone/>
              </a:pPr>
              <a:r>
                <a:rPr lang="en-US" sz="61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TB PASS: 5 pairs checked, 0 mismatches </a:t>
              </a:r>
              <a:pPr algn="l" indent="0" marL="0">
                <a:buNone/>
              </a:pPr>
              <a:r>
                <a:rPr lang="en-US" sz="73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) was also designed and simulated — archived under </a:t>
              </a:r>
              <a:pPr algn="l" indent="0" marL="0">
                <a:buNone/>
              </a:pPr>
              <a:r>
                <a:rPr lang="en-US" sz="610" dirty="0">
                  <a:solidFill>
                    <a:srgbClr val="79C0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_archive/hardware_nbody/ </a:t>
              </a:r>
              <a:pPr algn="l" indent="0" marL="0">
                <a:buNone/>
              </a:pPr>
              <a:r>
                <a:rPr lang="en-US" sz="73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. Per the project spec, hardware acceleration is required for at least one benchmark; the graded HW deliverable for this submission is the </a:t>
              </a:r>
              <a:pPr algn="l" indent="0" marL="0">
                <a:buNone/>
              </a:pPr>
              <a:r>
                <a:rPr lang="en-US" sz="730" b="1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pyflate Huffman engine</a:t>
              </a:r>
              <a:pPr algn="l" indent="0" marL="0">
                <a:buNone/>
              </a:pPr>
              <a:r>
                <a:rPr lang="en-US" sz="73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.</a:t>
              </a:r>
              <a:endParaRPr lang="en-US" sz="730" dirty="0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90551"/>
            <a:ext cx="822960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80" b="1" spc="101" kern="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FINAL RESULTS · KEY LESSONS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457200" y="1362001"/>
            <a:ext cx="8229600" cy="364331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2869"/>
              </a:lnSpc>
              <a:buNone/>
            </a:pPr>
            <a:r>
              <a:rPr lang="en-US" sz="1910" b="1" spc="-28" kern="0" dirty="0">
                <a:solidFill>
                  <a:srgbClr val="E6EDF3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Results Summary &amp; </a:t>
            </a:r>
            <a:pPr algn="l" indent="0" marL="0">
              <a:buNone/>
            </a:pPr>
            <a:r>
              <a:rPr lang="en-US" sz="1910" b="1" spc="-28" kern="0" dirty="0">
                <a:solidFill>
                  <a:srgbClr val="58A6FF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Takeaways</a:t>
            </a:r>
            <a:endParaRPr lang="en-US" sz="191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4558"/>
          <a:ext cx="8229600" cy="914400"/>
        </p:xfrm>
        <a:graphic>
          <a:graphicData uri="http://schemas.openxmlformats.org/drawingml/2006/table">
            <a:tbl>
              <a:tblPr/>
              <a:tblGrid>
                <a:gridCol w="985391"/>
                <a:gridCol w="1354968"/>
                <a:gridCol w="1231739"/>
                <a:gridCol w="1108621"/>
                <a:gridCol w="14784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7"/>
                        </a:lnSpc>
                        <a:buNone/>
                      </a:pPr>
                      <a:r>
                        <a:rPr lang="en-US" sz="730" b="1" spc="45" kern="0" dirty="0">
                          <a:solidFill>
                            <a:srgbClr val="58A6FF"/>
                          </a:solidFill>
                          <a:highlight>
                            <a:srgbClr val="0D1117"/>
                          </a:highlight>
                          <a:latin typeface="SF Pro Semibold" pitchFamily="34" charset="0"/>
                          <a:ea typeface="SF Pro Semibold" pitchFamily="34" charset="-122"/>
                          <a:cs typeface="SF Pro Semibold" pitchFamily="34" charset="-120"/>
                        </a:rPr>
                        <a:t>BENCHMARK</a:t>
                      </a:r>
                      <a:endParaRPr lang="en-US" sz="730" dirty="0">
                        <a:latin typeface="SF Pro Semibold" charset="0"/>
                        <a:ea typeface="SF Pro Semibold" charset="0"/>
                        <a:cs typeface="SF Pro Semibold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7"/>
                        </a:lnSpc>
                        <a:buNone/>
                      </a:pPr>
                      <a:r>
                        <a:rPr lang="en-US" sz="730" b="1" spc="45" kern="0" dirty="0">
                          <a:solidFill>
                            <a:srgbClr val="58A6FF"/>
                          </a:solidFill>
                          <a:highlight>
                            <a:srgbClr val="0D1117"/>
                          </a:highlight>
                          <a:latin typeface="SF Pro Semibold" pitchFamily="34" charset="0"/>
                          <a:ea typeface="SF Pro Semibold" pitchFamily="34" charset="-122"/>
                          <a:cs typeface="SF Pro Semibold" pitchFamily="34" charset="-120"/>
                        </a:rPr>
                        <a:t>SW OPTIMIZATION</a:t>
                      </a:r>
                      <a:endParaRPr lang="en-US" sz="730" dirty="0">
                        <a:latin typeface="SF Pro Semibold" charset="0"/>
                        <a:ea typeface="SF Pro Semibold" charset="0"/>
                        <a:cs typeface="SF Pro Semibold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7"/>
                        </a:lnSpc>
                        <a:buNone/>
                      </a:pPr>
                      <a:r>
                        <a:rPr lang="en-US" sz="730" b="1" spc="45" kern="0" dirty="0">
                          <a:solidFill>
                            <a:srgbClr val="58A6FF"/>
                          </a:solidFill>
                          <a:highlight>
                            <a:srgbClr val="0D1117"/>
                          </a:highlight>
                          <a:latin typeface="SF Pro Semibold" pitchFamily="34" charset="0"/>
                          <a:ea typeface="SF Pro Semibold" pitchFamily="34" charset="-122"/>
                          <a:cs typeface="SF Pro Semibold" pitchFamily="34" charset="-120"/>
                        </a:rPr>
                        <a:t>SW SPEEDUP</a:t>
                      </a:r>
                      <a:endParaRPr lang="en-US" sz="730" dirty="0">
                        <a:latin typeface="SF Pro Semibold" charset="0"/>
                        <a:ea typeface="SF Pro Semibold" charset="0"/>
                        <a:cs typeface="SF Pro Semibold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7"/>
                        </a:lnSpc>
                        <a:buNone/>
                      </a:pPr>
                      <a:r>
                        <a:rPr lang="en-US" sz="730" b="1" spc="45" kern="0" dirty="0">
                          <a:solidFill>
                            <a:srgbClr val="58A6FF"/>
                          </a:solidFill>
                          <a:highlight>
                            <a:srgbClr val="0D1117"/>
                          </a:highlight>
                          <a:latin typeface="SF Pro Semibold" pitchFamily="34" charset="0"/>
                          <a:ea typeface="SF Pro Semibold" pitchFamily="34" charset="-122"/>
                          <a:cs typeface="SF Pro Semibold" pitchFamily="34" charset="-120"/>
                        </a:rPr>
                        <a:t>VS. 7% TARGET</a:t>
                      </a:r>
                      <a:endParaRPr lang="en-US" sz="730" dirty="0">
                        <a:latin typeface="SF Pro Semibold" charset="0"/>
                        <a:ea typeface="SF Pro Semibold" charset="0"/>
                        <a:cs typeface="SF Pro Semibold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7"/>
                        </a:lnSpc>
                        <a:buNone/>
                      </a:pPr>
                      <a:r>
                        <a:rPr lang="en-US" sz="730" b="1" spc="45" kern="0" dirty="0">
                          <a:solidFill>
                            <a:srgbClr val="58A6FF"/>
                          </a:solidFill>
                          <a:highlight>
                            <a:srgbClr val="0D1117"/>
                          </a:highlight>
                          <a:latin typeface="SF Pro Semibold" pitchFamily="34" charset="0"/>
                          <a:ea typeface="SF Pro Semibold" pitchFamily="34" charset="-122"/>
                          <a:cs typeface="SF Pro Semibold" pitchFamily="34" charset="-120"/>
                        </a:rPr>
                        <a:t>HW STATUS</a:t>
                      </a:r>
                      <a:endParaRPr lang="en-US" sz="730" dirty="0">
                        <a:latin typeface="SF Pro Semibold" charset="0"/>
                        <a:ea typeface="SF Pro Semibold" charset="0"/>
                        <a:cs typeface="SF Pro Semibold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66"/>
                        </a:lnSpc>
                        <a:buNone/>
                      </a:pPr>
                      <a:r>
                        <a:rPr lang="en-US" sz="840" b="1" dirty="0">
                          <a:solidFill>
                            <a:srgbClr val="E6EDF3"/>
                          </a:solidFill>
                          <a:highlight>
                            <a:srgbClr val="0D2018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nbody</a:t>
                      </a:r>
                      <a:endParaRPr lang="en-US" sz="84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1E3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1E3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1E3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1E3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7"/>
                        </a:lnSpc>
                        <a:buNone/>
                      </a:pPr>
                      <a:r>
                        <a:rPr lang="en-US" sz="730" dirty="0">
                          <a:solidFill>
                            <a:srgbClr val="C9D1D9"/>
                          </a:solidFill>
                          <a:highlight>
                            <a:srgbClr val="0D2018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Scalar locals</a:t>
                      </a:r>
                      <a:endParaRPr lang="en-US" sz="73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1E3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1E3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1E3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1E3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56"/>
                        </a:lnSpc>
                        <a:buNone/>
                      </a:pPr>
                      <a:r>
                        <a:rPr lang="en-US" sz="1240" b="1" dirty="0">
                          <a:solidFill>
                            <a:srgbClr val="3FB950"/>
                          </a:solidFill>
                          <a:highlight>
                            <a:srgbClr val="0D2A1A"/>
                          </a:highlight>
                          <a:latin typeface="SF Pro Heavy" pitchFamily="34" charset="0"/>
                          <a:ea typeface="SF Pro Heavy" pitchFamily="34" charset="-122"/>
                          <a:cs typeface="SF Pro Heavy" pitchFamily="34" charset="-120"/>
                        </a:rPr>
                        <a:t>~37%</a:t>
                      </a:r>
                      <a:endParaRPr lang="en-US" sz="1240" dirty="0">
                        <a:latin typeface="SF Pro Heavy" charset="0"/>
                        <a:ea typeface="SF Pro Heavy" charset="0"/>
                        <a:cs typeface="SF Pro Heavy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b="1" dirty="0">
                          <a:solidFill>
                            <a:srgbClr val="3FB950"/>
                          </a:solidFill>
                          <a:highlight>
                            <a:srgbClr val="0D2A1A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5.2× above ✓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13"/>
                        </a:lnSpc>
                        <a:buNone/>
                      </a:pPr>
                      <a:r>
                        <a:rPr lang="en-US" sz="680" dirty="0">
                          <a:solidFill>
                            <a:srgbClr val="8B949E"/>
                          </a:solidFill>
                          <a:highlight>
                            <a:srgbClr val="0D1117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SW only · nbody PE archived</a:t>
                      </a:r>
                      <a:endParaRPr lang="en-US" sz="68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66"/>
                        </a:lnSpc>
                        <a:buNone/>
                      </a:pPr>
                      <a:r>
                        <a:rPr lang="en-US" sz="840" b="1" dirty="0">
                          <a:solidFill>
                            <a:srgbClr val="E6EDF3"/>
                          </a:solidFill>
                          <a:highlight>
                            <a:srgbClr val="0D1A2E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pyflate</a:t>
                      </a:r>
                      <a:endParaRPr lang="en-US" sz="84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1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1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1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1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7"/>
                        </a:lnSpc>
                        <a:buNone/>
                      </a:pPr>
                      <a:r>
                        <a:rPr lang="en-US" sz="730" dirty="0">
                          <a:solidFill>
                            <a:srgbClr val="C9D1D9"/>
                          </a:solidFill>
                          <a:highlight>
                            <a:srgbClr val="0D1A2E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Buf + MTF + LUT</a:t>
                      </a:r>
                      <a:endParaRPr lang="en-US" sz="73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1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1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1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1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56"/>
                        </a:lnSpc>
                        <a:buNone/>
                      </a:pPr>
                      <a:r>
                        <a:rPr lang="en-US" sz="1240" b="1" dirty="0">
                          <a:solidFill>
                            <a:srgbClr val="79C0FF"/>
                          </a:solidFill>
                          <a:highlight>
                            <a:srgbClr val="0D1F3A"/>
                          </a:highlight>
                          <a:latin typeface="SF Pro Heavy" pitchFamily="34" charset="0"/>
                          <a:ea typeface="SF Pro Heavy" pitchFamily="34" charset="-122"/>
                          <a:cs typeface="SF Pro Heavy" pitchFamily="34" charset="-120"/>
                        </a:rPr>
                        <a:t>~33%</a:t>
                      </a:r>
                      <a:endParaRPr lang="en-US" sz="1240" dirty="0">
                        <a:latin typeface="SF Pro Heavy" charset="0"/>
                        <a:ea typeface="SF Pro Heavy" charset="0"/>
                        <a:cs typeface="SF Pro Heavy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81"/>
                        </a:lnSpc>
                        <a:buNone/>
                      </a:pPr>
                      <a:r>
                        <a:rPr lang="en-US" sz="790" b="1" dirty="0">
                          <a:solidFill>
                            <a:srgbClr val="79C0FF"/>
                          </a:solidFill>
                          <a:highlight>
                            <a:srgbClr val="0D1F3A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4.75× above ✓</a:t>
                      </a:r>
                      <a:endParaRPr lang="en-US" sz="79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7"/>
                        </a:lnSpc>
                        <a:buNone/>
                      </a:pPr>
                      <a:r>
                        <a:rPr lang="en-US" sz="730" b="1" dirty="0">
                          <a:solidFill>
                            <a:srgbClr val="3FB950"/>
                          </a:solidFill>
                          <a:highlight>
                            <a:srgbClr val="0D2018"/>
                          </a:highlight>
                          <a:latin typeface="SF Pro" pitchFamily="34" charset="0"/>
                          <a:ea typeface="SF Pro" pitchFamily="34" charset="-122"/>
                          <a:cs typeface="SF Pro" pitchFamily="34" charset="-120"/>
                        </a:rPr>
                        <a:t>2× TB PASS ✓ · ~2.16× est.</a:t>
                      </a:r>
                      <a:endParaRPr lang="en-US" sz="730" dirty="0">
                        <a:latin typeface="SF Pro" charset="0"/>
                        <a:ea typeface="SF Pro" charset="0"/>
                        <a:cs typeface="SF Pro" charset="0"/>
                      </a:endParaRPr>
                    </a:p>
                  </a:txBody>
                  <a:tcPr marL="92869" marR="92869" marT="42863" marB="42863" anchor="ctr">
                    <a:lnL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18"/>
                    </a:solidFill>
                  </a:tcPr>
                </a:tc>
              </a:tr>
            </a:tbl>
          </a:graphicData>
        </a:graphic>
      </p:graphicFrame>
      <p:grpSp>
        <p:nvGrpSpPr>
          <p:cNvPr id="27" name="Group g150"/>
          <p:cNvGrpSpPr/>
          <p:nvPr/>
        </p:nvGrpSpPr>
        <p:grpSpPr>
          <a:xfrm>
            <a:off x="457200" y="2792537"/>
            <a:ext cx="4079081" cy="385763"/>
            <a:chOff x="457200" y="2792537"/>
            <a:chExt cx="4079081" cy="385763"/>
          </a:xfrm>
        </p:grpSpPr>
        <p:sp>
          <p:nvSpPr>
            <p:cNvPr id="5" name="Shape"/>
            <p:cNvSpPr/>
            <p:nvPr/>
          </p:nvSpPr>
          <p:spPr>
            <a:xfrm>
              <a:off x="457200" y="2792537"/>
              <a:ext cx="4079081" cy="385763"/>
            </a:xfrm>
            <a:prstGeom prst="roundRect">
              <a:avLst>
                <a:gd name="adj" fmla="val 14815"/>
              </a:avLst>
            </a:prstGeom>
            <a:solidFill>
              <a:srgbClr val="0D1117"/>
            </a:solidFill>
            <a:ln w="7144">
              <a:solidFill>
                <a:srgbClr val="30363D"/>
              </a:solidFill>
              <a:prstDash val="solid"/>
            </a:ln>
          </p:spPr>
        </p:sp>
        <p:sp>
          <p:nvSpPr>
            <p:cNvPr id="6" name="Shape"/>
            <p:cNvSpPr/>
            <p:nvPr/>
          </p:nvSpPr>
          <p:spPr>
            <a:xfrm>
              <a:off x="564356" y="2858616"/>
              <a:ext cx="3864769" cy="10715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844"/>
                </a:lnSpc>
                <a:spcAft>
                  <a:spcPts val="225"/>
                </a:spcAft>
                <a:buNone/>
              </a:pPr>
              <a:r>
                <a:rPr lang="en-US" sz="560" dirty="0">
                  <a:solidFill>
                    <a:srgbClr val="8B949E"/>
                  </a:solidFill>
                  <a:latin typeface="monospace" pitchFamily="34" charset="0"/>
                  <a:ea typeface="monospace" pitchFamily="34" charset="-122"/>
                  <a:cs typeface="monospace" pitchFamily="34" charset="-120"/>
                </a:rPr>
                <a:t>pyperf compare_to</a:t>
              </a:r>
              <a:endParaRPr lang="en-US" sz="560" dirty="0"/>
            </a:p>
          </p:txBody>
        </p:sp>
        <p:sp>
          <p:nvSpPr>
            <p:cNvPr id="7" name="Shape"/>
            <p:cNvSpPr/>
            <p:nvPr/>
          </p:nvSpPr>
          <p:spPr>
            <a:xfrm>
              <a:off x="564356" y="2992562"/>
              <a:ext cx="3864769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3FB950"/>
                  </a:solidFill>
                  <a:latin typeface="monospace" pitchFamily="34" charset="0"/>
                  <a:ea typeface="monospace" pitchFamily="34" charset="-122"/>
                  <a:cs typeface="monospace" pitchFamily="34" charset="-120"/>
                </a:rPr>
                <a:t>nbody_orig 3.93s → nbody_opt 2.50s : </a:t>
              </a:r>
              <a:pPr algn="l" indent="0" marL="0">
                <a:buNone/>
              </a:pPr>
              <a:r>
                <a:rPr lang="en-US" sz="620" b="1" dirty="0">
                  <a:solidFill>
                    <a:srgbClr val="79C0FF"/>
                  </a:solidFill>
                  <a:latin typeface="monospace" pitchFamily="34" charset="0"/>
                  <a:ea typeface="monospace" pitchFamily="34" charset="-122"/>
                  <a:cs typeface="monospace" pitchFamily="34" charset="-120"/>
                </a:rPr>
                <a:t>1.58x faster</a:t>
              </a:r>
              <a:endParaRPr lang="en-US" sz="620" dirty="0"/>
            </a:p>
          </p:txBody>
        </p:sp>
      </p:grpSp>
      <p:grpSp>
        <p:nvGrpSpPr>
          <p:cNvPr id="28" name="Group g151"/>
          <p:cNvGrpSpPr/>
          <p:nvPr/>
        </p:nvGrpSpPr>
        <p:grpSpPr>
          <a:xfrm>
            <a:off x="4607719" y="2792537"/>
            <a:ext cx="4079081" cy="385763"/>
            <a:chOff x="4607719" y="2792537"/>
            <a:chExt cx="4079081" cy="385763"/>
          </a:xfrm>
        </p:grpSpPr>
        <p:sp>
          <p:nvSpPr>
            <p:cNvPr id="8" name="Shape"/>
            <p:cNvSpPr/>
            <p:nvPr/>
          </p:nvSpPr>
          <p:spPr>
            <a:xfrm>
              <a:off x="4607719" y="2792537"/>
              <a:ext cx="4079081" cy="385763"/>
            </a:xfrm>
            <a:prstGeom prst="roundRect">
              <a:avLst>
                <a:gd name="adj" fmla="val 14815"/>
              </a:avLst>
            </a:prstGeom>
            <a:solidFill>
              <a:srgbClr val="0D1117"/>
            </a:solidFill>
            <a:ln w="7144">
              <a:solidFill>
                <a:srgbClr val="30363D"/>
              </a:solidFill>
              <a:prstDash val="solid"/>
            </a:ln>
          </p:spPr>
        </p:sp>
        <p:sp>
          <p:nvSpPr>
            <p:cNvPr id="9" name="Shape"/>
            <p:cNvSpPr/>
            <p:nvPr/>
          </p:nvSpPr>
          <p:spPr>
            <a:xfrm>
              <a:off x="4714875" y="2858616"/>
              <a:ext cx="3864769" cy="107156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844"/>
                </a:lnSpc>
                <a:spcAft>
                  <a:spcPts val="225"/>
                </a:spcAft>
                <a:buNone/>
              </a:pPr>
              <a:r>
                <a:rPr lang="en-US" sz="560" dirty="0">
                  <a:solidFill>
                    <a:srgbClr val="8B949E"/>
                  </a:solidFill>
                  <a:latin typeface="monospace" pitchFamily="34" charset="0"/>
                  <a:ea typeface="monospace" pitchFamily="34" charset="-122"/>
                  <a:cs typeface="monospace" pitchFamily="34" charset="-120"/>
                </a:rPr>
                <a:t>pyperf compare_to</a:t>
              </a:r>
              <a:endParaRPr lang="en-US" sz="560" dirty="0"/>
            </a:p>
          </p:txBody>
        </p:sp>
        <p:sp>
          <p:nvSpPr>
            <p:cNvPr id="10" name="Shape"/>
            <p:cNvSpPr/>
            <p:nvPr/>
          </p:nvSpPr>
          <p:spPr>
            <a:xfrm>
              <a:off x="4714875" y="2992562"/>
              <a:ext cx="3864769" cy="121444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928"/>
                </a:lnSpc>
                <a:buNone/>
              </a:pPr>
              <a:r>
                <a:rPr lang="en-US" sz="620" dirty="0">
                  <a:solidFill>
                    <a:srgbClr val="79C0FF"/>
                  </a:solidFill>
                  <a:latin typeface="monospace" pitchFamily="34" charset="0"/>
                  <a:ea typeface="monospace" pitchFamily="34" charset="-122"/>
                  <a:cs typeface="monospace" pitchFamily="34" charset="-120"/>
                </a:rPr>
                <a:t>pyflate_orig 17.6s → pyflate_opt 11.7s : </a:t>
              </a:r>
              <a:pPr algn="l" indent="0" marL="0">
                <a:buNone/>
              </a:pPr>
              <a:r>
                <a:rPr lang="en-US" sz="620" b="1" dirty="0">
                  <a:solidFill>
                    <a:srgbClr val="79C0FF"/>
                  </a:solidFill>
                  <a:latin typeface="monospace" pitchFamily="34" charset="0"/>
                  <a:ea typeface="monospace" pitchFamily="34" charset="-122"/>
                  <a:cs typeface="monospace" pitchFamily="34" charset="-120"/>
                </a:rPr>
                <a:t>1.50x faster</a:t>
              </a:r>
              <a:endParaRPr lang="en-US" sz="620" dirty="0"/>
            </a:p>
          </p:txBody>
        </p:sp>
      </p:grpSp>
      <p:grpSp>
        <p:nvGrpSpPr>
          <p:cNvPr id="29" name="Group g152"/>
          <p:cNvGrpSpPr/>
          <p:nvPr/>
        </p:nvGrpSpPr>
        <p:grpSpPr>
          <a:xfrm>
            <a:off x="457200" y="3261066"/>
            <a:ext cx="1993106" cy="692944"/>
            <a:chOff x="457200" y="3261066"/>
            <a:chExt cx="1993106" cy="692944"/>
          </a:xfrm>
        </p:grpSpPr>
        <p:sp>
          <p:nvSpPr>
            <p:cNvPr id="11" name="Shape"/>
            <p:cNvSpPr/>
            <p:nvPr/>
          </p:nvSpPr>
          <p:spPr>
            <a:xfrm>
              <a:off x="457200" y="3261066"/>
              <a:ext cx="1993106" cy="692944"/>
            </a:xfrm>
            <a:prstGeom prst="roundRect">
              <a:avLst>
                <a:gd name="adj" fmla="val 10309"/>
              </a:avLst>
            </a:prstGeom>
            <a:solidFill>
              <a:srgbClr val="0D1A2E"/>
            </a:solidFill>
            <a:ln w="7144">
              <a:solidFill>
                <a:srgbClr val="1A3A5C"/>
              </a:solidFill>
              <a:prstDash val="solid"/>
            </a:ln>
          </p:spPr>
        </p:sp>
        <p:sp>
          <p:nvSpPr>
            <p:cNvPr id="12" name="Shape"/>
            <p:cNvSpPr/>
            <p:nvPr/>
          </p:nvSpPr>
          <p:spPr>
            <a:xfrm>
              <a:off x="571500" y="3362251"/>
              <a:ext cx="142875" cy="214313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688"/>
                </a:lnSpc>
                <a:buNone/>
              </a:pPr>
              <a:r>
                <a:rPr lang="en-US" sz="11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🔬</a:t>
              </a:r>
              <a:endParaRPr lang="en-US" sz="1130" dirty="0"/>
            </a:p>
          </p:txBody>
        </p:sp>
        <p:sp>
          <p:nvSpPr>
            <p:cNvPr id="13" name="Shape"/>
            <p:cNvSpPr/>
            <p:nvPr/>
          </p:nvSpPr>
          <p:spPr>
            <a:xfrm>
              <a:off x="785813" y="3360465"/>
              <a:ext cx="1550194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spcAft>
                  <a:spcPts val="169"/>
                </a:spcAft>
                <a:buNone/>
              </a:pPr>
              <a:r>
                <a:rPr lang="en-US" sz="730" b="1" dirty="0">
                  <a:solidFill>
                    <a:srgbClr val="58A6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Measure first, always</a:t>
              </a:r>
              <a:endParaRPr lang="en-US" sz="730" dirty="0"/>
            </a:p>
          </p:txBody>
        </p:sp>
        <p:sp>
          <p:nvSpPr>
            <p:cNvPr id="14" name="Shape"/>
            <p:cNvSpPr/>
            <p:nvPr/>
          </p:nvSpPr>
          <p:spPr>
            <a:xfrm>
              <a:off x="785813" y="3523599"/>
              <a:ext cx="1550194" cy="328613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866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The sqrt idea seemed right. 2.5% of runtime. Profiler said no. Trust the profiler.</a:t>
              </a:r>
              <a:endParaRPr lang="en-US" sz="620" dirty="0"/>
            </a:p>
          </p:txBody>
        </p:sp>
      </p:grpSp>
      <p:grpSp>
        <p:nvGrpSpPr>
          <p:cNvPr id="30" name="Group g153"/>
          <p:cNvGrpSpPr/>
          <p:nvPr/>
        </p:nvGrpSpPr>
        <p:grpSpPr>
          <a:xfrm>
            <a:off x="2536031" y="3261066"/>
            <a:ext cx="1993106" cy="692944"/>
            <a:chOff x="2536031" y="3261066"/>
            <a:chExt cx="1993106" cy="692944"/>
          </a:xfrm>
        </p:grpSpPr>
        <p:sp>
          <p:nvSpPr>
            <p:cNvPr id="15" name="Shape"/>
            <p:cNvSpPr/>
            <p:nvPr/>
          </p:nvSpPr>
          <p:spPr>
            <a:xfrm>
              <a:off x="2536031" y="3261066"/>
              <a:ext cx="1993106" cy="692944"/>
            </a:xfrm>
            <a:prstGeom prst="roundRect">
              <a:avLst>
                <a:gd name="adj" fmla="val 10309"/>
              </a:avLst>
            </a:prstGeom>
            <a:solidFill>
              <a:srgbClr val="0D1A2E"/>
            </a:solidFill>
            <a:ln w="7144">
              <a:solidFill>
                <a:srgbClr val="1A3A5C"/>
              </a:solidFill>
              <a:prstDash val="solid"/>
            </a:ln>
          </p:spPr>
        </p:sp>
        <p:sp>
          <p:nvSpPr>
            <p:cNvPr id="16" name="Shape"/>
            <p:cNvSpPr/>
            <p:nvPr/>
          </p:nvSpPr>
          <p:spPr>
            <a:xfrm>
              <a:off x="2650331" y="3362251"/>
              <a:ext cx="92869" cy="214313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688"/>
                </a:lnSpc>
                <a:buNone/>
              </a:pPr>
              <a:r>
                <a:rPr lang="en-US" sz="11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⚡</a:t>
              </a:r>
              <a:endParaRPr lang="en-US" sz="1130" dirty="0"/>
            </a:p>
          </p:txBody>
        </p:sp>
        <p:sp>
          <p:nvSpPr>
            <p:cNvPr id="17" name="Shape"/>
            <p:cNvSpPr/>
            <p:nvPr/>
          </p:nvSpPr>
          <p:spPr>
            <a:xfrm>
              <a:off x="2814638" y="3360465"/>
              <a:ext cx="1600200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spcAft>
                  <a:spcPts val="169"/>
                </a:spcAft>
                <a:buNone/>
              </a:pPr>
              <a:r>
                <a:rPr lang="en-US" sz="730" b="1" dirty="0">
                  <a:solidFill>
                    <a:srgbClr val="58A6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SW register allocation</a:t>
              </a:r>
              <a:endParaRPr lang="en-US" sz="730" dirty="0"/>
            </a:p>
          </p:txBody>
        </p:sp>
        <p:sp>
          <p:nvSpPr>
            <p:cNvPr id="18" name="Shape"/>
            <p:cNvSpPr/>
            <p:nvPr/>
          </p:nvSpPr>
          <p:spPr>
            <a:xfrm>
              <a:off x="2814638" y="3523599"/>
              <a:ext cx="1600200" cy="328613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866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LOAD_FAST vs BINARY_SUBSCR. Allocation-free MTF. Same idea: keep hot data out of the heap.</a:t>
              </a:r>
              <a:endParaRPr lang="en-US" sz="620" dirty="0"/>
            </a:p>
          </p:txBody>
        </p:sp>
      </p:grpSp>
      <p:grpSp>
        <p:nvGrpSpPr>
          <p:cNvPr id="31" name="Group g154"/>
          <p:cNvGrpSpPr/>
          <p:nvPr/>
        </p:nvGrpSpPr>
        <p:grpSpPr>
          <a:xfrm>
            <a:off x="4614863" y="3261066"/>
            <a:ext cx="1993106" cy="692944"/>
            <a:chOff x="4614863" y="3261066"/>
            <a:chExt cx="1993106" cy="692944"/>
          </a:xfrm>
        </p:grpSpPr>
        <p:sp>
          <p:nvSpPr>
            <p:cNvPr id="19" name="Shape"/>
            <p:cNvSpPr/>
            <p:nvPr/>
          </p:nvSpPr>
          <p:spPr>
            <a:xfrm>
              <a:off x="4614863" y="3261066"/>
              <a:ext cx="1993106" cy="692944"/>
            </a:xfrm>
            <a:prstGeom prst="roundRect">
              <a:avLst>
                <a:gd name="adj" fmla="val 10309"/>
              </a:avLst>
            </a:prstGeom>
            <a:solidFill>
              <a:srgbClr val="0D1A2E"/>
            </a:solidFill>
            <a:ln w="7144">
              <a:solidFill>
                <a:srgbClr val="1A3A5C"/>
              </a:solidFill>
              <a:prstDash val="solid"/>
            </a:ln>
          </p:spPr>
        </p:sp>
        <p:sp>
          <p:nvSpPr>
            <p:cNvPr id="20" name="Shape"/>
            <p:cNvSpPr/>
            <p:nvPr/>
          </p:nvSpPr>
          <p:spPr>
            <a:xfrm>
              <a:off x="4729163" y="3362251"/>
              <a:ext cx="142875" cy="214313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688"/>
                </a:lnSpc>
                <a:buNone/>
              </a:pPr>
              <a:r>
                <a:rPr lang="en-US" sz="11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💾</a:t>
              </a:r>
              <a:endParaRPr lang="en-US" sz="1130" dirty="0"/>
            </a:p>
          </p:txBody>
        </p:sp>
        <p:sp>
          <p:nvSpPr>
            <p:cNvPr id="21" name="Shape"/>
            <p:cNvSpPr/>
            <p:nvPr/>
          </p:nvSpPr>
          <p:spPr>
            <a:xfrm>
              <a:off x="4943475" y="3360465"/>
              <a:ext cx="1550194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spcAft>
                  <a:spcPts val="169"/>
                </a:spcAft>
                <a:buNone/>
              </a:pPr>
              <a:r>
                <a:rPr lang="en-US" sz="730" b="1" dirty="0">
                  <a:solidFill>
                    <a:srgbClr val="58A6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Amdahl caps the gain</a:t>
              </a:r>
              <a:endParaRPr lang="en-US" sz="730" dirty="0"/>
            </a:p>
          </p:txBody>
        </p:sp>
        <p:sp>
          <p:nvSpPr>
            <p:cNvPr id="22" name="Shape"/>
            <p:cNvSpPr/>
            <p:nvPr/>
          </p:nvSpPr>
          <p:spPr>
            <a:xfrm>
              <a:off x="4943475" y="3523599"/>
              <a:ext cx="1550194" cy="328613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866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f=53.85% → ~2.16× ceiling (Huffman + MTF). Even infinite HW can't beat 1/(1−f). Next: inverse-BWT / RLE.</a:t>
              </a:r>
              <a:endParaRPr lang="en-US" sz="620" dirty="0"/>
            </a:p>
          </p:txBody>
        </p:sp>
      </p:grpSp>
      <p:grpSp>
        <p:nvGrpSpPr>
          <p:cNvPr id="32" name="Group g155"/>
          <p:cNvGrpSpPr/>
          <p:nvPr/>
        </p:nvGrpSpPr>
        <p:grpSpPr>
          <a:xfrm>
            <a:off x="6693694" y="3261066"/>
            <a:ext cx="1993106" cy="692944"/>
            <a:chOff x="6693694" y="3261066"/>
            <a:chExt cx="1993106" cy="692944"/>
          </a:xfrm>
        </p:grpSpPr>
        <p:sp>
          <p:nvSpPr>
            <p:cNvPr id="23" name="Shape"/>
            <p:cNvSpPr/>
            <p:nvPr/>
          </p:nvSpPr>
          <p:spPr>
            <a:xfrm>
              <a:off x="6693694" y="3261066"/>
              <a:ext cx="1993106" cy="692944"/>
            </a:xfrm>
            <a:prstGeom prst="roundRect">
              <a:avLst>
                <a:gd name="adj" fmla="val 10309"/>
              </a:avLst>
            </a:prstGeom>
            <a:solidFill>
              <a:srgbClr val="0D1A2E"/>
            </a:solidFill>
            <a:ln w="7144">
              <a:solidFill>
                <a:srgbClr val="1A3A5C"/>
              </a:solidFill>
              <a:prstDash val="solid"/>
            </a:ln>
          </p:spPr>
        </p:sp>
        <p:sp>
          <p:nvSpPr>
            <p:cNvPr id="24" name="Shape"/>
            <p:cNvSpPr/>
            <p:nvPr/>
          </p:nvSpPr>
          <p:spPr>
            <a:xfrm>
              <a:off x="6807994" y="3362251"/>
              <a:ext cx="142875" cy="214313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688"/>
                </a:lnSpc>
                <a:buNone/>
              </a:pPr>
              <a:r>
                <a:rPr lang="en-US" sz="1130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🔗</a:t>
              </a:r>
              <a:endParaRPr lang="en-US" sz="1130" dirty="0"/>
            </a:p>
          </p:txBody>
        </p:sp>
        <p:sp>
          <p:nvSpPr>
            <p:cNvPr id="25" name="Shape"/>
            <p:cNvSpPr/>
            <p:nvPr/>
          </p:nvSpPr>
          <p:spPr>
            <a:xfrm>
              <a:off x="7022306" y="3360465"/>
              <a:ext cx="1550194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spcAft>
                  <a:spcPts val="169"/>
                </a:spcAft>
                <a:buNone/>
              </a:pPr>
              <a:r>
                <a:rPr lang="en-US" sz="730" b="1" dirty="0">
                  <a:solidFill>
                    <a:srgbClr val="58A6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Co-design payoff</a:t>
              </a:r>
              <a:endParaRPr lang="en-US" sz="730" dirty="0"/>
            </a:p>
          </p:txBody>
        </p:sp>
        <p:sp>
          <p:nvSpPr>
            <p:cNvPr id="26" name="Shape"/>
            <p:cNvSpPr/>
            <p:nvPr/>
          </p:nvSpPr>
          <p:spPr>
            <a:xfrm>
              <a:off x="7022306" y="3523599"/>
              <a:ext cx="1550194" cy="328613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866"/>
                </a:lnSpc>
                <a:buNone/>
              </a:pPr>
              <a:r>
                <a:rPr lang="en-US" sz="62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The same ops hot in Python (bit reads + Huffman) map to a tiny integer FSM. SW and HW tell the same story.</a:t>
              </a:r>
              <a:endParaRPr lang="en-US" sz="620" dirty="0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67991"/>
            <a:ext cx="822960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Aft>
                <a:spcPts val="450"/>
              </a:spcAft>
              <a:buNone/>
            </a:pPr>
            <a:r>
              <a:rPr lang="en-US" sz="680" b="1" spc="101" kern="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SUBMISSION DELIVERABLES · VERSION CONTROL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457200" y="1253728"/>
            <a:ext cx="8229600" cy="385763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030" b="1" spc="-28" kern="0" dirty="0">
                <a:solidFill>
                  <a:srgbClr val="E6EDF3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Git Repo &amp; </a:t>
            </a:r>
            <a:pPr algn="l" indent="0" marL="0">
              <a:buNone/>
            </a:pPr>
            <a:r>
              <a:rPr lang="en-US" sz="2030" b="1" spc="-28" kern="0" dirty="0">
                <a:solidFill>
                  <a:srgbClr val="58A6FF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Documentation</a:t>
            </a:r>
            <a:endParaRPr lang="en-US" sz="2030" dirty="0"/>
          </a:p>
        </p:txBody>
      </p:sp>
      <p:grpSp>
        <p:nvGrpSpPr>
          <p:cNvPr id="30" name="Group g156"/>
          <p:cNvGrpSpPr/>
          <p:nvPr/>
        </p:nvGrpSpPr>
        <p:grpSpPr>
          <a:xfrm>
            <a:off x="458372" y="1752005"/>
            <a:ext cx="2664619" cy="1171575"/>
            <a:chOff x="458372" y="1752005"/>
            <a:chExt cx="2664619" cy="1171575"/>
          </a:xfrm>
        </p:grpSpPr>
        <p:sp>
          <p:nvSpPr>
            <p:cNvPr id="4" name="Shape"/>
            <p:cNvSpPr/>
            <p:nvPr/>
          </p:nvSpPr>
          <p:spPr>
            <a:xfrm>
              <a:off x="458372" y="1752005"/>
              <a:ext cx="2664619" cy="1171575"/>
            </a:xfrm>
            <a:prstGeom prst="roundRect">
              <a:avLst>
                <a:gd name="adj" fmla="val 7317"/>
              </a:avLst>
            </a:prstGeom>
            <a:solidFill>
              <a:srgbClr val="0D1A2E"/>
            </a:solidFill>
            <a:ln w="7144">
              <a:solidFill>
                <a:srgbClr val="1A3A5C"/>
              </a:solidFill>
              <a:prstDash val="solid"/>
            </a:ln>
          </p:spPr>
        </p:sp>
        <p:sp>
          <p:nvSpPr>
            <p:cNvPr id="5" name="Shape"/>
            <p:cNvSpPr/>
            <p:nvPr/>
          </p:nvSpPr>
          <p:spPr>
            <a:xfrm>
              <a:off x="594103" y="1873448"/>
              <a:ext cx="2393156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spcAft>
                  <a:spcPts val="563"/>
                </a:spcAft>
                <a:buNone/>
              </a:pPr>
              <a:r>
                <a:rPr lang="en-US" sz="730" b="1" dirty="0">
                  <a:solidFill>
                    <a:srgbClr val="79C0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📄 Reports</a:t>
              </a:r>
              <a:endParaRPr lang="en-US" sz="730" dirty="0"/>
            </a:p>
          </p:txBody>
        </p:sp>
        <p:sp>
          <p:nvSpPr>
            <p:cNvPr id="6" name="Shape"/>
            <p:cNvSpPr/>
            <p:nvPr/>
          </p:nvSpPr>
          <p:spPr>
            <a:xfrm>
              <a:off x="594103" y="2085975"/>
              <a:ext cx="2393156" cy="257175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850"/>
                </a:lnSpc>
                <a:buNone/>
              </a:pPr>
              <a:r>
                <a:rPr lang="en-US" sz="570" dirty="0">
                  <a:solidFill>
                    <a:srgbClr val="58A6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report_nbody.txt 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— overview, profiling, optimization, HW proposal</a:t>
              </a:r>
              <a:endParaRPr lang="en-US" sz="570" dirty="0"/>
            </a:p>
          </p:txBody>
        </p:sp>
        <p:sp>
          <p:nvSpPr>
            <p:cNvPr id="7" name="Shape"/>
            <p:cNvSpPr/>
            <p:nvPr/>
          </p:nvSpPr>
          <p:spPr>
            <a:xfrm>
              <a:off x="594103" y="2378869"/>
              <a:ext cx="2393156" cy="257175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850"/>
                </a:lnSpc>
                <a:buNone/>
              </a:pPr>
              <a:r>
                <a:rPr lang="en-US" sz="570" dirty="0">
                  <a:solidFill>
                    <a:srgbClr val="58A6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report_pyflate.txt 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— overview, profiling, optimization, HW proposal</a:t>
              </a:r>
              <a:endParaRPr lang="en-US" sz="570" dirty="0"/>
            </a:p>
          </p:txBody>
        </p:sp>
      </p:grpSp>
      <p:grpSp>
        <p:nvGrpSpPr>
          <p:cNvPr id="31" name="Group g157"/>
          <p:cNvGrpSpPr/>
          <p:nvPr/>
        </p:nvGrpSpPr>
        <p:grpSpPr>
          <a:xfrm>
            <a:off x="3239691" y="1752005"/>
            <a:ext cx="2664619" cy="1171575"/>
            <a:chOff x="3239691" y="1752005"/>
            <a:chExt cx="2664619" cy="1171575"/>
          </a:xfrm>
        </p:grpSpPr>
        <p:sp>
          <p:nvSpPr>
            <p:cNvPr id="8" name="Shape"/>
            <p:cNvSpPr/>
            <p:nvPr/>
          </p:nvSpPr>
          <p:spPr>
            <a:xfrm>
              <a:off x="3239691" y="1752005"/>
              <a:ext cx="2664619" cy="1171575"/>
            </a:xfrm>
            <a:prstGeom prst="roundRect">
              <a:avLst>
                <a:gd name="adj" fmla="val 7317"/>
              </a:avLst>
            </a:prstGeom>
            <a:solidFill>
              <a:srgbClr val="0D1A2E"/>
            </a:solidFill>
            <a:ln w="7144">
              <a:solidFill>
                <a:srgbClr val="1A3A5C"/>
              </a:solidFill>
              <a:prstDash val="solid"/>
            </a:ln>
          </p:spPr>
        </p:sp>
        <p:sp>
          <p:nvSpPr>
            <p:cNvPr id="9" name="Shape"/>
            <p:cNvSpPr/>
            <p:nvPr/>
          </p:nvSpPr>
          <p:spPr>
            <a:xfrm>
              <a:off x="3375422" y="1873448"/>
              <a:ext cx="2393156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spcAft>
                  <a:spcPts val="563"/>
                </a:spcAft>
                <a:buNone/>
              </a:pPr>
              <a:r>
                <a:rPr lang="en-US" sz="730" b="1" dirty="0">
                  <a:solidFill>
                    <a:srgbClr val="79C0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🔧 Scripts</a:t>
              </a:r>
              <a:endParaRPr lang="en-US" sz="730" dirty="0"/>
            </a:p>
          </p:txBody>
        </p:sp>
        <p:sp>
          <p:nvSpPr>
            <p:cNvPr id="10" name="Shape"/>
            <p:cNvSpPr/>
            <p:nvPr/>
          </p:nvSpPr>
          <p:spPr>
            <a:xfrm>
              <a:off x="3375422" y="2085975"/>
              <a:ext cx="2393156" cy="257175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850"/>
                </a:lnSpc>
                <a:buNone/>
              </a:pPr>
              <a:r>
                <a:rPr lang="en-US" sz="570" dirty="0">
                  <a:solidFill>
                    <a:srgbClr val="58A6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script_nbody.sh 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— setup, baseline, profile, optimize, compare</a:t>
              </a:r>
              <a:endParaRPr lang="en-US" sz="570" dirty="0"/>
            </a:p>
          </p:txBody>
        </p:sp>
        <p:sp>
          <p:nvSpPr>
            <p:cNvPr id="11" name="Shape"/>
            <p:cNvSpPr/>
            <p:nvPr/>
          </p:nvSpPr>
          <p:spPr>
            <a:xfrm>
              <a:off x="3375422" y="2378869"/>
              <a:ext cx="2393156" cy="257175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850"/>
                </a:lnSpc>
                <a:buNone/>
              </a:pPr>
              <a:r>
                <a:rPr lang="en-US" sz="570" dirty="0">
                  <a:solidFill>
                    <a:srgbClr val="58A6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script_pyflate.sh 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— setup, baseline, profile, optimize, compare</a:t>
              </a:r>
              <a:endParaRPr lang="en-US" sz="570" dirty="0"/>
            </a:p>
          </p:txBody>
        </p:sp>
        <p:sp>
          <p:nvSpPr>
            <p:cNvPr id="12" name="Shape"/>
            <p:cNvSpPr/>
            <p:nvPr/>
          </p:nvSpPr>
          <p:spPr>
            <a:xfrm>
              <a:off x="3375422" y="2671763"/>
              <a:ext cx="2393156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850"/>
                </a:lnSpc>
                <a:buNone/>
              </a:pPr>
              <a:r>
                <a:rPr lang="en-US" sz="570" dirty="0">
                  <a:solidFill>
                    <a:srgbClr val="58A6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00_setup.sh 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— one-time QEMU guest environment setup</a:t>
              </a:r>
              <a:endParaRPr lang="en-US" sz="570" dirty="0"/>
            </a:p>
          </p:txBody>
        </p:sp>
      </p:grpSp>
      <p:grpSp>
        <p:nvGrpSpPr>
          <p:cNvPr id="32" name="Group g158"/>
          <p:cNvGrpSpPr/>
          <p:nvPr/>
        </p:nvGrpSpPr>
        <p:grpSpPr>
          <a:xfrm>
            <a:off x="6021009" y="1752005"/>
            <a:ext cx="2664619" cy="1171575"/>
            <a:chOff x="6021009" y="1752005"/>
            <a:chExt cx="2664619" cy="1171575"/>
          </a:xfrm>
        </p:grpSpPr>
        <p:sp>
          <p:nvSpPr>
            <p:cNvPr id="13" name="Shape"/>
            <p:cNvSpPr/>
            <p:nvPr/>
          </p:nvSpPr>
          <p:spPr>
            <a:xfrm>
              <a:off x="6021009" y="1752005"/>
              <a:ext cx="2664619" cy="1171575"/>
            </a:xfrm>
            <a:prstGeom prst="roundRect">
              <a:avLst>
                <a:gd name="adj" fmla="val 7317"/>
              </a:avLst>
            </a:prstGeom>
            <a:solidFill>
              <a:srgbClr val="0D1A2E"/>
            </a:solidFill>
            <a:ln w="7144">
              <a:solidFill>
                <a:srgbClr val="1A3A5C"/>
              </a:solidFill>
              <a:prstDash val="solid"/>
            </a:ln>
          </p:spPr>
        </p:sp>
        <p:sp>
          <p:nvSpPr>
            <p:cNvPr id="14" name="Shape"/>
            <p:cNvSpPr/>
            <p:nvPr/>
          </p:nvSpPr>
          <p:spPr>
            <a:xfrm>
              <a:off x="6156740" y="1873448"/>
              <a:ext cx="2393156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spcAft>
                  <a:spcPts val="563"/>
                </a:spcAft>
                <a:buNone/>
              </a:pPr>
              <a:r>
                <a:rPr lang="en-US" sz="730" b="1" dirty="0">
                  <a:solidFill>
                    <a:srgbClr val="79C0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💾 Hardware</a:t>
              </a:r>
              <a:endParaRPr lang="en-US" sz="730" dirty="0"/>
            </a:p>
          </p:txBody>
        </p:sp>
        <p:sp>
          <p:nvSpPr>
            <p:cNvPr id="15" name="Shape"/>
            <p:cNvSpPr/>
            <p:nvPr/>
          </p:nvSpPr>
          <p:spPr>
            <a:xfrm>
              <a:off x="6156740" y="2085975"/>
              <a:ext cx="2393156" cy="257175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850"/>
                </a:lnSpc>
                <a:buNone/>
              </a:pPr>
              <a:r>
                <a:rPr lang="en-US" sz="570" dirty="0">
                  <a:solidFill>
                    <a:srgbClr val="58A6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hardware/pyflate/ 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— bit_buffer.sv, huffman_decoder.sv, huffman_accel.sv, tb_huffman.sv</a:t>
              </a:r>
              <a:endParaRPr lang="en-US" sz="570" dirty="0"/>
            </a:p>
          </p:txBody>
        </p:sp>
        <p:sp>
          <p:nvSpPr>
            <p:cNvPr id="16" name="Shape"/>
            <p:cNvSpPr/>
            <p:nvPr/>
          </p:nvSpPr>
          <p:spPr>
            <a:xfrm>
              <a:off x="6156740" y="2378869"/>
              <a:ext cx="2393156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850"/>
                </a:lnSpc>
                <a:buNone/>
              </a:pPr>
              <a:r>
                <a:rPr lang="en-US" sz="570" dirty="0">
                  <a:solidFill>
                    <a:srgbClr val="FFA657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hardware/pyflate/ 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— mtf_unit.sv, tb_mtf.sv</a:t>
              </a:r>
              <a:endParaRPr lang="en-US" sz="570" dirty="0"/>
            </a:p>
          </p:txBody>
        </p:sp>
        <p:sp>
          <p:nvSpPr>
            <p:cNvPr id="17" name="Shape"/>
            <p:cNvSpPr/>
            <p:nvPr/>
          </p:nvSpPr>
          <p:spPr>
            <a:xfrm>
              <a:off x="6156740" y="2543175"/>
              <a:ext cx="2393156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850"/>
                </a:lnSpc>
                <a:buNone/>
              </a:pPr>
              <a:r>
                <a:rPr lang="en-US" sz="570" dirty="0">
                  <a:solidFill>
                    <a:srgbClr val="58A6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_archive/hardware_nbody/ 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— nbody PE (archived)</a:t>
              </a:r>
              <a:endParaRPr lang="en-US" sz="570" dirty="0"/>
            </a:p>
          </p:txBody>
        </p:sp>
      </p:grpSp>
      <p:grpSp>
        <p:nvGrpSpPr>
          <p:cNvPr id="33" name="Group g159"/>
          <p:cNvGrpSpPr/>
          <p:nvPr/>
        </p:nvGrpSpPr>
        <p:grpSpPr>
          <a:xfrm>
            <a:off x="458372" y="3020020"/>
            <a:ext cx="2664619" cy="1057275"/>
            <a:chOff x="458372" y="3020020"/>
            <a:chExt cx="2664619" cy="1057275"/>
          </a:xfrm>
        </p:grpSpPr>
        <p:sp>
          <p:nvSpPr>
            <p:cNvPr id="18" name="Shape"/>
            <p:cNvSpPr/>
            <p:nvPr/>
          </p:nvSpPr>
          <p:spPr>
            <a:xfrm>
              <a:off x="458372" y="3020020"/>
              <a:ext cx="2664619" cy="1057275"/>
            </a:xfrm>
            <a:prstGeom prst="roundRect">
              <a:avLst>
                <a:gd name="adj" fmla="val 8108"/>
              </a:avLst>
            </a:prstGeom>
            <a:solidFill>
              <a:srgbClr val="0D2018"/>
            </a:solidFill>
            <a:ln w="7144">
              <a:solidFill>
                <a:srgbClr val="2A5C3A"/>
              </a:solidFill>
              <a:prstDash val="solid"/>
            </a:ln>
          </p:spPr>
        </p:sp>
        <p:sp>
          <p:nvSpPr>
            <p:cNvPr id="19" name="Shape"/>
            <p:cNvSpPr/>
            <p:nvPr/>
          </p:nvSpPr>
          <p:spPr>
            <a:xfrm>
              <a:off x="594103" y="3141464"/>
              <a:ext cx="2393156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spcAft>
                  <a:spcPts val="563"/>
                </a:spcAft>
                <a:buNone/>
              </a:pPr>
              <a:r>
                <a:rPr lang="en-US" sz="730" b="1" dirty="0">
                  <a:solidFill>
                    <a:srgbClr val="3FB950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📋 README.md</a:t>
              </a:r>
              <a:endParaRPr lang="en-US" sz="730" dirty="0"/>
            </a:p>
          </p:txBody>
        </p:sp>
        <p:sp>
          <p:nvSpPr>
            <p:cNvPr id="20" name="Shape"/>
            <p:cNvSpPr/>
            <p:nvPr/>
          </p:nvSpPr>
          <p:spPr>
            <a:xfrm>
              <a:off x="594103" y="3355330"/>
              <a:ext cx="2393156" cy="271463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1080"/>
                </a:lnSpc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Repository structure · how to run each script · how to reproduce results · environment requirements</a:t>
              </a:r>
              <a:endParaRPr lang="en-US" sz="680" dirty="0"/>
            </a:p>
          </p:txBody>
        </p:sp>
      </p:grpSp>
      <p:grpSp>
        <p:nvGrpSpPr>
          <p:cNvPr id="34" name="Group g160"/>
          <p:cNvGrpSpPr/>
          <p:nvPr/>
        </p:nvGrpSpPr>
        <p:grpSpPr>
          <a:xfrm>
            <a:off x="3239691" y="3020020"/>
            <a:ext cx="2664619" cy="1057275"/>
            <a:chOff x="3239691" y="3020020"/>
            <a:chExt cx="2664619" cy="1057275"/>
          </a:xfrm>
        </p:grpSpPr>
        <p:sp>
          <p:nvSpPr>
            <p:cNvPr id="21" name="Shape"/>
            <p:cNvSpPr/>
            <p:nvPr/>
          </p:nvSpPr>
          <p:spPr>
            <a:xfrm>
              <a:off x="3239691" y="3020020"/>
              <a:ext cx="2664619" cy="1057275"/>
            </a:xfrm>
            <a:prstGeom prst="roundRect">
              <a:avLst>
                <a:gd name="adj" fmla="val 8108"/>
              </a:avLst>
            </a:prstGeom>
            <a:solidFill>
              <a:srgbClr val="0D1117"/>
            </a:solidFill>
            <a:ln w="7144">
              <a:solidFill>
                <a:srgbClr val="30363D"/>
              </a:solidFill>
              <a:prstDash val="solid"/>
            </a:ln>
          </p:spPr>
        </p:sp>
        <p:sp>
          <p:nvSpPr>
            <p:cNvPr id="22" name="Shape"/>
            <p:cNvSpPr/>
            <p:nvPr/>
          </p:nvSpPr>
          <p:spPr>
            <a:xfrm>
              <a:off x="3375422" y="3141464"/>
              <a:ext cx="2393156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spcAft>
                  <a:spcPts val="563"/>
                </a:spcAft>
                <a:buNone/>
              </a:pPr>
              <a:r>
                <a:rPr lang="en-US" sz="730" b="1" dirty="0">
                  <a:solidFill>
                    <a:srgbClr val="C9D1D9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🤖 prompt.txt</a:t>
              </a:r>
              <a:endParaRPr lang="en-US" sz="730" dirty="0"/>
            </a:p>
          </p:txBody>
        </p:sp>
        <p:sp>
          <p:nvSpPr>
            <p:cNvPr id="23" name="Shape"/>
            <p:cNvSpPr/>
            <p:nvPr/>
          </p:nvSpPr>
          <p:spPr>
            <a:xfrm>
              <a:off x="3375422" y="3355330"/>
              <a:ext cx="2393156" cy="271463"/>
            </a:xfrm>
            <a:prstGeom prst="rect">
              <a:avLst/>
            </a:prstGeom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l" indent="0" marL="0">
                <a:lnSpc>
                  <a:spcPts val="1080"/>
                </a:lnSpc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All AI tool prompts used (ChatGPT, GitHub Copilot) — required submission condition per the project spec</a:t>
              </a:r>
              <a:endParaRPr lang="en-US" sz="680" dirty="0"/>
            </a:p>
          </p:txBody>
        </p:sp>
      </p:grpSp>
      <p:grpSp>
        <p:nvGrpSpPr>
          <p:cNvPr id="35" name="Group g161"/>
          <p:cNvGrpSpPr/>
          <p:nvPr/>
        </p:nvGrpSpPr>
        <p:grpSpPr>
          <a:xfrm>
            <a:off x="6021009" y="3020020"/>
            <a:ext cx="2664619" cy="1057275"/>
            <a:chOff x="6021009" y="3020020"/>
            <a:chExt cx="2664619" cy="1057275"/>
          </a:xfrm>
        </p:grpSpPr>
        <p:sp>
          <p:nvSpPr>
            <p:cNvPr id="24" name="Shape"/>
            <p:cNvSpPr/>
            <p:nvPr/>
          </p:nvSpPr>
          <p:spPr>
            <a:xfrm>
              <a:off x="6021009" y="3020020"/>
              <a:ext cx="2664619" cy="1057275"/>
            </a:xfrm>
            <a:prstGeom prst="roundRect">
              <a:avLst>
                <a:gd name="adj" fmla="val 8108"/>
              </a:avLst>
            </a:prstGeom>
            <a:solidFill>
              <a:srgbClr val="0D1A2E"/>
            </a:solidFill>
            <a:ln w="7144">
              <a:solidFill>
                <a:srgbClr val="1A3A5C"/>
              </a:solidFill>
              <a:prstDash val="solid"/>
            </a:ln>
          </p:spPr>
        </p:sp>
        <p:sp>
          <p:nvSpPr>
            <p:cNvPr id="25" name="Shape"/>
            <p:cNvSpPr/>
            <p:nvPr/>
          </p:nvSpPr>
          <p:spPr>
            <a:xfrm>
              <a:off x="6156740" y="3141464"/>
              <a:ext cx="2393156" cy="142875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1097"/>
                </a:lnSpc>
                <a:spcAft>
                  <a:spcPts val="563"/>
                </a:spcAft>
                <a:buNone/>
              </a:pPr>
              <a:r>
                <a:rPr lang="en-US" sz="730" b="1" dirty="0">
                  <a:solidFill>
                    <a:srgbClr val="79C0FF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📊 Results</a:t>
              </a:r>
              <a:endParaRPr lang="en-US" sz="730" dirty="0"/>
            </a:p>
          </p:txBody>
        </p:sp>
        <p:sp>
          <p:nvSpPr>
            <p:cNvPr id="26" name="Shape"/>
            <p:cNvSpPr/>
            <p:nvPr/>
          </p:nvSpPr>
          <p:spPr>
            <a:xfrm>
              <a:off x="6156740" y="3353991"/>
              <a:ext cx="2393156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850"/>
                </a:lnSpc>
                <a:buNone/>
              </a:pPr>
              <a:r>
                <a:rPr lang="en-US" sz="570" dirty="0">
                  <a:solidFill>
                    <a:srgbClr val="58A6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results/nbody_compare.txt </a:t>
              </a:r>
              <a:endParaRPr lang="en-US" sz="570" dirty="0"/>
            </a:p>
          </p:txBody>
        </p:sp>
        <p:sp>
          <p:nvSpPr>
            <p:cNvPr id="27" name="Shape"/>
            <p:cNvSpPr/>
            <p:nvPr/>
          </p:nvSpPr>
          <p:spPr>
            <a:xfrm>
              <a:off x="6156740" y="3511153"/>
              <a:ext cx="2393156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850"/>
                </a:lnSpc>
                <a:buNone/>
              </a:pPr>
              <a:r>
                <a:rPr lang="en-US" sz="570" dirty="0">
                  <a:solidFill>
                    <a:srgbClr val="58A6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results/pyflate_compare.txt </a:t>
              </a:r>
              <a:endParaRPr lang="en-US" sz="570" dirty="0"/>
            </a:p>
          </p:txBody>
        </p:sp>
        <p:sp>
          <p:nvSpPr>
            <p:cNvPr id="28" name="Shape"/>
            <p:cNvSpPr/>
            <p:nvPr/>
          </p:nvSpPr>
          <p:spPr>
            <a:xfrm>
              <a:off x="6156740" y="3668316"/>
              <a:ext cx="2393156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850"/>
                </a:lnSpc>
                <a:buNone/>
              </a:pPr>
              <a:r>
                <a:rPr lang="en-US" sz="570" dirty="0">
                  <a:solidFill>
                    <a:srgbClr val="58A6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results/nbody_correctness.txt </a:t>
              </a:r>
              <a:endParaRPr lang="en-US" sz="570" dirty="0"/>
            </a:p>
          </p:txBody>
        </p:sp>
        <p:sp>
          <p:nvSpPr>
            <p:cNvPr id="29" name="Shape"/>
            <p:cNvSpPr/>
            <p:nvPr/>
          </p:nvSpPr>
          <p:spPr>
            <a:xfrm>
              <a:off x="6156740" y="3825478"/>
              <a:ext cx="2393156" cy="128588"/>
            </a:xfrm>
            <a:prstGeom prst="rect">
              <a:avLst/>
            </a:prstGeom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l" indent="0" marL="0">
                <a:lnSpc>
                  <a:spcPts val="850"/>
                </a:lnSpc>
                <a:buNone/>
              </a:pPr>
              <a:r>
                <a:rPr lang="en-US" sz="570" dirty="0">
                  <a:solidFill>
                    <a:srgbClr val="58A6FF"/>
                  </a:solidFill>
                  <a:highlight>
                    <a:srgbClr val="161B22"/>
                  </a:highlight>
                  <a:latin typeface="SF Mono" pitchFamily="34" charset="0"/>
                  <a:ea typeface="SF Mono" pitchFamily="34" charset="-122"/>
                  <a:cs typeface="SF Mono" pitchFamily="34" charset="-120"/>
                </a:rPr>
                <a:t>results/*.svg </a:t>
              </a:r>
              <a:pPr algn="l" indent="0" marL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SF Pro" pitchFamily="34" charset="0"/>
                  <a:ea typeface="SF Pro" pitchFamily="34" charset="-122"/>
                  <a:cs typeface="SF Pro" pitchFamily="34" charset="-120"/>
                </a:rPr>
                <a:t> — flame graphs</a:t>
              </a:r>
              <a:endParaRPr lang="en-US" sz="570" dirty="0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38070"/>
            <a:ext cx="4857750" cy="421481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3307"/>
              </a:lnSpc>
              <a:spcAft>
                <a:spcPts val="563"/>
              </a:spcAft>
              <a:buNone/>
            </a:pPr>
            <a:r>
              <a:rPr lang="en-US" sz="3150" b="1" spc="-84" kern="0" dirty="0">
                <a:solidFill>
                  <a:srgbClr val="E6EDF3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Thank You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457200" y="1930264"/>
            <a:ext cx="4857750" cy="30003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2363"/>
              </a:lnSpc>
              <a:spcAft>
                <a:spcPts val="1125"/>
              </a:spcAft>
              <a:buNone/>
            </a:pPr>
            <a:r>
              <a:rPr lang="en-US" sz="1580" b="1" dirty="0">
                <a:solidFill>
                  <a:srgbClr val="58A6FF"/>
                </a:solidFill>
                <a:latin typeface="SF Pro Semibold" pitchFamily="34" charset="0"/>
                <a:ea typeface="SF Pro Semibold" pitchFamily="34" charset="-122"/>
                <a:cs typeface="SF Pro Semibold" pitchFamily="34" charset="-120"/>
              </a:rPr>
              <a:t>Questions?</a:t>
            </a:r>
            <a:endParaRPr lang="en-US" sz="1580" dirty="0"/>
          </a:p>
        </p:txBody>
      </p:sp>
      <p:sp>
        <p:nvSpPr>
          <p:cNvPr id="4" name="Shape 2"/>
          <p:cNvSpPr/>
          <p:nvPr/>
        </p:nvSpPr>
        <p:spPr>
          <a:xfrm>
            <a:off x="457200" y="2373176"/>
            <a:ext cx="342900" cy="21431"/>
          </a:xfrm>
          <a:prstGeom prst="roundRect">
            <a:avLst>
              <a:gd name="adj" fmla="val 50001"/>
            </a:avLst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455916" y="2564271"/>
            <a:ext cx="1457325" cy="257175"/>
          </a:xfrm>
          <a:prstGeom prst="roundRect">
            <a:avLst>
              <a:gd name="adj" fmla="val 50000"/>
            </a:avLst>
          </a:prstGeom>
          <a:solidFill>
            <a:srgbClr val="0D1117">
              <a:alpha val="75000"/>
            </a:srgbClr>
          </a:solidFill>
          <a:ln w="7144">
            <a:solidFill>
              <a:srgbClr val="30363D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730" dirty="0">
                <a:solidFill>
                  <a:srgbClr val="C9D1D9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nbody: 1.58× / ~37% faster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1983172" y="2564271"/>
            <a:ext cx="1485900" cy="257175"/>
          </a:xfrm>
          <a:prstGeom prst="roundRect">
            <a:avLst>
              <a:gd name="adj" fmla="val 50000"/>
            </a:avLst>
          </a:prstGeom>
          <a:solidFill>
            <a:srgbClr val="0D1117">
              <a:alpha val="75000"/>
            </a:srgbClr>
          </a:solidFill>
          <a:ln w="7144">
            <a:solidFill>
              <a:srgbClr val="30363D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730" dirty="0">
                <a:solidFill>
                  <a:srgbClr val="C9D1D9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pyflate: 1.50× / ~33% faster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3539058" y="2564271"/>
            <a:ext cx="1571625" cy="257175"/>
          </a:xfrm>
          <a:prstGeom prst="roundRect">
            <a:avLst>
              <a:gd name="adj" fmla="val 50000"/>
            </a:avLst>
          </a:prstGeom>
          <a:solidFill>
            <a:srgbClr val="0D1117">
              <a:alpha val="75000"/>
            </a:srgbClr>
          </a:solidFill>
          <a:ln w="7144">
            <a:solidFill>
              <a:srgbClr val="30363D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730" dirty="0">
                <a:solidFill>
                  <a:srgbClr val="C9D1D9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HW: 2× TB PASS · ~2.16× est.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456474" y="2889312"/>
            <a:ext cx="807244" cy="257175"/>
          </a:xfrm>
          <a:prstGeom prst="roundRect">
            <a:avLst>
              <a:gd name="adj" fmla="val 50000"/>
            </a:avLst>
          </a:prstGeom>
          <a:solidFill>
            <a:srgbClr val="0D1117">
              <a:alpha val="75000"/>
            </a:srgbClr>
          </a:solidFill>
          <a:ln w="7144">
            <a:solidFill>
              <a:srgbClr val="30363D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730" dirty="0">
                <a:solidFill>
                  <a:srgbClr val="C9D1D9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Both ≥7% ✓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457200" y="3346066"/>
            <a:ext cx="4857750" cy="35718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790" dirty="0">
                <a:solidFill>
                  <a:srgbClr val="484F58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Backup slides available:</a:t>
            </a:r>
            <a:pPr algn="l" indent="0" marL="0">
              <a:buNone/>
            </a:pPr>
            <a:r>
              <a:rPr lang="en-US" sz="79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 full code diffs · perf report tables · cProfile raw output · nbody archived PE design</a:t>
            </a:r>
            <a:endParaRPr lang="en-US" sz="79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475" y="1106388"/>
            <a:ext cx="840105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13"/>
              </a:lnSpc>
              <a:spcAft>
                <a:spcPts val="450"/>
              </a:spcAft>
              <a:buNone/>
            </a:pPr>
            <a:r>
              <a:rPr lang="en-US" sz="680" b="1" spc="101" kern="0" dirty="0">
                <a:solidFill>
                  <a:srgbClr val="8B949E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BACKUP · DEEP Q&amp;A · FULL RAW DUMP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371475" y="1292126"/>
            <a:ext cx="8401050" cy="278606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2194"/>
              </a:lnSpc>
              <a:spcAft>
                <a:spcPts val="788"/>
              </a:spcAft>
              <a:buNone/>
            </a:pPr>
            <a:r>
              <a:rPr lang="en-US" sz="1460" b="1" dirty="0">
                <a:solidFill>
                  <a:srgbClr val="E6EDF3"/>
                </a:solidFill>
                <a:latin typeface="SF Pro Heavy" pitchFamily="34" charset="0"/>
                <a:ea typeface="SF Pro Heavy" pitchFamily="34" charset="-122"/>
                <a:cs typeface="SF Pro Heavy" pitchFamily="34" charset="-120"/>
              </a:rPr>
              <a:t>Raw Profiling — Full Dump</a:t>
            </a:r>
            <a:endParaRPr lang="en-US" sz="1460" dirty="0"/>
          </a:p>
        </p:txBody>
      </p:sp>
      <p:sp>
        <p:nvSpPr>
          <p:cNvPr id="4" name="Text 2"/>
          <p:cNvSpPr/>
          <p:nvPr/>
        </p:nvSpPr>
        <p:spPr>
          <a:xfrm>
            <a:off x="371475" y="1668959"/>
            <a:ext cx="4143375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928"/>
              </a:lnSpc>
              <a:spcAft>
                <a:spcPts val="338"/>
              </a:spcAft>
              <a:buNone/>
            </a:pPr>
            <a:r>
              <a:rPr lang="en-US" sz="620" b="1" spc="56" kern="0" dirty="0">
                <a:solidFill>
                  <a:srgbClr val="FFA657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PYFLATE CPROFILE — F = 43.55% DERIVATION</a:t>
            </a:r>
            <a:endParaRPr lang="en-US" sz="620" dirty="0"/>
          </a:p>
        </p:txBody>
      </p:sp>
      <p:sp>
        <p:nvSpPr>
          <p:cNvPr id="5" name="Text 3"/>
          <p:cNvSpPr/>
          <p:nvPr/>
        </p:nvSpPr>
        <p:spPr>
          <a:xfrm>
            <a:off x="371475" y="1829693"/>
            <a:ext cx="4143375" cy="1993106"/>
          </a:xfrm>
          <a:prstGeom prst="roundRect">
            <a:avLst>
              <a:gd name="adj" fmla="val 2867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lIns="42863" tIns="0" rIns="0" bIns="0" rtlCol="0" anchor="ctr">
            <a:sp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530" dirty="0">
                <a:solidFill>
                  <a:srgbClr val="C9D1D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ncalls tottime function 1 8.410 decode_huffman_block 148271 5.686 find_next_symbol ← Huffman 15.85% 156708 3.710 readbits ← bit-reading 92803 3.704 move_to_front 341601 3.434 snoopbits ← bit-reading 655017 2.071 _mask ← bit-reading 1 1.497 bwt_reverse 1 1.305 bwt_transform 67562 1.184 _read 67562 1.100 _more ← bit-reading 67526 0.532 needbits ──────────────────────────────────────────────────── bit-reading total : 9.961 s (27.70%) huffman decode : 5.699 s (15.85%) COMBINED f (A) : 15.660 s (43.55%) move_to_front : 3.704 s (~10.3%) ← f(B) COMBINED f (A+B) : ~53.85%</a:t>
            </a:r>
            <a:endParaRPr lang="en-US" sz="530" dirty="0"/>
          </a:p>
        </p:txBody>
      </p:sp>
      <p:sp>
        <p:nvSpPr>
          <p:cNvPr id="6" name="Text 4"/>
          <p:cNvSpPr/>
          <p:nvPr/>
        </p:nvSpPr>
        <p:spPr>
          <a:xfrm>
            <a:off x="4629150" y="1668959"/>
            <a:ext cx="4143375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928"/>
              </a:lnSpc>
              <a:spcAft>
                <a:spcPts val="338"/>
              </a:spcAft>
              <a:buNone/>
            </a:pPr>
            <a:r>
              <a:rPr lang="en-US" sz="620" b="1" spc="56" kern="0" dirty="0">
                <a:solidFill>
                  <a:srgbClr val="58A6FF"/>
                </a:solidFill>
                <a:latin typeface="SF Pro" pitchFamily="34" charset="0"/>
                <a:ea typeface="SF Pro" pitchFamily="34" charset="-122"/>
                <a:cs typeface="SF Pro" pitchFamily="34" charset="-120"/>
              </a:rPr>
              <a:t>NBODY PERF TOP HOTSPOTS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4629150" y="1830586"/>
            <a:ext cx="4143375" cy="2093119"/>
          </a:xfrm>
          <a:prstGeom prst="roundRect">
            <a:avLst>
              <a:gd name="adj" fmla="val 2730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wrap="square" lIns="42863" tIns="0" rIns="0" bIns="0" rtlCol="0" anchor="ctr">
            <a:sp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530" dirty="0">
                <a:solidFill>
                  <a:srgbClr val="C9D1D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Overhead Symbol 35.02% _PyEval_EvalFrameDefault ← interpreter loop 7.31% PyFloat_FromDouble 5.00% binary_op1 4.83% [unknown bucket] 4.61% float_dealloc 3.69% PyNumber_AsSsize_t 3.44% _Py_CheckSlotResult 3.01% _Py_Dealloc 2.50% __ieee754_pow_sse2 ← the ** -1.5 op 2.33% float_mul 2.27% list_subscript ← list indexing 2.03% list_ass_subscript ← v1[0] -= … 1.84% PyNumber_AsSsize_t 1.54% float_add 1.53% float_sub ──────────────────────────────────────────────────── FP ops (mul+add+sub) each only ~1.5-2.3% pow only 2.5% → sqrt swap gave ~0-1.5%</a:t>
            </a:r>
            <a:endParaRPr lang="en-US" sz="5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2026-09-20T14:59:04Z</dcterms:created>
  <dcterms:modified xsi:type="dcterms:W3CDTF">2026-09-20T14:59:04Z</dcterms:modified>
</cp:coreProperties>
</file>